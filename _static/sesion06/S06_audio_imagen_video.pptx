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64"/>
    <p:restoredTop sz="94684"/>
  </p:normalViewPr>
  <p:slideViewPr>
    <p:cSldViewPr snapToGrid="0" snapToObjects="1">
      <p:cViewPr varScale="1">
        <p:scale>
          <a:sx n="147" d="100"/>
          <a:sy n="147" d="100"/>
        </p:scale>
        <p:origin x="224"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33608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Bienvenida </a:t>
            </a:r>
            <a:r>
              <a:rPr dirty="0" err="1"/>
              <a:t>corta</a:t>
            </a:r>
            <a:r>
              <a:rPr dirty="0"/>
              <a:t>. Hoy es un taller de </a:t>
            </a:r>
            <a:r>
              <a:rPr dirty="0" err="1"/>
              <a:t>producción</a:t>
            </a:r>
            <a:r>
              <a:rPr dirty="0"/>
              <a:t>: </a:t>
            </a:r>
            <a:r>
              <a:rPr dirty="0" err="1"/>
              <a:t>cada</a:t>
            </a:r>
            <a:r>
              <a:rPr dirty="0"/>
              <a:t> persona sale con un video de un </a:t>
            </a:r>
            <a:r>
              <a:rPr dirty="0" err="1"/>
              <a:t>minuto</a:t>
            </a:r>
            <a:r>
              <a:rPr dirty="0"/>
              <a:t> </a:t>
            </a:r>
            <a:r>
              <a:rPr dirty="0" err="1"/>
              <a:t>en</a:t>
            </a:r>
            <a:r>
              <a:rPr dirty="0"/>
              <a:t> el </a:t>
            </a:r>
            <a:r>
              <a:rPr dirty="0" err="1"/>
              <a:t>que</a:t>
            </a:r>
            <a:r>
              <a:rPr dirty="0"/>
              <a:t> </a:t>
            </a:r>
            <a:r>
              <a:rPr dirty="0" err="1"/>
              <a:t>ella</a:t>
            </a:r>
            <a:r>
              <a:rPr dirty="0"/>
              <a:t> </a:t>
            </a:r>
            <a:r>
              <a:rPr dirty="0" err="1"/>
              <a:t>misma</a:t>
            </a:r>
            <a:r>
              <a:rPr dirty="0"/>
              <a:t>, con </a:t>
            </a:r>
            <a:r>
              <a:rPr dirty="0" err="1"/>
              <a:t>su</a:t>
            </a:r>
            <a:r>
              <a:rPr dirty="0"/>
              <a:t> </a:t>
            </a:r>
            <a:r>
              <a:rPr dirty="0" err="1"/>
              <a:t>cara</a:t>
            </a:r>
            <a:r>
              <a:rPr dirty="0"/>
              <a:t> y </a:t>
            </a:r>
            <a:r>
              <a:rPr dirty="0" err="1"/>
              <a:t>su</a:t>
            </a:r>
            <a:r>
              <a:rPr dirty="0"/>
              <a:t> </a:t>
            </a:r>
            <a:r>
              <a:rPr dirty="0" err="1"/>
              <a:t>voz</a:t>
            </a:r>
            <a:r>
              <a:rPr dirty="0"/>
              <a:t>, </a:t>
            </a:r>
            <a:r>
              <a:rPr dirty="0" err="1"/>
              <a:t>explica</a:t>
            </a:r>
            <a:r>
              <a:rPr dirty="0"/>
              <a:t> algo de </a:t>
            </a:r>
            <a:r>
              <a:rPr dirty="0" err="1"/>
              <a:t>su</a:t>
            </a:r>
            <a:r>
              <a:rPr dirty="0"/>
              <a:t> </a:t>
            </a:r>
            <a:r>
              <a:rPr dirty="0" err="1"/>
              <a:t>carrera</a:t>
            </a:r>
            <a:r>
              <a:rPr dirty="0"/>
              <a:t>.</a:t>
            </a:r>
          </a:p>
          <a:p>
            <a:endParaRPr dirty="0"/>
          </a:p>
          <a:p>
            <a:r>
              <a:rPr dirty="0" err="1"/>
              <a:t>Mostrar</a:t>
            </a:r>
            <a:r>
              <a:rPr dirty="0"/>
              <a:t> primero el </a:t>
            </a:r>
            <a:r>
              <a:rPr dirty="0" err="1"/>
              <a:t>ejemplo</a:t>
            </a:r>
            <a:r>
              <a:rPr dirty="0"/>
              <a:t> </a:t>
            </a:r>
            <a:r>
              <a:rPr dirty="0" err="1"/>
              <a:t>terminado</a:t>
            </a:r>
            <a:r>
              <a:rPr dirty="0"/>
              <a:t> y </a:t>
            </a:r>
            <a:r>
              <a:rPr dirty="0" err="1"/>
              <a:t>después</a:t>
            </a:r>
            <a:r>
              <a:rPr dirty="0"/>
              <a:t> </a:t>
            </a:r>
            <a:r>
              <a:rPr dirty="0" err="1"/>
              <a:t>desarmarlo</a:t>
            </a:r>
            <a:r>
              <a:rPr dirty="0"/>
              <a:t>. </a:t>
            </a:r>
            <a:r>
              <a:rPr dirty="0" err="1"/>
              <a:t>Que</a:t>
            </a:r>
            <a:r>
              <a:rPr dirty="0"/>
              <a:t> </a:t>
            </a:r>
            <a:r>
              <a:rPr dirty="0" err="1"/>
              <a:t>vean</a:t>
            </a:r>
            <a:r>
              <a:rPr dirty="0"/>
              <a:t> el </a:t>
            </a:r>
            <a:r>
              <a:rPr dirty="0" err="1"/>
              <a:t>resultado</a:t>
            </a:r>
            <a:r>
              <a:rPr dirty="0"/>
              <a:t> antes del </a:t>
            </a:r>
            <a:r>
              <a:rPr dirty="0" err="1"/>
              <a:t>procedimiento</a:t>
            </a:r>
            <a:r>
              <a:rPr dirty="0"/>
              <a:t>.</a:t>
            </a:r>
          </a:p>
          <a:p>
            <a:endParaRPr dirty="0"/>
          </a:p>
          <a:p>
            <a:r>
              <a:rPr dirty="0"/>
              <a:t>AVISO QUE HAY QUE DAR DE ENTRADA: </a:t>
            </a:r>
            <a:r>
              <a:rPr dirty="0" err="1"/>
              <a:t>esto</a:t>
            </a:r>
            <a:r>
              <a:rPr dirty="0"/>
              <a:t> </a:t>
            </a:r>
            <a:r>
              <a:rPr dirty="0" err="1"/>
              <a:t>necesita</a:t>
            </a:r>
            <a:r>
              <a:rPr dirty="0"/>
              <a:t> </a:t>
            </a:r>
            <a:r>
              <a:rPr dirty="0" err="1"/>
              <a:t>cuenta</a:t>
            </a:r>
            <a:r>
              <a:rPr dirty="0"/>
              <a:t> de Google personal; la </a:t>
            </a:r>
            <a:r>
              <a:rPr dirty="0" err="1"/>
              <a:t>institucional</a:t>
            </a:r>
            <a:r>
              <a:rPr dirty="0"/>
              <a:t> no </a:t>
            </a:r>
            <a:r>
              <a:rPr dirty="0" err="1"/>
              <a:t>sirve</a:t>
            </a:r>
            <a:r>
              <a:rPr dirty="0"/>
              <a:t> para </a:t>
            </a:r>
            <a:r>
              <a:rPr dirty="0" err="1"/>
              <a:t>generar</a:t>
            </a:r>
            <a:r>
              <a:rPr dirty="0"/>
              <a:t> video (</a:t>
            </a:r>
            <a:r>
              <a:rPr dirty="0" err="1"/>
              <a:t>comprobado</a:t>
            </a:r>
            <a:r>
              <a:rPr dirty="0"/>
              <a:t> </a:t>
            </a:r>
            <a:r>
              <a:rPr dirty="0" err="1"/>
              <a:t>en</a:t>
            </a:r>
            <a:r>
              <a:rPr dirty="0"/>
              <a:t> </a:t>
            </a:r>
            <a:r>
              <a:rPr dirty="0" err="1"/>
              <a:t>UCaldas</a:t>
            </a:r>
            <a:r>
              <a:rPr dirty="0"/>
              <a:t> y </a:t>
            </a:r>
            <a:r>
              <a:rPr dirty="0" err="1"/>
              <a:t>en</a:t>
            </a:r>
            <a:r>
              <a:rPr dirty="0"/>
              <a:t> la UAM).</a:t>
            </a:r>
          </a:p>
          <a:p>
            <a:endParaRPr dirty="0"/>
          </a:p>
          <a:p>
            <a:r>
              <a:rPr dirty="0"/>
              <a:t>Y OJO CON DÓNDE: </a:t>
            </a:r>
            <a:r>
              <a:rPr dirty="0" err="1"/>
              <a:t>en</a:t>
            </a:r>
            <a:r>
              <a:rPr dirty="0"/>
              <a:t> la app de Gemini, Crear video solo </a:t>
            </a:r>
            <a:r>
              <a:rPr dirty="0" err="1"/>
              <a:t>aparece</a:t>
            </a:r>
            <a:r>
              <a:rPr dirty="0"/>
              <a:t> con plan de </a:t>
            </a:r>
            <a:r>
              <a:rPr dirty="0" err="1"/>
              <a:t>pago</a:t>
            </a:r>
            <a:r>
              <a:rPr dirty="0"/>
              <a:t>; </a:t>
            </a:r>
            <a:r>
              <a:rPr dirty="0" err="1"/>
              <a:t>en</a:t>
            </a:r>
            <a:r>
              <a:rPr dirty="0"/>
              <a:t> </a:t>
            </a:r>
            <a:r>
              <a:rPr dirty="0" err="1"/>
              <a:t>cuenta</a:t>
            </a:r>
            <a:r>
              <a:rPr dirty="0"/>
              <a:t> </a:t>
            </a:r>
            <a:r>
              <a:rPr dirty="0" err="1"/>
              <a:t>gratuita</a:t>
            </a:r>
            <a:r>
              <a:rPr dirty="0"/>
              <a:t> NO </a:t>
            </a:r>
            <a:r>
              <a:rPr dirty="0" err="1"/>
              <a:t>está</a:t>
            </a:r>
            <a:r>
              <a:rPr dirty="0"/>
              <a:t>. La </a:t>
            </a:r>
            <a:r>
              <a:rPr dirty="0" err="1"/>
              <a:t>herramienta</a:t>
            </a:r>
            <a:r>
              <a:rPr dirty="0"/>
              <a:t> de la </a:t>
            </a:r>
            <a:r>
              <a:rPr dirty="0" err="1"/>
              <a:t>clase</a:t>
            </a:r>
            <a:r>
              <a:rPr dirty="0"/>
              <a:t> es GOOGLE FLOW (</a:t>
            </a:r>
            <a:r>
              <a:rPr dirty="0" err="1"/>
              <a:t>flow.google.com</a:t>
            </a:r>
            <a:r>
              <a:rPr dirty="0"/>
              <a:t>): </a:t>
            </a:r>
            <a:r>
              <a:rPr dirty="0" err="1"/>
              <a:t>probado</a:t>
            </a:r>
            <a:r>
              <a:rPr dirty="0"/>
              <a:t> </a:t>
            </a:r>
            <a:r>
              <a:rPr dirty="0" err="1"/>
              <a:t>en</a:t>
            </a:r>
            <a:r>
              <a:rPr dirty="0"/>
              <a:t> </a:t>
            </a:r>
            <a:r>
              <a:rPr dirty="0" err="1"/>
              <a:t>cuenta</a:t>
            </a:r>
            <a:r>
              <a:rPr dirty="0"/>
              <a:t> </a:t>
            </a:r>
            <a:r>
              <a:rPr dirty="0" err="1"/>
              <a:t>gratuita</a:t>
            </a:r>
            <a:r>
              <a:rPr dirty="0"/>
              <a:t>, 50 </a:t>
            </a:r>
            <a:r>
              <a:rPr dirty="0" err="1"/>
              <a:t>créditos</a:t>
            </a:r>
            <a:r>
              <a:rPr dirty="0"/>
              <a:t> </a:t>
            </a:r>
            <a:r>
              <a:rPr dirty="0" err="1"/>
              <a:t>diarios</a:t>
            </a:r>
            <a:r>
              <a:rPr dirty="0"/>
              <a:t>. Flow </a:t>
            </a:r>
            <a:r>
              <a:rPr dirty="0" err="1"/>
              <a:t>hace</a:t>
            </a:r>
            <a:r>
              <a:rPr dirty="0"/>
              <a:t> las </a:t>
            </a:r>
            <a:r>
              <a:rPr dirty="0" err="1"/>
              <a:t>tres</a:t>
            </a:r>
            <a:r>
              <a:rPr dirty="0"/>
              <a:t> </a:t>
            </a:r>
            <a:r>
              <a:rPr dirty="0" err="1"/>
              <a:t>cosas</a:t>
            </a:r>
            <a:r>
              <a:rPr dirty="0"/>
              <a:t>: el </a:t>
            </a:r>
            <a:r>
              <a:rPr dirty="0" err="1"/>
              <a:t>personaje</a:t>
            </a:r>
            <a:r>
              <a:rPr dirty="0"/>
              <a:t>, </a:t>
            </a:r>
            <a:r>
              <a:rPr dirty="0" err="1"/>
              <a:t>los</a:t>
            </a:r>
            <a:r>
              <a:rPr dirty="0"/>
              <a:t> clips y el </a:t>
            </a:r>
            <a:r>
              <a:rPr dirty="0" err="1"/>
              <a:t>montaje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CONTEXTO, ANTES DE TOCAR NINGUNA HERRAMIENTA. Diez </a:t>
            </a:r>
            <a:r>
              <a:rPr dirty="0" err="1"/>
              <a:t>minutos</a:t>
            </a:r>
            <a:r>
              <a:rPr dirty="0"/>
              <a:t>, no </a:t>
            </a:r>
            <a:r>
              <a:rPr dirty="0" err="1"/>
              <a:t>más</a:t>
            </a:r>
            <a:r>
              <a:rPr dirty="0"/>
              <a:t>.</a:t>
            </a:r>
          </a:p>
          <a:p>
            <a:endParaRPr dirty="0"/>
          </a:p>
          <a:p>
            <a:r>
              <a:rPr dirty="0"/>
              <a:t>Por </a:t>
            </a:r>
            <a:r>
              <a:rPr dirty="0" err="1"/>
              <a:t>qué</a:t>
            </a:r>
            <a:r>
              <a:rPr dirty="0"/>
              <a:t> </a:t>
            </a:r>
            <a:r>
              <a:rPr dirty="0" err="1"/>
              <a:t>va</a:t>
            </a:r>
            <a:r>
              <a:rPr dirty="0"/>
              <a:t> </a:t>
            </a:r>
            <a:r>
              <a:rPr dirty="0" err="1"/>
              <a:t>aquí</a:t>
            </a:r>
            <a:r>
              <a:rPr dirty="0"/>
              <a:t> y no al final: </a:t>
            </a:r>
            <a:r>
              <a:rPr dirty="0" err="1"/>
              <a:t>si</a:t>
            </a:r>
            <a:r>
              <a:rPr dirty="0"/>
              <a:t> no </a:t>
            </a:r>
            <a:r>
              <a:rPr dirty="0" err="1"/>
              <a:t>entienden</a:t>
            </a:r>
            <a:r>
              <a:rPr dirty="0"/>
              <a:t> de </a:t>
            </a:r>
            <a:r>
              <a:rPr dirty="0" err="1"/>
              <a:t>dónde</a:t>
            </a:r>
            <a:r>
              <a:rPr dirty="0"/>
              <a:t> </a:t>
            </a:r>
            <a:r>
              <a:rPr dirty="0" err="1"/>
              <a:t>salen</a:t>
            </a:r>
            <a:r>
              <a:rPr dirty="0"/>
              <a:t> las </a:t>
            </a:r>
            <a:r>
              <a:rPr dirty="0" err="1"/>
              <a:t>imágenes</a:t>
            </a:r>
            <a:r>
              <a:rPr dirty="0"/>
              <a:t> y las voces, </a:t>
            </a:r>
            <a:r>
              <a:rPr dirty="0" err="1"/>
              <a:t>usan</a:t>
            </a:r>
            <a:r>
              <a:rPr dirty="0"/>
              <a:t> las </a:t>
            </a:r>
            <a:r>
              <a:rPr dirty="0" err="1"/>
              <a:t>herramientas</a:t>
            </a:r>
            <a:r>
              <a:rPr dirty="0"/>
              <a:t> </a:t>
            </a:r>
            <a:r>
              <a:rPr dirty="0" err="1"/>
              <a:t>como</a:t>
            </a:r>
            <a:r>
              <a:rPr dirty="0"/>
              <a:t> </a:t>
            </a:r>
            <a:r>
              <a:rPr dirty="0" err="1"/>
              <a:t>si</a:t>
            </a:r>
            <a:r>
              <a:rPr dirty="0"/>
              <a:t> </a:t>
            </a:r>
            <a:r>
              <a:rPr dirty="0" err="1"/>
              <a:t>fueran</a:t>
            </a:r>
            <a:r>
              <a:rPr dirty="0"/>
              <a:t> </a:t>
            </a:r>
            <a:r>
              <a:rPr dirty="0" err="1"/>
              <a:t>magia</a:t>
            </a:r>
            <a:r>
              <a:rPr dirty="0"/>
              <a:t>, y </a:t>
            </a:r>
            <a:r>
              <a:rPr dirty="0" err="1"/>
              <a:t>cuando</a:t>
            </a:r>
            <a:r>
              <a:rPr dirty="0"/>
              <a:t> algo sale mal no </a:t>
            </a:r>
            <a:r>
              <a:rPr dirty="0" err="1"/>
              <a:t>saben</a:t>
            </a:r>
            <a:r>
              <a:rPr dirty="0"/>
              <a:t> </a:t>
            </a:r>
            <a:r>
              <a:rPr dirty="0" err="1"/>
              <a:t>por</a:t>
            </a:r>
            <a:r>
              <a:rPr dirty="0"/>
              <a:t> </a:t>
            </a:r>
            <a:r>
              <a:rPr dirty="0" err="1"/>
              <a:t>qué</a:t>
            </a:r>
            <a:r>
              <a:rPr dirty="0"/>
              <a:t> </a:t>
            </a:r>
            <a:r>
              <a:rPr dirty="0" err="1"/>
              <a:t>ni</a:t>
            </a:r>
            <a:r>
              <a:rPr dirty="0"/>
              <a:t> </a:t>
            </a:r>
            <a:r>
              <a:rPr dirty="0" err="1"/>
              <a:t>cómo</a:t>
            </a:r>
            <a:r>
              <a:rPr dirty="0"/>
              <a:t> </a:t>
            </a:r>
            <a:r>
              <a:rPr dirty="0" err="1"/>
              <a:t>arreglarlo</a:t>
            </a:r>
            <a:r>
              <a:rPr dirty="0"/>
              <a:t>.</a:t>
            </a:r>
          </a:p>
          <a:p>
            <a:endParaRPr dirty="0"/>
          </a:p>
          <a:p>
            <a:r>
              <a:rPr dirty="0"/>
              <a:t>LA IDEA QUE UNE TODO: imagen, </a:t>
            </a:r>
            <a:r>
              <a:rPr dirty="0" err="1"/>
              <a:t>voz</a:t>
            </a:r>
            <a:r>
              <a:rPr dirty="0"/>
              <a:t> y </a:t>
            </a:r>
            <a:r>
              <a:rPr dirty="0" err="1"/>
              <a:t>texto</a:t>
            </a:r>
            <a:r>
              <a:rPr dirty="0"/>
              <a:t> se </a:t>
            </a:r>
            <a:r>
              <a:rPr dirty="0" err="1"/>
              <a:t>aprenden</a:t>
            </a:r>
            <a:r>
              <a:rPr dirty="0"/>
              <a:t> </a:t>
            </a:r>
            <a:r>
              <a:rPr dirty="0" err="1"/>
              <a:t>igual</a:t>
            </a:r>
            <a:r>
              <a:rPr dirty="0"/>
              <a:t>. </a:t>
            </a:r>
            <a:r>
              <a:rPr dirty="0" err="1"/>
              <a:t>Millones</a:t>
            </a:r>
            <a:r>
              <a:rPr dirty="0"/>
              <a:t> de PARES de </a:t>
            </a:r>
            <a:r>
              <a:rPr dirty="0" err="1"/>
              <a:t>ejemplos</a:t>
            </a:r>
            <a:r>
              <a:rPr dirty="0"/>
              <a:t>. No hay </a:t>
            </a:r>
            <a:r>
              <a:rPr dirty="0" err="1"/>
              <a:t>reglas</a:t>
            </a:r>
            <a:r>
              <a:rPr dirty="0"/>
              <a:t> </a:t>
            </a:r>
            <a:r>
              <a:rPr dirty="0" err="1"/>
              <a:t>escritas</a:t>
            </a:r>
            <a:r>
              <a:rPr dirty="0"/>
              <a:t> </a:t>
            </a:r>
            <a:r>
              <a:rPr dirty="0" err="1"/>
              <a:t>por</a:t>
            </a:r>
            <a:r>
              <a:rPr dirty="0"/>
              <a:t> </a:t>
            </a:r>
            <a:r>
              <a:rPr dirty="0" err="1"/>
              <a:t>nadie</a:t>
            </a:r>
            <a:r>
              <a:rPr dirty="0"/>
              <a:t>; hay </a:t>
            </a:r>
            <a:r>
              <a:rPr dirty="0" err="1"/>
              <a:t>ejemplos</a:t>
            </a:r>
            <a:r>
              <a:rPr dirty="0"/>
              <a:t> y </a:t>
            </a:r>
            <a:r>
              <a:rPr dirty="0" err="1"/>
              <a:t>una</a:t>
            </a:r>
            <a:r>
              <a:rPr dirty="0"/>
              <a:t> </a:t>
            </a:r>
            <a:r>
              <a:rPr dirty="0" err="1"/>
              <a:t>máquina</a:t>
            </a:r>
            <a:r>
              <a:rPr dirty="0"/>
              <a:t> </a:t>
            </a:r>
            <a:r>
              <a:rPr dirty="0" err="1"/>
              <a:t>que</a:t>
            </a:r>
            <a:r>
              <a:rPr dirty="0"/>
              <a:t> </a:t>
            </a:r>
            <a:r>
              <a:rPr dirty="0" err="1"/>
              <a:t>busca</a:t>
            </a:r>
            <a:r>
              <a:rPr dirty="0"/>
              <a:t> el </a:t>
            </a:r>
            <a:r>
              <a:rPr dirty="0" err="1"/>
              <a:t>patrón</a:t>
            </a:r>
            <a:r>
              <a:rPr dirty="0"/>
              <a:t>.</a:t>
            </a:r>
          </a:p>
          <a:p>
            <a:endParaRPr dirty="0"/>
          </a:p>
          <a:p>
            <a:r>
              <a:rPr dirty="0"/>
              <a:t>· Para imagen: pares de (imagen, </a:t>
            </a:r>
            <a:r>
              <a:rPr dirty="0" err="1"/>
              <a:t>descripción</a:t>
            </a:r>
            <a:r>
              <a:rPr dirty="0"/>
              <a:t>).</a:t>
            </a:r>
          </a:p>
          <a:p>
            <a:r>
              <a:rPr dirty="0"/>
              <a:t>· Para </a:t>
            </a:r>
            <a:r>
              <a:rPr dirty="0" err="1"/>
              <a:t>voz</a:t>
            </a:r>
            <a:r>
              <a:rPr dirty="0"/>
              <a:t>: pares de (audio, </a:t>
            </a:r>
            <a:r>
              <a:rPr dirty="0" err="1"/>
              <a:t>transcripción</a:t>
            </a:r>
            <a:r>
              <a:rPr dirty="0"/>
              <a:t>).</a:t>
            </a:r>
          </a:p>
          <a:p>
            <a:r>
              <a:rPr dirty="0"/>
              <a:t>· Para </a:t>
            </a:r>
            <a:r>
              <a:rPr dirty="0" err="1"/>
              <a:t>texto</a:t>
            </a:r>
            <a:r>
              <a:rPr dirty="0"/>
              <a:t>: pares de (</a:t>
            </a:r>
            <a:r>
              <a:rPr dirty="0" err="1"/>
              <a:t>pregunta</a:t>
            </a:r>
            <a:r>
              <a:rPr dirty="0"/>
              <a:t>, </a:t>
            </a:r>
            <a:r>
              <a:rPr dirty="0" err="1"/>
              <a:t>respuesta</a:t>
            </a:r>
            <a:r>
              <a:rPr dirty="0"/>
              <a:t>) o </a:t>
            </a:r>
            <a:r>
              <a:rPr dirty="0" err="1"/>
              <a:t>simplemente</a:t>
            </a:r>
            <a:r>
              <a:rPr dirty="0"/>
              <a:t> </a:t>
            </a:r>
            <a:r>
              <a:rPr dirty="0" err="1"/>
              <a:t>texto</a:t>
            </a:r>
            <a:r>
              <a:rPr dirty="0"/>
              <a:t> </a:t>
            </a:r>
            <a:r>
              <a:rPr dirty="0" err="1"/>
              <a:t>seguido</a:t>
            </a:r>
            <a:r>
              <a:rPr dirty="0"/>
              <a:t>.</a:t>
            </a:r>
          </a:p>
          <a:p>
            <a:endParaRPr dirty="0"/>
          </a:p>
          <a:p>
            <a:r>
              <a:rPr dirty="0"/>
              <a:t>Haz la </a:t>
            </a:r>
            <a:r>
              <a:rPr dirty="0" err="1"/>
              <a:t>conexión</a:t>
            </a:r>
            <a:r>
              <a:rPr dirty="0"/>
              <a:t> con el video de </a:t>
            </a:r>
            <a:r>
              <a:rPr dirty="0" err="1"/>
              <a:t>ejemplo</a:t>
            </a:r>
            <a:r>
              <a:rPr dirty="0"/>
              <a:t>: el </a:t>
            </a:r>
            <a:r>
              <a:rPr dirty="0" err="1"/>
              <a:t>guion</a:t>
            </a:r>
            <a:r>
              <a:rPr dirty="0"/>
              <a:t> </a:t>
            </a:r>
            <a:r>
              <a:rPr dirty="0" err="1"/>
              <a:t>que</a:t>
            </a:r>
            <a:r>
              <a:rPr dirty="0"/>
              <a:t> van a </a:t>
            </a:r>
            <a:r>
              <a:rPr dirty="0" err="1"/>
              <a:t>ver</a:t>
            </a:r>
            <a:r>
              <a:rPr dirty="0"/>
              <a:t> dice </a:t>
            </a:r>
            <a:r>
              <a:rPr dirty="0" err="1"/>
              <a:t>exactamente</a:t>
            </a:r>
            <a:r>
              <a:rPr dirty="0"/>
              <a:t> </a:t>
            </a:r>
            <a:r>
              <a:rPr dirty="0" err="1"/>
              <a:t>esto</a:t>
            </a:r>
            <a:r>
              <a:rPr dirty="0"/>
              <a:t>, </a:t>
            </a:r>
            <a:r>
              <a:rPr dirty="0" err="1"/>
              <a:t>que</a:t>
            </a:r>
            <a:r>
              <a:rPr dirty="0"/>
              <a:t> la IA </a:t>
            </a:r>
            <a:r>
              <a:rPr dirty="0" err="1"/>
              <a:t>aprende</a:t>
            </a:r>
            <a:r>
              <a:rPr dirty="0"/>
              <a:t> </a:t>
            </a:r>
            <a:r>
              <a:rPr dirty="0" err="1"/>
              <a:t>por</a:t>
            </a:r>
            <a:r>
              <a:rPr dirty="0"/>
              <a:t> </a:t>
            </a:r>
            <a:r>
              <a:rPr dirty="0" err="1"/>
              <a:t>ejemplos</a:t>
            </a:r>
            <a:r>
              <a:rPr dirty="0"/>
              <a:t> </a:t>
            </a:r>
            <a:r>
              <a:rPr dirty="0" err="1"/>
              <a:t>como</a:t>
            </a:r>
            <a:r>
              <a:rPr dirty="0"/>
              <a:t> un </a:t>
            </a:r>
            <a:r>
              <a:rPr dirty="0" err="1"/>
              <a:t>niño</a:t>
            </a:r>
            <a:r>
              <a:rPr dirty="0"/>
              <a:t> al </a:t>
            </a:r>
            <a:r>
              <a:rPr dirty="0" err="1"/>
              <a:t>que</a:t>
            </a:r>
            <a:r>
              <a:rPr dirty="0"/>
              <a:t> le </a:t>
            </a:r>
            <a:r>
              <a:rPr dirty="0" err="1"/>
              <a:t>muestran</a:t>
            </a:r>
            <a:r>
              <a:rPr dirty="0"/>
              <a:t> </a:t>
            </a:r>
            <a:r>
              <a:rPr dirty="0" err="1"/>
              <a:t>fotos</a:t>
            </a:r>
            <a:r>
              <a:rPr dirty="0"/>
              <a:t> de perros. La </a:t>
            </a:r>
            <a:r>
              <a:rPr dirty="0" err="1"/>
              <a:t>clase</a:t>
            </a:r>
            <a:r>
              <a:rPr dirty="0"/>
              <a:t> entera es </a:t>
            </a:r>
            <a:r>
              <a:rPr dirty="0" err="1"/>
              <a:t>esa</a:t>
            </a:r>
            <a:r>
              <a:rPr dirty="0"/>
              <a:t> idea, dos </a:t>
            </a:r>
            <a:r>
              <a:rPr dirty="0" err="1"/>
              <a:t>veces</a:t>
            </a:r>
            <a:r>
              <a:rPr dirty="0"/>
              <a:t>.</a:t>
            </a:r>
          </a:p>
          <a:p>
            <a:endParaRPr dirty="0"/>
          </a:p>
          <a:p>
            <a:r>
              <a:rPr dirty="0"/>
              <a:t>PREGUNTA PARA LANZAR: ¿de </a:t>
            </a:r>
            <a:r>
              <a:rPr dirty="0" err="1"/>
              <a:t>dónde</a:t>
            </a:r>
            <a:r>
              <a:rPr dirty="0"/>
              <a:t> </a:t>
            </a:r>
            <a:r>
              <a:rPr dirty="0" err="1"/>
              <a:t>creen</a:t>
            </a:r>
            <a:r>
              <a:rPr dirty="0"/>
              <a:t> </a:t>
            </a:r>
            <a:r>
              <a:rPr dirty="0" err="1"/>
              <a:t>que</a:t>
            </a:r>
            <a:r>
              <a:rPr dirty="0"/>
              <a:t> </a:t>
            </a:r>
            <a:r>
              <a:rPr dirty="0" err="1"/>
              <a:t>salieron</a:t>
            </a:r>
            <a:r>
              <a:rPr dirty="0"/>
              <a:t> </a:t>
            </a:r>
            <a:r>
              <a:rPr dirty="0" err="1"/>
              <a:t>esos</a:t>
            </a:r>
            <a:r>
              <a:rPr dirty="0"/>
              <a:t> </a:t>
            </a:r>
            <a:r>
              <a:rPr dirty="0" err="1"/>
              <a:t>millones</a:t>
            </a:r>
            <a:r>
              <a:rPr dirty="0"/>
              <a:t> de pares? Respuesta: de internet. Eso </a:t>
            </a:r>
            <a:r>
              <a:rPr dirty="0" err="1"/>
              <a:t>abre</a:t>
            </a:r>
            <a:r>
              <a:rPr dirty="0"/>
              <a:t>, sin </a:t>
            </a:r>
            <a:r>
              <a:rPr dirty="0" err="1"/>
              <a:t>forzarlo</a:t>
            </a:r>
            <a:r>
              <a:rPr dirty="0"/>
              <a:t>, el </a:t>
            </a:r>
            <a:r>
              <a:rPr dirty="0" err="1"/>
              <a:t>tema</a:t>
            </a:r>
            <a:r>
              <a:rPr dirty="0"/>
              <a:t> de derechos de </a:t>
            </a:r>
            <a:r>
              <a:rPr dirty="0" err="1"/>
              <a:t>autor</a:t>
            </a:r>
            <a:r>
              <a:rPr dirty="0"/>
              <a:t> y el de </a:t>
            </a:r>
            <a:r>
              <a:rPr dirty="0" err="1"/>
              <a:t>los</a:t>
            </a:r>
            <a:r>
              <a:rPr dirty="0"/>
              <a:t> </a:t>
            </a:r>
            <a:r>
              <a:rPr dirty="0" err="1"/>
              <a:t>sesgos</a:t>
            </a:r>
            <a:r>
              <a:rPr dirty="0"/>
              <a:t>, </a:t>
            </a:r>
            <a:r>
              <a:rPr dirty="0" err="1"/>
              <a:t>que</a:t>
            </a:r>
            <a:r>
              <a:rPr dirty="0"/>
              <a:t> se </a:t>
            </a:r>
            <a:r>
              <a:rPr dirty="0" err="1"/>
              <a:t>retoma</a:t>
            </a:r>
            <a:r>
              <a:rPr dirty="0"/>
              <a:t> </a:t>
            </a:r>
            <a:r>
              <a:rPr dirty="0" err="1"/>
              <a:t>en</a:t>
            </a:r>
            <a:r>
              <a:rPr dirty="0"/>
              <a:t> la </a:t>
            </a:r>
            <a:r>
              <a:rPr dirty="0" err="1"/>
              <a:t>sesión</a:t>
            </a:r>
            <a:r>
              <a:rPr dirty="0"/>
              <a:t> de </a:t>
            </a:r>
            <a:r>
              <a:rPr dirty="0" err="1"/>
              <a:t>ética</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CÓMO APRENDE A HACER IMÁGENES. Esto es lo </a:t>
            </a:r>
            <a:r>
              <a:rPr dirty="0" err="1"/>
              <a:t>que</a:t>
            </a:r>
            <a:r>
              <a:rPr dirty="0"/>
              <a:t> </a:t>
            </a:r>
            <a:r>
              <a:rPr dirty="0" err="1"/>
              <a:t>más</a:t>
            </a:r>
            <a:r>
              <a:rPr dirty="0"/>
              <a:t> les </a:t>
            </a:r>
            <a:r>
              <a:rPr dirty="0" err="1"/>
              <a:t>sorprende</a:t>
            </a:r>
            <a:r>
              <a:rPr dirty="0"/>
              <a:t>.</a:t>
            </a:r>
          </a:p>
          <a:p>
            <a:endParaRPr dirty="0"/>
          </a:p>
          <a:p>
            <a:r>
              <a:rPr dirty="0"/>
              <a:t>EL ENTRENAMIENTO, al </a:t>
            </a:r>
            <a:r>
              <a:rPr dirty="0" err="1"/>
              <a:t>revés</a:t>
            </a:r>
            <a:r>
              <a:rPr dirty="0"/>
              <a:t> de lo </a:t>
            </a:r>
            <a:r>
              <a:rPr dirty="0" err="1"/>
              <a:t>que</a:t>
            </a:r>
            <a:r>
              <a:rPr dirty="0"/>
              <a:t> uno </a:t>
            </a:r>
            <a:r>
              <a:rPr dirty="0" err="1"/>
              <a:t>esperaría</a:t>
            </a:r>
            <a:r>
              <a:rPr dirty="0"/>
              <a:t>:</a:t>
            </a:r>
          </a:p>
          <a:p>
            <a:r>
              <a:rPr dirty="0"/>
              <a:t>Se </a:t>
            </a:r>
            <a:r>
              <a:rPr dirty="0" err="1"/>
              <a:t>toma</a:t>
            </a:r>
            <a:r>
              <a:rPr dirty="0"/>
              <a:t> </a:t>
            </a:r>
            <a:r>
              <a:rPr dirty="0" err="1"/>
              <a:t>una</a:t>
            </a:r>
            <a:r>
              <a:rPr dirty="0"/>
              <a:t> </a:t>
            </a:r>
            <a:r>
              <a:rPr dirty="0" err="1"/>
              <a:t>foto</a:t>
            </a:r>
            <a:r>
              <a:rPr dirty="0"/>
              <a:t> real con </a:t>
            </a:r>
            <a:r>
              <a:rPr dirty="0" err="1"/>
              <a:t>su</a:t>
            </a:r>
            <a:r>
              <a:rPr dirty="0"/>
              <a:t> </a:t>
            </a:r>
            <a:r>
              <a:rPr dirty="0" err="1"/>
              <a:t>descripción</a:t>
            </a:r>
            <a:r>
              <a:rPr dirty="0"/>
              <a:t>. Se le </a:t>
            </a:r>
            <a:r>
              <a:rPr dirty="0" err="1"/>
              <a:t>va</a:t>
            </a:r>
            <a:r>
              <a:rPr dirty="0"/>
              <a:t> </a:t>
            </a:r>
            <a:r>
              <a:rPr dirty="0" err="1"/>
              <a:t>echando</a:t>
            </a:r>
            <a:r>
              <a:rPr dirty="0"/>
              <a:t> </a:t>
            </a:r>
            <a:r>
              <a:rPr dirty="0" err="1"/>
              <a:t>ruido</a:t>
            </a:r>
            <a:r>
              <a:rPr dirty="0"/>
              <a:t> </a:t>
            </a:r>
            <a:r>
              <a:rPr dirty="0" err="1"/>
              <a:t>encima</a:t>
            </a:r>
            <a:r>
              <a:rPr dirty="0"/>
              <a:t>, poco a poco, hasta </a:t>
            </a:r>
            <a:r>
              <a:rPr dirty="0" err="1"/>
              <a:t>que</a:t>
            </a:r>
            <a:r>
              <a:rPr dirty="0"/>
              <a:t> </a:t>
            </a:r>
            <a:r>
              <a:rPr dirty="0" err="1"/>
              <a:t>queda</a:t>
            </a:r>
            <a:r>
              <a:rPr dirty="0"/>
              <a:t> pura </a:t>
            </a:r>
            <a:r>
              <a:rPr dirty="0" err="1"/>
              <a:t>estática</a:t>
            </a:r>
            <a:r>
              <a:rPr dirty="0"/>
              <a:t> de televisor. Y </a:t>
            </a:r>
            <a:r>
              <a:rPr dirty="0" err="1"/>
              <a:t>entonces</a:t>
            </a:r>
            <a:r>
              <a:rPr dirty="0"/>
              <a:t> se le </a:t>
            </a:r>
            <a:r>
              <a:rPr dirty="0" err="1"/>
              <a:t>pide</a:t>
            </a:r>
            <a:r>
              <a:rPr dirty="0"/>
              <a:t> al </a:t>
            </a:r>
            <a:r>
              <a:rPr dirty="0" err="1"/>
              <a:t>modelo</a:t>
            </a:r>
            <a:r>
              <a:rPr dirty="0"/>
              <a:t> </a:t>
            </a:r>
            <a:r>
              <a:rPr dirty="0" err="1"/>
              <a:t>que</a:t>
            </a:r>
            <a:r>
              <a:rPr dirty="0"/>
              <a:t> </a:t>
            </a:r>
            <a:r>
              <a:rPr dirty="0" err="1"/>
              <a:t>aprenda</a:t>
            </a:r>
            <a:r>
              <a:rPr dirty="0"/>
              <a:t> el camino de </a:t>
            </a:r>
            <a:r>
              <a:rPr dirty="0" err="1"/>
              <a:t>vuelta</a:t>
            </a:r>
            <a:r>
              <a:rPr dirty="0"/>
              <a:t>: dada </a:t>
            </a:r>
            <a:r>
              <a:rPr dirty="0" err="1"/>
              <a:t>una</a:t>
            </a:r>
            <a:r>
              <a:rPr dirty="0"/>
              <a:t> imagen con </a:t>
            </a:r>
            <a:r>
              <a:rPr dirty="0" err="1"/>
              <a:t>ruido</a:t>
            </a:r>
            <a:r>
              <a:rPr dirty="0"/>
              <a:t> y la </a:t>
            </a:r>
            <a:r>
              <a:rPr dirty="0" err="1"/>
              <a:t>frase</a:t>
            </a:r>
            <a:r>
              <a:rPr dirty="0"/>
              <a:t> «un </a:t>
            </a:r>
            <a:r>
              <a:rPr dirty="0" err="1"/>
              <a:t>perro</a:t>
            </a:r>
            <a:r>
              <a:rPr dirty="0"/>
              <a:t> </a:t>
            </a:r>
            <a:r>
              <a:rPr dirty="0" err="1"/>
              <a:t>en</a:t>
            </a:r>
            <a:r>
              <a:rPr dirty="0"/>
              <a:t> la playa», ¿</a:t>
            </a:r>
            <a:r>
              <a:rPr dirty="0" err="1"/>
              <a:t>cómo</a:t>
            </a:r>
            <a:r>
              <a:rPr dirty="0"/>
              <a:t> se </a:t>
            </a:r>
            <a:r>
              <a:rPr dirty="0" err="1"/>
              <a:t>vería</a:t>
            </a:r>
            <a:r>
              <a:rPr dirty="0"/>
              <a:t> un paso </a:t>
            </a:r>
            <a:r>
              <a:rPr dirty="0" err="1"/>
              <a:t>menos</a:t>
            </a:r>
            <a:r>
              <a:rPr dirty="0"/>
              <a:t> </a:t>
            </a:r>
            <a:r>
              <a:rPr dirty="0" err="1"/>
              <a:t>ruidosa</a:t>
            </a:r>
            <a:r>
              <a:rPr dirty="0"/>
              <a:t>?</a:t>
            </a:r>
          </a:p>
          <a:p>
            <a:endParaRPr dirty="0"/>
          </a:p>
          <a:p>
            <a:r>
              <a:rPr dirty="0" err="1"/>
              <a:t>Repetido</a:t>
            </a:r>
            <a:r>
              <a:rPr dirty="0"/>
              <a:t> </a:t>
            </a:r>
            <a:r>
              <a:rPr dirty="0" err="1"/>
              <a:t>millones</a:t>
            </a:r>
            <a:r>
              <a:rPr dirty="0"/>
              <a:t> de </a:t>
            </a:r>
            <a:r>
              <a:rPr dirty="0" err="1"/>
              <a:t>veces</a:t>
            </a:r>
            <a:r>
              <a:rPr dirty="0"/>
              <a:t>, el </a:t>
            </a:r>
            <a:r>
              <a:rPr dirty="0" err="1"/>
              <a:t>modelo</a:t>
            </a:r>
            <a:r>
              <a:rPr dirty="0"/>
              <a:t> </a:t>
            </a:r>
            <a:r>
              <a:rPr dirty="0" err="1"/>
              <a:t>aprende</a:t>
            </a:r>
            <a:r>
              <a:rPr dirty="0"/>
              <a:t> a </a:t>
            </a:r>
            <a:r>
              <a:rPr dirty="0" err="1"/>
              <a:t>quitar</a:t>
            </a:r>
            <a:r>
              <a:rPr dirty="0"/>
              <a:t> </a:t>
            </a:r>
            <a:r>
              <a:rPr dirty="0" err="1"/>
              <a:t>ruido</a:t>
            </a:r>
            <a:r>
              <a:rPr dirty="0"/>
              <a:t> </a:t>
            </a:r>
            <a:r>
              <a:rPr dirty="0" err="1"/>
              <a:t>guiado</a:t>
            </a:r>
            <a:r>
              <a:rPr dirty="0"/>
              <a:t> </a:t>
            </a:r>
            <a:r>
              <a:rPr dirty="0" err="1"/>
              <a:t>por</a:t>
            </a:r>
            <a:r>
              <a:rPr dirty="0"/>
              <a:t> palabras.</a:t>
            </a:r>
          </a:p>
          <a:p>
            <a:endParaRPr dirty="0"/>
          </a:p>
          <a:p>
            <a:r>
              <a:rPr dirty="0"/>
              <a:t>CUANDO TÚ PIDES UNA IMAGEN: </a:t>
            </a:r>
            <a:r>
              <a:rPr dirty="0" err="1"/>
              <a:t>empieza</a:t>
            </a:r>
            <a:r>
              <a:rPr dirty="0"/>
              <a:t> con </a:t>
            </a:r>
            <a:r>
              <a:rPr dirty="0" err="1"/>
              <a:t>ruido</a:t>
            </a:r>
            <a:r>
              <a:rPr dirty="0"/>
              <a:t> puro, de </a:t>
            </a:r>
            <a:r>
              <a:rPr dirty="0" err="1"/>
              <a:t>verdad</a:t>
            </a:r>
            <a:r>
              <a:rPr dirty="0"/>
              <a:t>, y le </a:t>
            </a:r>
            <a:r>
              <a:rPr dirty="0" err="1"/>
              <a:t>va</a:t>
            </a:r>
            <a:r>
              <a:rPr dirty="0"/>
              <a:t> </a:t>
            </a:r>
            <a:r>
              <a:rPr dirty="0" err="1"/>
              <a:t>quitando</a:t>
            </a:r>
            <a:r>
              <a:rPr dirty="0"/>
              <a:t> </a:t>
            </a:r>
            <a:r>
              <a:rPr dirty="0" err="1"/>
              <a:t>ruido</a:t>
            </a:r>
            <a:r>
              <a:rPr dirty="0"/>
              <a:t> paso a paso </a:t>
            </a:r>
            <a:r>
              <a:rPr dirty="0" err="1"/>
              <a:t>siguiendo</a:t>
            </a:r>
            <a:r>
              <a:rPr dirty="0"/>
              <a:t> </a:t>
            </a:r>
            <a:r>
              <a:rPr dirty="0" err="1"/>
              <a:t>tu</a:t>
            </a:r>
            <a:r>
              <a:rPr dirty="0"/>
              <a:t> </a:t>
            </a:r>
            <a:r>
              <a:rPr dirty="0" err="1"/>
              <a:t>frase</a:t>
            </a:r>
            <a:r>
              <a:rPr dirty="0"/>
              <a:t>. La imagen no </a:t>
            </a:r>
            <a:r>
              <a:rPr dirty="0" err="1"/>
              <a:t>estaba</a:t>
            </a:r>
            <a:r>
              <a:rPr dirty="0"/>
              <a:t> ahí: </a:t>
            </a:r>
            <a:r>
              <a:rPr dirty="0" err="1"/>
              <a:t>aparece</a:t>
            </a:r>
            <a:r>
              <a:rPr dirty="0"/>
              <a:t>.</a:t>
            </a:r>
          </a:p>
          <a:p>
            <a:endParaRPr dirty="0"/>
          </a:p>
          <a:p>
            <a:r>
              <a:rPr dirty="0"/>
              <a:t>LA ANALOGÍA QUE FUNCIONA: es </a:t>
            </a:r>
            <a:r>
              <a:rPr dirty="0" err="1"/>
              <a:t>como</a:t>
            </a:r>
            <a:r>
              <a:rPr dirty="0"/>
              <a:t> </a:t>
            </a:r>
            <a:r>
              <a:rPr dirty="0" err="1"/>
              <a:t>mirar</a:t>
            </a:r>
            <a:r>
              <a:rPr dirty="0"/>
              <a:t> </a:t>
            </a:r>
            <a:r>
              <a:rPr dirty="0" err="1"/>
              <a:t>una</a:t>
            </a:r>
            <a:r>
              <a:rPr dirty="0"/>
              <a:t> </a:t>
            </a:r>
            <a:r>
              <a:rPr dirty="0" err="1"/>
              <a:t>nube</a:t>
            </a:r>
            <a:r>
              <a:rPr dirty="0"/>
              <a:t> y </a:t>
            </a:r>
            <a:r>
              <a:rPr dirty="0" err="1"/>
              <a:t>decir</a:t>
            </a:r>
            <a:r>
              <a:rPr dirty="0"/>
              <a:t> «</a:t>
            </a:r>
            <a:r>
              <a:rPr dirty="0" err="1"/>
              <a:t>eso</a:t>
            </a:r>
            <a:r>
              <a:rPr dirty="0"/>
              <a:t> </a:t>
            </a:r>
            <a:r>
              <a:rPr dirty="0" err="1"/>
              <a:t>parece</a:t>
            </a:r>
            <a:r>
              <a:rPr dirty="0"/>
              <a:t> un caballo», y luego </a:t>
            </a:r>
            <a:r>
              <a:rPr dirty="0" err="1"/>
              <a:t>ir</a:t>
            </a:r>
            <a:r>
              <a:rPr dirty="0"/>
              <a:t> </a:t>
            </a:r>
            <a:r>
              <a:rPr dirty="0" err="1"/>
              <a:t>borrando</a:t>
            </a:r>
            <a:r>
              <a:rPr dirty="0"/>
              <a:t> </a:t>
            </a:r>
            <a:r>
              <a:rPr dirty="0" err="1"/>
              <a:t>todo</a:t>
            </a:r>
            <a:r>
              <a:rPr dirty="0"/>
              <a:t> lo </a:t>
            </a:r>
            <a:r>
              <a:rPr dirty="0" err="1"/>
              <a:t>que</a:t>
            </a:r>
            <a:r>
              <a:rPr dirty="0"/>
              <a:t> no es caballo hasta </a:t>
            </a:r>
            <a:r>
              <a:rPr dirty="0" err="1"/>
              <a:t>que</a:t>
            </a:r>
            <a:r>
              <a:rPr dirty="0"/>
              <a:t> </a:t>
            </a:r>
            <a:r>
              <a:rPr dirty="0" err="1"/>
              <a:t>queda</a:t>
            </a:r>
            <a:r>
              <a:rPr dirty="0"/>
              <a:t> uno. La </a:t>
            </a:r>
            <a:r>
              <a:rPr dirty="0" err="1"/>
              <a:t>diferencia</a:t>
            </a:r>
            <a:r>
              <a:rPr dirty="0"/>
              <a:t> es </a:t>
            </a:r>
            <a:r>
              <a:rPr dirty="0" err="1"/>
              <a:t>que</a:t>
            </a:r>
            <a:r>
              <a:rPr dirty="0"/>
              <a:t> la IA </a:t>
            </a:r>
            <a:r>
              <a:rPr dirty="0" err="1"/>
              <a:t>practicó</a:t>
            </a:r>
            <a:r>
              <a:rPr dirty="0"/>
              <a:t> </a:t>
            </a:r>
            <a:r>
              <a:rPr dirty="0" err="1"/>
              <a:t>eso</a:t>
            </a:r>
            <a:r>
              <a:rPr dirty="0"/>
              <a:t> mil </a:t>
            </a:r>
            <a:r>
              <a:rPr dirty="0" err="1"/>
              <a:t>millones</a:t>
            </a:r>
            <a:r>
              <a:rPr dirty="0"/>
              <a:t> de </a:t>
            </a:r>
            <a:r>
              <a:rPr dirty="0" err="1"/>
              <a:t>veces</a:t>
            </a:r>
            <a:r>
              <a:rPr dirty="0"/>
              <a:t>.</a:t>
            </a:r>
          </a:p>
          <a:p>
            <a:endParaRPr dirty="0"/>
          </a:p>
          <a:p>
            <a:r>
              <a:rPr dirty="0"/>
              <a:t>LO QUE SE SIGUE, Y ES LO ÚTIL:</a:t>
            </a:r>
          </a:p>
          <a:p>
            <a:r>
              <a:rPr dirty="0"/>
              <a:t>· No </a:t>
            </a:r>
            <a:r>
              <a:rPr dirty="0" err="1"/>
              <a:t>tiene</a:t>
            </a:r>
            <a:r>
              <a:rPr dirty="0"/>
              <a:t> un </a:t>
            </a:r>
            <a:r>
              <a:rPr dirty="0" err="1"/>
              <a:t>archivo</a:t>
            </a:r>
            <a:r>
              <a:rPr dirty="0"/>
              <a:t> de </a:t>
            </a:r>
            <a:r>
              <a:rPr dirty="0" err="1"/>
              <a:t>imágenes</a:t>
            </a:r>
            <a:r>
              <a:rPr dirty="0"/>
              <a:t> del </a:t>
            </a:r>
            <a:r>
              <a:rPr dirty="0" err="1"/>
              <a:t>que</a:t>
            </a:r>
            <a:r>
              <a:rPr dirty="0"/>
              <a:t> </a:t>
            </a:r>
            <a:r>
              <a:rPr dirty="0" err="1"/>
              <a:t>copie</a:t>
            </a:r>
            <a:r>
              <a:rPr dirty="0"/>
              <a:t>. Por </a:t>
            </a:r>
            <a:r>
              <a:rPr dirty="0" err="1"/>
              <a:t>eso</a:t>
            </a:r>
            <a:r>
              <a:rPr dirty="0"/>
              <a:t> </a:t>
            </a:r>
            <a:r>
              <a:rPr dirty="0" err="1"/>
              <a:t>puede</a:t>
            </a:r>
            <a:r>
              <a:rPr dirty="0"/>
              <a:t> </a:t>
            </a:r>
            <a:r>
              <a:rPr dirty="0" err="1"/>
              <a:t>hacer</a:t>
            </a:r>
            <a:r>
              <a:rPr dirty="0"/>
              <a:t> </a:t>
            </a:r>
            <a:r>
              <a:rPr dirty="0" err="1"/>
              <a:t>cosas</a:t>
            </a:r>
            <a:r>
              <a:rPr dirty="0"/>
              <a:t> </a:t>
            </a:r>
            <a:r>
              <a:rPr dirty="0" err="1"/>
              <a:t>que</a:t>
            </a:r>
            <a:r>
              <a:rPr dirty="0"/>
              <a:t> </a:t>
            </a:r>
            <a:r>
              <a:rPr dirty="0" err="1"/>
              <a:t>nunca</a:t>
            </a:r>
            <a:r>
              <a:rPr dirty="0"/>
              <a:t> </a:t>
            </a:r>
            <a:r>
              <a:rPr dirty="0" err="1"/>
              <a:t>existieron</a:t>
            </a:r>
            <a:r>
              <a:rPr dirty="0"/>
              <a:t>.</a:t>
            </a:r>
          </a:p>
          <a:p>
            <a:r>
              <a:rPr dirty="0"/>
              <a:t>· Por </a:t>
            </a:r>
            <a:r>
              <a:rPr dirty="0" err="1"/>
              <a:t>eso</a:t>
            </a:r>
            <a:r>
              <a:rPr dirty="0"/>
              <a:t> </a:t>
            </a:r>
            <a:r>
              <a:rPr dirty="0" err="1"/>
              <a:t>falla</a:t>
            </a:r>
            <a:r>
              <a:rPr dirty="0"/>
              <a:t> con las manos y con el </a:t>
            </a:r>
            <a:r>
              <a:rPr dirty="0" err="1"/>
              <a:t>texto</a:t>
            </a:r>
            <a:r>
              <a:rPr dirty="0"/>
              <a:t> </a:t>
            </a:r>
            <a:r>
              <a:rPr dirty="0" err="1"/>
              <a:t>dentro</a:t>
            </a:r>
            <a:r>
              <a:rPr dirty="0"/>
              <a:t> de la imagen: son formas </a:t>
            </a:r>
            <a:r>
              <a:rPr dirty="0" err="1"/>
              <a:t>donde</a:t>
            </a:r>
            <a:r>
              <a:rPr dirty="0"/>
              <a:t> un </a:t>
            </a:r>
            <a:r>
              <a:rPr dirty="0" err="1"/>
              <a:t>detalle</a:t>
            </a:r>
            <a:r>
              <a:rPr dirty="0"/>
              <a:t> mal </a:t>
            </a:r>
            <a:r>
              <a:rPr dirty="0" err="1"/>
              <a:t>puesto</a:t>
            </a:r>
            <a:r>
              <a:rPr dirty="0"/>
              <a:t> se nota </a:t>
            </a:r>
            <a:r>
              <a:rPr dirty="0" err="1"/>
              <a:t>muchísimo</a:t>
            </a:r>
            <a:r>
              <a:rPr dirty="0"/>
              <a:t>, y el </a:t>
            </a:r>
            <a:r>
              <a:rPr dirty="0" err="1"/>
              <a:t>ruido</a:t>
            </a:r>
            <a:r>
              <a:rPr dirty="0"/>
              <a:t> no las </a:t>
            </a:r>
            <a:r>
              <a:rPr dirty="0" err="1"/>
              <a:t>guía</a:t>
            </a:r>
            <a:r>
              <a:rPr dirty="0"/>
              <a:t> bien.</a:t>
            </a:r>
          </a:p>
          <a:p>
            <a:r>
              <a:rPr dirty="0"/>
              <a:t>· Y </a:t>
            </a:r>
            <a:r>
              <a:rPr dirty="0" err="1"/>
              <a:t>por</a:t>
            </a:r>
            <a:r>
              <a:rPr dirty="0"/>
              <a:t> </a:t>
            </a:r>
            <a:r>
              <a:rPr dirty="0" err="1"/>
              <a:t>eso</a:t>
            </a:r>
            <a:r>
              <a:rPr dirty="0"/>
              <a:t> </a:t>
            </a:r>
            <a:r>
              <a:rPr dirty="0" err="1"/>
              <a:t>tu</a:t>
            </a:r>
            <a:r>
              <a:rPr dirty="0"/>
              <a:t> </a:t>
            </a:r>
            <a:r>
              <a:rPr dirty="0" err="1"/>
              <a:t>descripción</a:t>
            </a:r>
            <a:r>
              <a:rPr dirty="0"/>
              <a:t> </a:t>
            </a:r>
            <a:r>
              <a:rPr dirty="0" err="1"/>
              <a:t>importa</a:t>
            </a:r>
            <a:r>
              <a:rPr dirty="0"/>
              <a:t> tanto: es lo </a:t>
            </a:r>
            <a:r>
              <a:rPr dirty="0" err="1"/>
              <a:t>único</a:t>
            </a:r>
            <a:r>
              <a:rPr dirty="0"/>
              <a:t> </a:t>
            </a:r>
            <a:r>
              <a:rPr dirty="0" err="1"/>
              <a:t>que</a:t>
            </a:r>
            <a:r>
              <a:rPr dirty="0"/>
              <a:t> </a:t>
            </a:r>
            <a:r>
              <a:rPr dirty="0" err="1"/>
              <a:t>orienta</a:t>
            </a:r>
            <a:r>
              <a:rPr dirty="0"/>
              <a:t> </a:t>
            </a:r>
            <a:r>
              <a:rPr dirty="0" err="1"/>
              <a:t>cada</a:t>
            </a:r>
            <a:r>
              <a:rPr dirty="0"/>
              <a:t> paso.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VOZ, EN LAS DOS DIRECCIONES. </a:t>
            </a:r>
            <a:r>
              <a:rPr dirty="0" err="1"/>
              <a:t>Misma</a:t>
            </a:r>
            <a:r>
              <a:rPr dirty="0"/>
              <a:t> idea, </a:t>
            </a:r>
            <a:r>
              <a:rPr dirty="0" err="1"/>
              <a:t>otro</a:t>
            </a:r>
            <a:r>
              <a:rPr dirty="0"/>
              <a:t> material.</a:t>
            </a:r>
          </a:p>
          <a:p>
            <a:endParaRPr dirty="0"/>
          </a:p>
          <a:p>
            <a:r>
              <a:rPr dirty="0"/>
              <a:t>DE VOZ A TEXTO (lo </a:t>
            </a:r>
            <a:r>
              <a:rPr dirty="0" err="1"/>
              <a:t>que</a:t>
            </a:r>
            <a:r>
              <a:rPr dirty="0"/>
              <a:t> </a:t>
            </a:r>
            <a:r>
              <a:rPr dirty="0" err="1"/>
              <a:t>hace</a:t>
            </a:r>
            <a:r>
              <a:rPr dirty="0"/>
              <a:t> el </a:t>
            </a:r>
            <a:r>
              <a:rPr dirty="0" err="1"/>
              <a:t>dictado</a:t>
            </a:r>
            <a:r>
              <a:rPr dirty="0"/>
              <a:t>):</a:t>
            </a:r>
          </a:p>
          <a:p>
            <a:r>
              <a:rPr dirty="0"/>
              <a:t>Se </a:t>
            </a:r>
            <a:r>
              <a:rPr dirty="0" err="1"/>
              <a:t>entrena</a:t>
            </a:r>
            <a:r>
              <a:rPr dirty="0"/>
              <a:t> con miles de horas de audio junto a </a:t>
            </a:r>
            <a:r>
              <a:rPr dirty="0" err="1"/>
              <a:t>su</a:t>
            </a:r>
            <a:r>
              <a:rPr dirty="0"/>
              <a:t> </a:t>
            </a:r>
            <a:r>
              <a:rPr dirty="0" err="1"/>
              <a:t>transcripción</a:t>
            </a:r>
            <a:r>
              <a:rPr dirty="0"/>
              <a:t> </a:t>
            </a:r>
            <a:r>
              <a:rPr dirty="0" err="1"/>
              <a:t>escrita</a:t>
            </a:r>
            <a:r>
              <a:rPr dirty="0"/>
              <a:t>. </a:t>
            </a:r>
            <a:r>
              <a:rPr dirty="0" err="1"/>
              <a:t>Aprende</a:t>
            </a:r>
            <a:r>
              <a:rPr dirty="0"/>
              <a:t> </a:t>
            </a:r>
            <a:r>
              <a:rPr dirty="0" err="1"/>
              <a:t>qué</a:t>
            </a:r>
            <a:r>
              <a:rPr dirty="0"/>
              <a:t> forma de </a:t>
            </a:r>
            <a:r>
              <a:rPr dirty="0" err="1"/>
              <a:t>onda</a:t>
            </a:r>
            <a:r>
              <a:rPr dirty="0"/>
              <a:t> </a:t>
            </a:r>
            <a:r>
              <a:rPr dirty="0" err="1"/>
              <a:t>corresponde</a:t>
            </a:r>
            <a:r>
              <a:rPr dirty="0"/>
              <a:t> a </a:t>
            </a:r>
            <a:r>
              <a:rPr dirty="0" err="1"/>
              <a:t>qué</a:t>
            </a:r>
            <a:r>
              <a:rPr dirty="0"/>
              <a:t> </a:t>
            </a:r>
            <a:r>
              <a:rPr dirty="0" err="1"/>
              <a:t>sonido</a:t>
            </a:r>
            <a:r>
              <a:rPr dirty="0"/>
              <a:t>, y </a:t>
            </a:r>
            <a:r>
              <a:rPr dirty="0" err="1"/>
              <a:t>qué</a:t>
            </a:r>
            <a:r>
              <a:rPr dirty="0"/>
              <a:t> palabra es </a:t>
            </a:r>
            <a:r>
              <a:rPr dirty="0" err="1"/>
              <a:t>más</a:t>
            </a:r>
            <a:r>
              <a:rPr dirty="0"/>
              <a:t> probable dado lo anterior. Por </a:t>
            </a:r>
            <a:r>
              <a:rPr dirty="0" err="1"/>
              <a:t>eso</a:t>
            </a:r>
            <a:r>
              <a:rPr dirty="0"/>
              <a:t> </a:t>
            </a:r>
            <a:r>
              <a:rPr dirty="0" err="1"/>
              <a:t>acierta</a:t>
            </a:r>
            <a:r>
              <a:rPr dirty="0"/>
              <a:t> </a:t>
            </a:r>
            <a:r>
              <a:rPr dirty="0" err="1"/>
              <a:t>en</a:t>
            </a:r>
            <a:r>
              <a:rPr dirty="0"/>
              <a:t> </a:t>
            </a:r>
            <a:r>
              <a:rPr dirty="0" err="1"/>
              <a:t>frases</a:t>
            </a:r>
            <a:r>
              <a:rPr dirty="0"/>
              <a:t> </a:t>
            </a:r>
            <a:r>
              <a:rPr dirty="0" err="1"/>
              <a:t>corrientes</a:t>
            </a:r>
            <a:r>
              <a:rPr dirty="0"/>
              <a:t> y se </a:t>
            </a:r>
            <a:r>
              <a:rPr dirty="0" err="1"/>
              <a:t>equivoca</a:t>
            </a:r>
            <a:r>
              <a:rPr dirty="0"/>
              <a:t> </a:t>
            </a:r>
            <a:r>
              <a:rPr dirty="0" err="1"/>
              <a:t>en</a:t>
            </a:r>
            <a:r>
              <a:rPr dirty="0"/>
              <a:t> </a:t>
            </a:r>
            <a:r>
              <a:rPr dirty="0" err="1"/>
              <a:t>nombres</a:t>
            </a:r>
            <a:r>
              <a:rPr dirty="0"/>
              <a:t> </a:t>
            </a:r>
            <a:r>
              <a:rPr dirty="0" err="1"/>
              <a:t>propios</a:t>
            </a:r>
            <a:r>
              <a:rPr dirty="0"/>
              <a:t>: «Piña Durán» no es probable </a:t>
            </a:r>
            <a:r>
              <a:rPr dirty="0" err="1"/>
              <a:t>en</a:t>
            </a:r>
            <a:r>
              <a:rPr dirty="0"/>
              <a:t> </a:t>
            </a:r>
            <a:r>
              <a:rPr dirty="0" err="1"/>
              <a:t>ningún</a:t>
            </a:r>
            <a:r>
              <a:rPr dirty="0"/>
              <a:t> corpus; «</a:t>
            </a:r>
            <a:r>
              <a:rPr dirty="0" err="1"/>
              <a:t>pino</a:t>
            </a:r>
            <a:r>
              <a:rPr dirty="0"/>
              <a:t> duran» </a:t>
            </a:r>
            <a:r>
              <a:rPr dirty="0" err="1"/>
              <a:t>sí</a:t>
            </a:r>
            <a:r>
              <a:rPr dirty="0"/>
              <a:t>.</a:t>
            </a:r>
          </a:p>
          <a:p>
            <a:r>
              <a:rPr dirty="0"/>
              <a:t>ESO EXPLICA algo </a:t>
            </a:r>
            <a:r>
              <a:rPr dirty="0" err="1"/>
              <a:t>que</a:t>
            </a:r>
            <a:r>
              <a:rPr dirty="0"/>
              <a:t> van a </a:t>
            </a:r>
            <a:r>
              <a:rPr dirty="0" err="1"/>
              <a:t>vivir</a:t>
            </a:r>
            <a:r>
              <a:rPr dirty="0"/>
              <a:t> hoy: </a:t>
            </a:r>
            <a:r>
              <a:rPr dirty="0" err="1"/>
              <a:t>los</a:t>
            </a:r>
            <a:r>
              <a:rPr dirty="0"/>
              <a:t> </a:t>
            </a:r>
            <a:r>
              <a:rPr dirty="0" err="1"/>
              <a:t>subtítulos</a:t>
            </a:r>
            <a:r>
              <a:rPr dirty="0"/>
              <a:t> </a:t>
            </a:r>
            <a:r>
              <a:rPr dirty="0" err="1"/>
              <a:t>automáticos</a:t>
            </a:r>
            <a:r>
              <a:rPr dirty="0"/>
              <a:t> </a:t>
            </a:r>
            <a:r>
              <a:rPr dirty="0" err="1"/>
              <a:t>siempre</a:t>
            </a:r>
            <a:r>
              <a:rPr dirty="0"/>
              <a:t> </a:t>
            </a:r>
            <a:r>
              <a:rPr dirty="0" err="1"/>
              <a:t>traen</a:t>
            </a:r>
            <a:r>
              <a:rPr dirty="0"/>
              <a:t> dos o </a:t>
            </a:r>
            <a:r>
              <a:rPr dirty="0" err="1"/>
              <a:t>tres</a:t>
            </a:r>
            <a:r>
              <a:rPr dirty="0"/>
              <a:t> palabras mal, y </a:t>
            </a:r>
            <a:r>
              <a:rPr dirty="0" err="1"/>
              <a:t>casi</a:t>
            </a:r>
            <a:r>
              <a:rPr dirty="0"/>
              <a:t> </a:t>
            </a:r>
            <a:r>
              <a:rPr dirty="0" err="1"/>
              <a:t>siempre</a:t>
            </a:r>
            <a:r>
              <a:rPr dirty="0"/>
              <a:t> son </a:t>
            </a:r>
            <a:r>
              <a:rPr dirty="0" err="1"/>
              <a:t>nombres</a:t>
            </a:r>
            <a:r>
              <a:rPr dirty="0"/>
              <a:t>.</a:t>
            </a:r>
          </a:p>
          <a:p>
            <a:endParaRPr dirty="0"/>
          </a:p>
          <a:p>
            <a:r>
              <a:rPr dirty="0"/>
              <a:t>DE TEXTO A VOZ (lo </a:t>
            </a:r>
            <a:r>
              <a:rPr dirty="0" err="1"/>
              <a:t>que</a:t>
            </a:r>
            <a:r>
              <a:rPr dirty="0"/>
              <a:t> </a:t>
            </a:r>
            <a:r>
              <a:rPr dirty="0" err="1"/>
              <a:t>hace</a:t>
            </a:r>
            <a:r>
              <a:rPr dirty="0"/>
              <a:t> la </a:t>
            </a:r>
            <a:r>
              <a:rPr dirty="0" err="1"/>
              <a:t>narración</a:t>
            </a:r>
            <a:r>
              <a:rPr dirty="0"/>
              <a:t>):</a:t>
            </a:r>
          </a:p>
          <a:p>
            <a:r>
              <a:rPr dirty="0"/>
              <a:t>Lo </a:t>
            </a:r>
            <a:r>
              <a:rPr dirty="0" err="1"/>
              <a:t>contrario</a:t>
            </a:r>
            <a:r>
              <a:rPr dirty="0"/>
              <a:t>. </a:t>
            </a:r>
            <a:r>
              <a:rPr dirty="0" err="1"/>
              <a:t>Aprende</a:t>
            </a:r>
            <a:r>
              <a:rPr dirty="0"/>
              <a:t> de </a:t>
            </a:r>
            <a:r>
              <a:rPr dirty="0" err="1"/>
              <a:t>los</a:t>
            </a:r>
            <a:r>
              <a:rPr dirty="0"/>
              <a:t> </a:t>
            </a:r>
            <a:r>
              <a:rPr dirty="0" err="1"/>
              <a:t>mismos</a:t>
            </a:r>
            <a:r>
              <a:rPr dirty="0"/>
              <a:t> pares a </a:t>
            </a:r>
            <a:r>
              <a:rPr dirty="0" err="1"/>
              <a:t>producir</a:t>
            </a:r>
            <a:r>
              <a:rPr dirty="0"/>
              <a:t> la </a:t>
            </a:r>
            <a:r>
              <a:rPr dirty="0" err="1"/>
              <a:t>onda</a:t>
            </a:r>
            <a:r>
              <a:rPr dirty="0"/>
              <a:t> </a:t>
            </a:r>
            <a:r>
              <a:rPr dirty="0" err="1"/>
              <a:t>sonora</a:t>
            </a:r>
            <a:r>
              <a:rPr dirty="0"/>
              <a:t> de </a:t>
            </a:r>
            <a:r>
              <a:rPr dirty="0" err="1"/>
              <a:t>una</a:t>
            </a:r>
            <a:r>
              <a:rPr dirty="0"/>
              <a:t> </a:t>
            </a:r>
            <a:r>
              <a:rPr dirty="0" err="1"/>
              <a:t>frase</a:t>
            </a:r>
            <a:r>
              <a:rPr dirty="0"/>
              <a:t>. Y </a:t>
            </a:r>
            <a:r>
              <a:rPr dirty="0" err="1"/>
              <a:t>aprende</a:t>
            </a:r>
            <a:r>
              <a:rPr dirty="0"/>
              <a:t> también la </a:t>
            </a:r>
            <a:r>
              <a:rPr dirty="0" err="1"/>
              <a:t>entonación</a:t>
            </a:r>
            <a:r>
              <a:rPr dirty="0"/>
              <a:t>, </a:t>
            </a:r>
            <a:r>
              <a:rPr dirty="0" err="1"/>
              <a:t>porque</a:t>
            </a:r>
            <a:r>
              <a:rPr dirty="0"/>
              <a:t> </a:t>
            </a:r>
            <a:r>
              <a:rPr dirty="0" err="1"/>
              <a:t>en</a:t>
            </a:r>
            <a:r>
              <a:rPr dirty="0"/>
              <a:t> </a:t>
            </a:r>
            <a:r>
              <a:rPr dirty="0" err="1"/>
              <a:t>los</a:t>
            </a:r>
            <a:r>
              <a:rPr dirty="0"/>
              <a:t> </a:t>
            </a:r>
            <a:r>
              <a:rPr dirty="0" err="1"/>
              <a:t>ejemplos</a:t>
            </a:r>
            <a:r>
              <a:rPr dirty="0"/>
              <a:t> la </a:t>
            </a:r>
            <a:r>
              <a:rPr dirty="0" err="1"/>
              <a:t>gente</a:t>
            </a:r>
            <a:r>
              <a:rPr dirty="0"/>
              <a:t> no </a:t>
            </a:r>
            <a:r>
              <a:rPr dirty="0" err="1"/>
              <a:t>habla</a:t>
            </a:r>
            <a:r>
              <a:rPr dirty="0"/>
              <a:t> plano.</a:t>
            </a:r>
          </a:p>
          <a:p>
            <a:r>
              <a:rPr dirty="0"/>
              <a:t>POR ESO LA INDICACIÓN DE ESTILO FUNCIONA: </a:t>
            </a:r>
            <a:r>
              <a:rPr dirty="0" err="1"/>
              <a:t>cuando</a:t>
            </a:r>
            <a:r>
              <a:rPr dirty="0"/>
              <a:t> le dices «tono </a:t>
            </a:r>
            <a:r>
              <a:rPr dirty="0" err="1"/>
              <a:t>cercano</a:t>
            </a:r>
            <a:r>
              <a:rPr dirty="0"/>
              <a:t> y </a:t>
            </a:r>
            <a:r>
              <a:rPr dirty="0" err="1"/>
              <a:t>pausado</a:t>
            </a:r>
            <a:r>
              <a:rPr dirty="0"/>
              <a:t>, no de </a:t>
            </a:r>
            <a:r>
              <a:rPr dirty="0" err="1"/>
              <a:t>noticiero</a:t>
            </a:r>
            <a:r>
              <a:rPr dirty="0"/>
              <a:t>», no </a:t>
            </a:r>
            <a:r>
              <a:rPr dirty="0" err="1"/>
              <a:t>está</a:t>
            </a:r>
            <a:r>
              <a:rPr dirty="0"/>
              <a:t> </a:t>
            </a:r>
            <a:r>
              <a:rPr dirty="0" err="1"/>
              <a:t>apretando</a:t>
            </a:r>
            <a:r>
              <a:rPr dirty="0"/>
              <a:t> </a:t>
            </a:r>
            <a:r>
              <a:rPr dirty="0" err="1"/>
              <a:t>botones</a:t>
            </a:r>
            <a:r>
              <a:rPr dirty="0"/>
              <a:t> de </a:t>
            </a:r>
            <a:r>
              <a:rPr dirty="0" err="1"/>
              <a:t>velocidad</a:t>
            </a:r>
            <a:r>
              <a:rPr dirty="0"/>
              <a:t>; </a:t>
            </a:r>
            <a:r>
              <a:rPr dirty="0" err="1"/>
              <a:t>está</a:t>
            </a:r>
            <a:r>
              <a:rPr dirty="0"/>
              <a:t> </a:t>
            </a:r>
            <a:r>
              <a:rPr dirty="0" err="1"/>
              <a:t>eligiendo</a:t>
            </a:r>
            <a:r>
              <a:rPr dirty="0"/>
              <a:t> entre </a:t>
            </a:r>
            <a:r>
              <a:rPr dirty="0" err="1"/>
              <a:t>maneras</a:t>
            </a:r>
            <a:r>
              <a:rPr dirty="0"/>
              <a:t> de </a:t>
            </a:r>
            <a:r>
              <a:rPr dirty="0" err="1"/>
              <a:t>hablar</a:t>
            </a:r>
            <a:r>
              <a:rPr dirty="0"/>
              <a:t> </a:t>
            </a:r>
            <a:r>
              <a:rPr dirty="0" err="1"/>
              <a:t>que</a:t>
            </a:r>
            <a:r>
              <a:rPr dirty="0"/>
              <a:t> </a:t>
            </a:r>
            <a:r>
              <a:rPr dirty="0" err="1"/>
              <a:t>ya</a:t>
            </a:r>
            <a:r>
              <a:rPr dirty="0"/>
              <a:t> </a:t>
            </a:r>
            <a:r>
              <a:rPr dirty="0" err="1"/>
              <a:t>vio</a:t>
            </a:r>
            <a:r>
              <a:rPr dirty="0"/>
              <a:t>.</a:t>
            </a:r>
          </a:p>
          <a:p>
            <a:endParaRPr dirty="0"/>
          </a:p>
          <a:p>
            <a:r>
              <a:rPr dirty="0"/>
              <a:t>LAS VOCES NO SON GRABACIONES. No hay un </a:t>
            </a:r>
            <a:r>
              <a:rPr dirty="0" err="1"/>
              <a:t>señor</a:t>
            </a:r>
            <a:r>
              <a:rPr dirty="0"/>
              <a:t> </a:t>
            </a:r>
            <a:r>
              <a:rPr dirty="0" err="1"/>
              <a:t>guardado</a:t>
            </a:r>
            <a:r>
              <a:rPr dirty="0"/>
              <a:t> </a:t>
            </a:r>
            <a:r>
              <a:rPr dirty="0" err="1"/>
              <a:t>en</a:t>
            </a:r>
            <a:r>
              <a:rPr dirty="0"/>
              <a:t> un </a:t>
            </a:r>
            <a:r>
              <a:rPr dirty="0" err="1"/>
              <a:t>servidor</a:t>
            </a:r>
            <a:r>
              <a:rPr dirty="0"/>
              <a:t>. Es un </a:t>
            </a:r>
            <a:r>
              <a:rPr dirty="0" err="1"/>
              <a:t>patrón</a:t>
            </a:r>
            <a:r>
              <a:rPr dirty="0"/>
              <a:t> </a:t>
            </a:r>
            <a:r>
              <a:rPr dirty="0" err="1"/>
              <a:t>aprendido</a:t>
            </a:r>
            <a:r>
              <a:rPr dirty="0"/>
              <a:t>. </a:t>
            </a:r>
            <a:r>
              <a:rPr dirty="0" err="1"/>
              <a:t>Decirlo</a:t>
            </a:r>
            <a:r>
              <a:rPr dirty="0"/>
              <a:t> </a:t>
            </a:r>
            <a:r>
              <a:rPr dirty="0" err="1"/>
              <a:t>explícitamente</a:t>
            </a:r>
            <a:r>
              <a:rPr dirty="0"/>
              <a:t>: </a:t>
            </a:r>
            <a:r>
              <a:rPr dirty="0" err="1"/>
              <a:t>aquí</a:t>
            </a:r>
            <a:r>
              <a:rPr dirty="0"/>
              <a:t> es </a:t>
            </a:r>
            <a:r>
              <a:rPr dirty="0" err="1"/>
              <a:t>donde</a:t>
            </a:r>
            <a:r>
              <a:rPr dirty="0"/>
              <a:t> se </a:t>
            </a:r>
            <a:r>
              <a:rPr dirty="0" err="1"/>
              <a:t>entiende</a:t>
            </a:r>
            <a:r>
              <a:rPr dirty="0"/>
              <a:t> </a:t>
            </a:r>
            <a:r>
              <a:rPr dirty="0" err="1"/>
              <a:t>qué</a:t>
            </a:r>
            <a:r>
              <a:rPr dirty="0"/>
              <a:t> es </a:t>
            </a:r>
            <a:r>
              <a:rPr dirty="0" err="1"/>
              <a:t>clonar</a:t>
            </a:r>
            <a:r>
              <a:rPr dirty="0"/>
              <a:t> </a:t>
            </a:r>
            <a:r>
              <a:rPr dirty="0" err="1"/>
              <a:t>una</a:t>
            </a:r>
            <a:r>
              <a:rPr dirty="0"/>
              <a:t> </a:t>
            </a:r>
            <a:r>
              <a:rPr dirty="0" err="1"/>
              <a:t>voz</a:t>
            </a:r>
            <a:r>
              <a:rPr dirty="0"/>
              <a:t>, y </a:t>
            </a:r>
            <a:r>
              <a:rPr dirty="0" err="1"/>
              <a:t>por</a:t>
            </a:r>
            <a:r>
              <a:rPr dirty="0"/>
              <a:t> </a:t>
            </a:r>
            <a:r>
              <a:rPr dirty="0" err="1"/>
              <a:t>qué</a:t>
            </a:r>
            <a:r>
              <a:rPr dirty="0"/>
              <a:t> </a:t>
            </a:r>
            <a:r>
              <a:rPr dirty="0" err="1"/>
              <a:t>eso</a:t>
            </a:r>
            <a:r>
              <a:rPr dirty="0"/>
              <a:t> </a:t>
            </a:r>
            <a:r>
              <a:rPr dirty="0" err="1"/>
              <a:t>tiene</a:t>
            </a:r>
            <a:r>
              <a:rPr dirty="0"/>
              <a:t> </a:t>
            </a:r>
            <a:r>
              <a:rPr dirty="0" err="1"/>
              <a:t>implicaciones</a:t>
            </a:r>
            <a:r>
              <a:rPr dirty="0"/>
              <a:t> </a:t>
            </a:r>
            <a:r>
              <a:rPr dirty="0" err="1"/>
              <a:t>serias</a:t>
            </a:r>
            <a:r>
              <a:rPr dirty="0"/>
              <a:t>.</a:t>
            </a:r>
          </a:p>
          <a:p>
            <a:endParaRPr dirty="0"/>
          </a:p>
          <a:p>
            <a:r>
              <a:rPr dirty="0"/>
              <a:t>CONEXIÓN CON HOY: </a:t>
            </a:r>
            <a:r>
              <a:rPr dirty="0" err="1"/>
              <a:t>todo</a:t>
            </a:r>
            <a:r>
              <a:rPr dirty="0"/>
              <a:t> </a:t>
            </a:r>
            <a:r>
              <a:rPr dirty="0" err="1"/>
              <a:t>esto</a:t>
            </a:r>
            <a:r>
              <a:rPr dirty="0"/>
              <a:t> es lo </a:t>
            </a:r>
            <a:r>
              <a:rPr dirty="0" err="1"/>
              <a:t>que</a:t>
            </a:r>
            <a:r>
              <a:rPr dirty="0"/>
              <a:t> van a usar </a:t>
            </a:r>
            <a:r>
              <a:rPr dirty="0" err="1"/>
              <a:t>en</a:t>
            </a:r>
            <a:r>
              <a:rPr dirty="0"/>
              <a:t> </a:t>
            </a:r>
            <a:r>
              <a:rPr dirty="0" err="1"/>
              <a:t>veinte</a:t>
            </a:r>
            <a:r>
              <a:rPr dirty="0"/>
              <a:t> </a:t>
            </a:r>
            <a:r>
              <a:rPr dirty="0" err="1"/>
              <a:t>minutos</a:t>
            </a:r>
            <a:r>
              <a:rPr dirty="0"/>
              <a:t>. Y la </a:t>
            </a:r>
            <a:r>
              <a:rPr dirty="0" err="1"/>
              <a:t>pregunta</a:t>
            </a:r>
            <a:r>
              <a:rPr dirty="0"/>
              <a:t> de la </a:t>
            </a:r>
            <a:r>
              <a:rPr dirty="0" err="1"/>
              <a:t>sesión</a:t>
            </a:r>
            <a:r>
              <a:rPr dirty="0"/>
              <a:t> de </a:t>
            </a:r>
            <a:r>
              <a:rPr dirty="0" err="1"/>
              <a:t>ética</a:t>
            </a:r>
            <a:r>
              <a:rPr dirty="0"/>
              <a:t> </a:t>
            </a:r>
            <a:r>
              <a:rPr dirty="0" err="1"/>
              <a:t>ya</a:t>
            </a:r>
            <a:r>
              <a:rPr dirty="0"/>
              <a:t> </a:t>
            </a:r>
            <a:r>
              <a:rPr dirty="0" err="1"/>
              <a:t>queda</a:t>
            </a:r>
            <a:r>
              <a:rPr dirty="0"/>
              <a:t> </a:t>
            </a:r>
            <a:r>
              <a:rPr dirty="0" err="1"/>
              <a:t>sembrada</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Este es el </a:t>
            </a:r>
            <a:r>
              <a:rPr dirty="0" err="1"/>
              <a:t>entregable</a:t>
            </a:r>
            <a:r>
              <a:rPr dirty="0"/>
              <a:t>. </a:t>
            </a:r>
            <a:r>
              <a:rPr dirty="0" err="1"/>
              <a:t>Mostrarlo</a:t>
            </a:r>
            <a:r>
              <a:rPr dirty="0"/>
              <a:t>, no </a:t>
            </a:r>
            <a:r>
              <a:rPr dirty="0" err="1"/>
              <a:t>explicarlo</a:t>
            </a:r>
            <a:r>
              <a:rPr dirty="0"/>
              <a:t>.</a:t>
            </a:r>
          </a:p>
          <a:p>
            <a:endParaRPr dirty="0"/>
          </a:p>
          <a:p>
            <a:r>
              <a:rPr dirty="0" err="1"/>
              <a:t>Reproducir</a:t>
            </a:r>
            <a:r>
              <a:rPr dirty="0"/>
              <a:t> el </a:t>
            </a:r>
            <a:r>
              <a:rPr dirty="0" err="1"/>
              <a:t>ejemplo</a:t>
            </a:r>
            <a:r>
              <a:rPr dirty="0"/>
              <a:t>. </a:t>
            </a:r>
            <a:r>
              <a:rPr dirty="0" err="1"/>
              <a:t>Preguntar</a:t>
            </a:r>
            <a:r>
              <a:rPr dirty="0"/>
              <a:t> </a:t>
            </a:r>
            <a:r>
              <a:rPr dirty="0" err="1"/>
              <a:t>después</a:t>
            </a:r>
            <a:r>
              <a:rPr dirty="0"/>
              <a:t>: ¿</a:t>
            </a:r>
            <a:r>
              <a:rPr dirty="0" err="1"/>
              <a:t>cuántos</a:t>
            </a:r>
            <a:r>
              <a:rPr dirty="0"/>
              <a:t> videos </a:t>
            </a:r>
            <a:r>
              <a:rPr dirty="0" err="1"/>
              <a:t>distintos</a:t>
            </a:r>
            <a:r>
              <a:rPr dirty="0"/>
              <a:t> </a:t>
            </a:r>
            <a:r>
              <a:rPr dirty="0" err="1"/>
              <a:t>creen</a:t>
            </a:r>
            <a:r>
              <a:rPr dirty="0"/>
              <a:t> </a:t>
            </a:r>
            <a:r>
              <a:rPr dirty="0" err="1"/>
              <a:t>que</a:t>
            </a:r>
            <a:r>
              <a:rPr dirty="0"/>
              <a:t> hay </a:t>
            </a:r>
            <a:r>
              <a:rPr dirty="0" err="1"/>
              <a:t>aquí</a:t>
            </a:r>
            <a:r>
              <a:rPr dirty="0"/>
              <a:t>? La </a:t>
            </a:r>
            <a:r>
              <a:rPr dirty="0" err="1"/>
              <a:t>respuesta</a:t>
            </a:r>
            <a:r>
              <a:rPr dirty="0"/>
              <a:t> —son clips </a:t>
            </a:r>
            <a:r>
              <a:rPr dirty="0" err="1"/>
              <a:t>pegados</a:t>
            </a:r>
            <a:r>
              <a:rPr dirty="0"/>
              <a:t>— es la agenda de la </a:t>
            </a:r>
            <a:r>
              <a:rPr dirty="0" err="1"/>
              <a:t>clase</a:t>
            </a:r>
            <a:r>
              <a:rPr dirty="0"/>
              <a:t>.</a:t>
            </a:r>
          </a:p>
          <a:p>
            <a:endParaRPr dirty="0"/>
          </a:p>
          <a:p>
            <a:r>
              <a:rPr dirty="0"/>
              <a:t>El punto </a:t>
            </a:r>
            <a:r>
              <a:rPr dirty="0" err="1"/>
              <a:t>pedagógico</a:t>
            </a:r>
            <a:r>
              <a:rPr dirty="0"/>
              <a:t>: no se </a:t>
            </a:r>
            <a:r>
              <a:rPr dirty="0" err="1"/>
              <a:t>hace</a:t>
            </a:r>
            <a:r>
              <a:rPr dirty="0"/>
              <a:t> un video de corrido. Se </a:t>
            </a:r>
            <a:r>
              <a:rPr dirty="0" err="1"/>
              <a:t>hacen</a:t>
            </a:r>
            <a:r>
              <a:rPr dirty="0"/>
              <a:t> </a:t>
            </a:r>
            <a:r>
              <a:rPr dirty="0" err="1"/>
              <a:t>pedazos</a:t>
            </a:r>
            <a:r>
              <a:rPr dirty="0"/>
              <a:t> de </a:t>
            </a:r>
            <a:r>
              <a:rPr dirty="0" err="1"/>
              <a:t>diez</a:t>
            </a:r>
            <a:r>
              <a:rPr dirty="0"/>
              <a:t> </a:t>
            </a:r>
            <a:r>
              <a:rPr dirty="0" err="1"/>
              <a:t>segundos</a:t>
            </a:r>
            <a:r>
              <a:rPr dirty="0"/>
              <a:t> y se </a:t>
            </a:r>
            <a:r>
              <a:rPr dirty="0" err="1"/>
              <a:t>pegan</a:t>
            </a:r>
            <a:r>
              <a:rPr dirty="0"/>
              <a:t>. Eso es lo </a:t>
            </a:r>
            <a:r>
              <a:rPr dirty="0" err="1"/>
              <a:t>que</a:t>
            </a:r>
            <a:r>
              <a:rPr dirty="0"/>
              <a:t> lo </a:t>
            </a:r>
            <a:r>
              <a:rPr dirty="0" err="1"/>
              <a:t>vuelve</a:t>
            </a:r>
            <a:r>
              <a:rPr dirty="0"/>
              <a:t> </a:t>
            </a:r>
            <a:r>
              <a:rPr dirty="0" err="1"/>
              <a:t>alcanzable</a:t>
            </a:r>
            <a:r>
              <a:rPr dirty="0"/>
              <a:t>.</a:t>
            </a:r>
          </a:p>
          <a:p>
            <a:endParaRPr dirty="0"/>
          </a:p>
          <a:p>
            <a:r>
              <a:rPr dirty="0"/>
              <a:t>POR QUÉ CUATRO DE OCHO: es </a:t>
            </a:r>
            <a:r>
              <a:rPr dirty="0" err="1"/>
              <a:t>aritmética</a:t>
            </a:r>
            <a:r>
              <a:rPr dirty="0"/>
              <a:t>. Flow da 50 </a:t>
            </a:r>
            <a:r>
              <a:rPr dirty="0" err="1"/>
              <a:t>créditos</a:t>
            </a:r>
            <a:r>
              <a:rPr dirty="0"/>
              <a:t> gratis al día y un clip de 8 </a:t>
            </a:r>
            <a:r>
              <a:rPr dirty="0" err="1"/>
              <a:t>segundos</a:t>
            </a:r>
            <a:r>
              <a:rPr dirty="0"/>
              <a:t> cuesta 10. Cuatro clips son 40 y </a:t>
            </a:r>
            <a:r>
              <a:rPr dirty="0" err="1"/>
              <a:t>queda</a:t>
            </a:r>
            <a:r>
              <a:rPr dirty="0"/>
              <a:t> uno de </a:t>
            </a:r>
            <a:r>
              <a:rPr dirty="0" err="1"/>
              <a:t>repuesto</a:t>
            </a:r>
            <a:r>
              <a:rPr dirty="0"/>
              <a:t>, </a:t>
            </a:r>
            <a:r>
              <a:rPr dirty="0" err="1"/>
              <a:t>que</a:t>
            </a:r>
            <a:r>
              <a:rPr dirty="0"/>
              <a:t> se </a:t>
            </a:r>
            <a:r>
              <a:rPr dirty="0" err="1"/>
              <a:t>va</a:t>
            </a:r>
            <a:r>
              <a:rPr dirty="0"/>
              <a:t> a </a:t>
            </a:r>
            <a:r>
              <a:rPr dirty="0" err="1"/>
              <a:t>necesitar</a:t>
            </a:r>
            <a:r>
              <a:rPr dirty="0"/>
              <a:t> </a:t>
            </a:r>
            <a:r>
              <a:rPr dirty="0" err="1"/>
              <a:t>porque</a:t>
            </a:r>
            <a:r>
              <a:rPr dirty="0"/>
              <a:t> la </a:t>
            </a:r>
            <a:r>
              <a:rPr dirty="0" err="1"/>
              <a:t>herramienta</a:t>
            </a:r>
            <a:r>
              <a:rPr dirty="0"/>
              <a:t> </a:t>
            </a:r>
            <a:r>
              <a:rPr dirty="0" err="1"/>
              <a:t>falla</a:t>
            </a:r>
            <a:r>
              <a:rPr dirty="0"/>
              <a:t> </a:t>
            </a:r>
            <a:r>
              <a:rPr dirty="0" err="1"/>
              <a:t>seguido</a:t>
            </a:r>
            <a:r>
              <a:rPr dirty="0"/>
              <a:t>.</a:t>
            </a:r>
          </a:p>
          <a:p>
            <a:endParaRPr dirty="0"/>
          </a:p>
          <a:p>
            <a:r>
              <a:rPr dirty="0"/>
              <a:t>APROVECHA ESO: el </a:t>
            </a:r>
            <a:r>
              <a:rPr dirty="0" err="1"/>
              <a:t>repuesto</a:t>
            </a:r>
            <a:r>
              <a:rPr dirty="0"/>
              <a:t> es para </a:t>
            </a:r>
            <a:r>
              <a:rPr dirty="0" err="1"/>
              <a:t>los</a:t>
            </a:r>
            <a:r>
              <a:rPr dirty="0"/>
              <a:t> </a:t>
            </a:r>
            <a:r>
              <a:rPr dirty="0" err="1"/>
              <a:t>errores</a:t>
            </a:r>
            <a:r>
              <a:rPr dirty="0"/>
              <a:t>, no para </a:t>
            </a:r>
            <a:r>
              <a:rPr dirty="0" err="1"/>
              <a:t>ensayar</a:t>
            </a:r>
            <a:r>
              <a:rPr dirty="0"/>
              <a:t> </a:t>
            </a:r>
            <a:r>
              <a:rPr dirty="0" err="1"/>
              <a:t>guiones</a:t>
            </a:r>
            <a:r>
              <a:rPr dirty="0"/>
              <a:t>. Como no hay </a:t>
            </a:r>
            <a:r>
              <a:rPr dirty="0" err="1"/>
              <a:t>créditos</a:t>
            </a:r>
            <a:r>
              <a:rPr dirty="0"/>
              <a:t> para </a:t>
            </a:r>
            <a:r>
              <a:rPr dirty="0" err="1"/>
              <a:t>probar</a:t>
            </a:r>
            <a:r>
              <a:rPr dirty="0"/>
              <a:t> a </a:t>
            </a:r>
            <a:r>
              <a:rPr dirty="0" err="1"/>
              <a:t>ver</a:t>
            </a:r>
            <a:r>
              <a:rPr dirty="0"/>
              <a:t> </a:t>
            </a:r>
            <a:r>
              <a:rPr dirty="0" err="1"/>
              <a:t>qué</a:t>
            </a:r>
            <a:r>
              <a:rPr dirty="0"/>
              <a:t> sale, el </a:t>
            </a:r>
            <a:r>
              <a:rPr dirty="0" err="1"/>
              <a:t>guion</a:t>
            </a:r>
            <a:r>
              <a:rPr dirty="0"/>
              <a:t> TIENE </a:t>
            </a:r>
            <a:r>
              <a:rPr dirty="0" err="1"/>
              <a:t>que</a:t>
            </a:r>
            <a:r>
              <a:rPr dirty="0"/>
              <a:t> </a:t>
            </a:r>
            <a:r>
              <a:rPr dirty="0" err="1"/>
              <a:t>estar</a:t>
            </a:r>
            <a:r>
              <a:rPr dirty="0"/>
              <a:t> bien antes de </a:t>
            </a:r>
            <a:r>
              <a:rPr dirty="0" err="1"/>
              <a:t>generar</a:t>
            </a:r>
            <a:r>
              <a:rPr dirty="0"/>
              <a:t>. Es el </a:t>
            </a:r>
            <a:r>
              <a:rPr dirty="0" err="1"/>
              <a:t>mejor</a:t>
            </a:r>
            <a:r>
              <a:rPr dirty="0"/>
              <a:t> </a:t>
            </a:r>
            <a:r>
              <a:rPr dirty="0" err="1"/>
              <a:t>argumento</a:t>
            </a:r>
            <a:r>
              <a:rPr dirty="0"/>
              <a:t> </a:t>
            </a:r>
            <a:r>
              <a:rPr dirty="0" err="1"/>
              <a:t>que</a:t>
            </a:r>
            <a:r>
              <a:rPr dirty="0"/>
              <a:t> vas a </a:t>
            </a:r>
            <a:r>
              <a:rPr dirty="0" err="1"/>
              <a:t>tener</a:t>
            </a:r>
            <a:r>
              <a:rPr dirty="0"/>
              <a:t> para </a:t>
            </a:r>
            <a:r>
              <a:rPr dirty="0" err="1"/>
              <a:t>que</a:t>
            </a:r>
            <a:r>
              <a:rPr dirty="0"/>
              <a:t> no se </a:t>
            </a:r>
            <a:r>
              <a:rPr dirty="0" err="1"/>
              <a:t>salten</a:t>
            </a:r>
            <a:r>
              <a:rPr dirty="0"/>
              <a:t> el paso 1.</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El camino </a:t>
            </a:r>
            <a:r>
              <a:rPr dirty="0" err="1"/>
              <a:t>completo</a:t>
            </a:r>
            <a:r>
              <a:rPr dirty="0"/>
              <a:t>. Cuatro pasos </a:t>
            </a:r>
            <a:r>
              <a:rPr dirty="0" err="1"/>
              <a:t>obligatorios</a:t>
            </a:r>
            <a:r>
              <a:rPr dirty="0"/>
              <a:t> y dos </a:t>
            </a:r>
            <a:r>
              <a:rPr dirty="0" err="1"/>
              <a:t>opcionales</a:t>
            </a:r>
            <a:r>
              <a:rPr dirty="0"/>
              <a:t>.</a:t>
            </a:r>
          </a:p>
          <a:p>
            <a:endParaRPr dirty="0"/>
          </a:p>
          <a:p>
            <a:r>
              <a:rPr dirty="0" err="1"/>
              <a:t>Insistir</a:t>
            </a:r>
            <a:r>
              <a:rPr dirty="0"/>
              <a:t> </a:t>
            </a:r>
            <a:r>
              <a:rPr dirty="0" err="1"/>
              <a:t>en</a:t>
            </a:r>
            <a:r>
              <a:rPr dirty="0"/>
              <a:t> el </a:t>
            </a:r>
            <a:r>
              <a:rPr dirty="0" err="1"/>
              <a:t>orden</a:t>
            </a:r>
            <a:r>
              <a:rPr dirty="0"/>
              <a:t>: el </a:t>
            </a:r>
            <a:r>
              <a:rPr dirty="0" err="1"/>
              <a:t>guion</a:t>
            </a:r>
            <a:r>
              <a:rPr dirty="0"/>
              <a:t> primero, </a:t>
            </a:r>
            <a:r>
              <a:rPr dirty="0" err="1"/>
              <a:t>siempre</a:t>
            </a:r>
            <a:r>
              <a:rPr dirty="0"/>
              <a:t>. El error </a:t>
            </a:r>
            <a:r>
              <a:rPr dirty="0" err="1"/>
              <a:t>más</a:t>
            </a:r>
            <a:r>
              <a:rPr dirty="0"/>
              <a:t> </a:t>
            </a:r>
            <a:r>
              <a:rPr dirty="0" err="1"/>
              <a:t>común</a:t>
            </a:r>
            <a:r>
              <a:rPr dirty="0"/>
              <a:t> es </a:t>
            </a:r>
            <a:r>
              <a:rPr dirty="0" err="1"/>
              <a:t>empezar</a:t>
            </a:r>
            <a:r>
              <a:rPr dirty="0"/>
              <a:t> </a:t>
            </a:r>
            <a:r>
              <a:rPr dirty="0" err="1"/>
              <a:t>por</a:t>
            </a:r>
            <a:r>
              <a:rPr dirty="0"/>
              <a:t> la imagen </a:t>
            </a:r>
            <a:r>
              <a:rPr dirty="0" err="1"/>
              <a:t>bonita</a:t>
            </a:r>
            <a:r>
              <a:rPr dirty="0"/>
              <a:t> y </a:t>
            </a:r>
            <a:r>
              <a:rPr dirty="0" err="1"/>
              <a:t>después</a:t>
            </a:r>
            <a:r>
              <a:rPr dirty="0"/>
              <a:t> no saber </a:t>
            </a:r>
            <a:r>
              <a:rPr dirty="0" err="1"/>
              <a:t>qué</a:t>
            </a:r>
            <a:r>
              <a:rPr dirty="0"/>
              <a:t> </a:t>
            </a:r>
            <a:r>
              <a:rPr dirty="0" err="1"/>
              <a:t>decir</a:t>
            </a:r>
            <a:r>
              <a:rPr dirty="0"/>
              <a:t>.</a:t>
            </a:r>
          </a:p>
          <a:p>
            <a:endParaRPr dirty="0"/>
          </a:p>
          <a:p>
            <a:r>
              <a:rPr dirty="0"/>
              <a:t>Los pasos 5 y 6 son </a:t>
            </a:r>
            <a:r>
              <a:rPr dirty="0" err="1"/>
              <a:t>mejoras</a:t>
            </a:r>
            <a:r>
              <a:rPr dirty="0"/>
              <a:t>, no </a:t>
            </a:r>
            <a:r>
              <a:rPr dirty="0" err="1"/>
              <a:t>requisitos</a:t>
            </a:r>
            <a:r>
              <a:rPr dirty="0"/>
              <a:t>. Un video con </a:t>
            </a:r>
            <a:r>
              <a:rPr dirty="0" err="1"/>
              <a:t>los</a:t>
            </a:r>
            <a:r>
              <a:rPr dirty="0"/>
              <a:t> cuatro primeros </a:t>
            </a:r>
            <a:r>
              <a:rPr dirty="0" err="1"/>
              <a:t>ya</a:t>
            </a:r>
            <a:r>
              <a:rPr dirty="0"/>
              <a:t> </a:t>
            </a:r>
            <a:r>
              <a:rPr dirty="0" err="1"/>
              <a:t>está</a:t>
            </a:r>
            <a:r>
              <a:rPr dirty="0"/>
              <a:t> </a:t>
            </a:r>
            <a:r>
              <a:rPr dirty="0" err="1"/>
              <a:t>terminado</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Tres </a:t>
            </a:r>
            <a:r>
              <a:rPr dirty="0" err="1"/>
              <a:t>herramientas</a:t>
            </a:r>
            <a:r>
              <a:rPr dirty="0"/>
              <a:t>, nada </a:t>
            </a:r>
            <a:r>
              <a:rPr dirty="0" err="1"/>
              <a:t>más</a:t>
            </a:r>
            <a:r>
              <a:rPr dirty="0"/>
              <a:t>. Y </a:t>
            </a:r>
            <a:r>
              <a:rPr dirty="0" err="1"/>
              <a:t>una</a:t>
            </a:r>
            <a:r>
              <a:rPr dirty="0"/>
              <a:t> </a:t>
            </a:r>
            <a:r>
              <a:rPr dirty="0" err="1"/>
              <a:t>advertencia</a:t>
            </a:r>
            <a:r>
              <a:rPr dirty="0"/>
              <a:t> </a:t>
            </a:r>
            <a:r>
              <a:rPr dirty="0" err="1"/>
              <a:t>que</a:t>
            </a:r>
            <a:r>
              <a:rPr dirty="0"/>
              <a:t> hay </a:t>
            </a:r>
            <a:r>
              <a:rPr dirty="0" err="1"/>
              <a:t>que</a:t>
            </a:r>
            <a:r>
              <a:rPr dirty="0"/>
              <a:t> </a:t>
            </a:r>
            <a:r>
              <a:rPr dirty="0" err="1"/>
              <a:t>dar</a:t>
            </a:r>
            <a:r>
              <a:rPr dirty="0"/>
              <a:t> </a:t>
            </a:r>
            <a:r>
              <a:rPr dirty="0" err="1"/>
              <a:t>en</a:t>
            </a:r>
            <a:r>
              <a:rPr dirty="0"/>
              <a:t> </a:t>
            </a:r>
            <a:r>
              <a:rPr dirty="0" err="1"/>
              <a:t>voz</a:t>
            </a:r>
            <a:r>
              <a:rPr dirty="0"/>
              <a:t> </a:t>
            </a:r>
            <a:r>
              <a:rPr dirty="0" err="1"/>
              <a:t>alta.</a:t>
            </a:r>
            <a:endParaRPr dirty="0"/>
          </a:p>
          <a:p>
            <a:endParaRPr dirty="0"/>
          </a:p>
          <a:p>
            <a:r>
              <a:rPr dirty="0"/>
              <a:t>COMPROBADO al </a:t>
            </a:r>
            <a:r>
              <a:rPr dirty="0" err="1"/>
              <a:t>preparar</a:t>
            </a:r>
            <a:r>
              <a:rPr dirty="0"/>
              <a:t> la </a:t>
            </a:r>
            <a:r>
              <a:rPr dirty="0" err="1"/>
              <a:t>clase</a:t>
            </a:r>
            <a:r>
              <a:rPr dirty="0"/>
              <a:t>, </a:t>
            </a:r>
            <a:r>
              <a:rPr dirty="0" err="1"/>
              <a:t>cuenta</a:t>
            </a:r>
            <a:r>
              <a:rPr dirty="0"/>
              <a:t> </a:t>
            </a:r>
            <a:r>
              <a:rPr dirty="0" err="1"/>
              <a:t>por</a:t>
            </a:r>
            <a:r>
              <a:rPr dirty="0"/>
              <a:t> </a:t>
            </a:r>
            <a:r>
              <a:rPr dirty="0" err="1"/>
              <a:t>cuenta</a:t>
            </a:r>
            <a:r>
              <a:rPr dirty="0"/>
              <a:t>:</a:t>
            </a:r>
          </a:p>
          <a:p>
            <a:r>
              <a:rPr dirty="0"/>
              <a:t>· </a:t>
            </a:r>
            <a:r>
              <a:rPr dirty="0" err="1"/>
              <a:t>Institucional</a:t>
            </a:r>
            <a:r>
              <a:rPr dirty="0"/>
              <a:t> (</a:t>
            </a:r>
            <a:r>
              <a:rPr dirty="0" err="1"/>
              <a:t>UCaldas</a:t>
            </a:r>
            <a:r>
              <a:rPr dirty="0"/>
              <a:t> y UAM): NO </a:t>
            </a:r>
            <a:r>
              <a:rPr dirty="0" err="1"/>
              <a:t>tiene</a:t>
            </a:r>
            <a:r>
              <a:rPr dirty="0"/>
              <a:t> Crear video. El </a:t>
            </a:r>
            <a:r>
              <a:rPr dirty="0" err="1"/>
              <a:t>menú</a:t>
            </a:r>
            <a:r>
              <a:rPr dirty="0"/>
              <a:t> </a:t>
            </a:r>
            <a:r>
              <a:rPr dirty="0" err="1"/>
              <a:t>llega</a:t>
            </a:r>
            <a:r>
              <a:rPr dirty="0"/>
              <a:t> hasta Deep Research.</a:t>
            </a:r>
          </a:p>
          <a:p>
            <a:r>
              <a:rPr dirty="0"/>
              <a:t>· Gmail personal GRATUITA: </a:t>
            </a:r>
            <a:r>
              <a:rPr dirty="0" err="1"/>
              <a:t>tampoco</a:t>
            </a:r>
            <a:r>
              <a:rPr dirty="0"/>
              <a:t>. Crear video no </a:t>
            </a:r>
            <a:r>
              <a:rPr dirty="0" err="1"/>
              <a:t>aparece</a:t>
            </a:r>
            <a:r>
              <a:rPr dirty="0"/>
              <a:t> </a:t>
            </a:r>
            <a:r>
              <a:rPr dirty="0" err="1"/>
              <a:t>en</a:t>
            </a:r>
            <a:r>
              <a:rPr dirty="0"/>
              <a:t> el </a:t>
            </a:r>
            <a:r>
              <a:rPr dirty="0" err="1"/>
              <a:t>menú</a:t>
            </a:r>
            <a:r>
              <a:rPr dirty="0"/>
              <a:t>. Esto </a:t>
            </a:r>
            <a:r>
              <a:rPr dirty="0" err="1"/>
              <a:t>fue</a:t>
            </a:r>
            <a:r>
              <a:rPr dirty="0"/>
              <a:t> </a:t>
            </a:r>
            <a:r>
              <a:rPr dirty="0" err="1"/>
              <a:t>una</a:t>
            </a:r>
            <a:r>
              <a:rPr dirty="0"/>
              <a:t> </a:t>
            </a:r>
            <a:r>
              <a:rPr dirty="0" err="1"/>
              <a:t>sorpresa</a:t>
            </a:r>
            <a:r>
              <a:rPr dirty="0"/>
              <a:t> y </a:t>
            </a:r>
            <a:r>
              <a:rPr dirty="0" err="1"/>
              <a:t>cambió</a:t>
            </a:r>
            <a:r>
              <a:rPr dirty="0"/>
              <a:t> el </a:t>
            </a:r>
            <a:r>
              <a:rPr dirty="0" err="1"/>
              <a:t>diseño</a:t>
            </a:r>
            <a:r>
              <a:rPr dirty="0"/>
              <a:t> de la </a:t>
            </a:r>
            <a:r>
              <a:rPr dirty="0" err="1"/>
              <a:t>clase</a:t>
            </a:r>
            <a:r>
              <a:rPr dirty="0"/>
              <a:t>.</a:t>
            </a:r>
          </a:p>
          <a:p>
            <a:r>
              <a:rPr dirty="0"/>
              <a:t>· Gmail personal con plan PRO: </a:t>
            </a:r>
            <a:r>
              <a:rPr dirty="0" err="1"/>
              <a:t>sí</a:t>
            </a:r>
            <a:r>
              <a:rPr dirty="0"/>
              <a:t> lo </a:t>
            </a:r>
            <a:r>
              <a:rPr dirty="0" err="1"/>
              <a:t>tiene</a:t>
            </a:r>
            <a:r>
              <a:rPr dirty="0"/>
              <a:t>, </a:t>
            </a:r>
            <a:r>
              <a:rPr dirty="0" err="1"/>
              <a:t>unos</a:t>
            </a:r>
            <a:r>
              <a:rPr dirty="0"/>
              <a:t> 3 videos al día.</a:t>
            </a:r>
          </a:p>
          <a:p>
            <a:r>
              <a:rPr dirty="0"/>
              <a:t>· GOOGLE FLOW (</a:t>
            </a:r>
            <a:r>
              <a:rPr dirty="0" err="1"/>
              <a:t>flow.google.com</a:t>
            </a:r>
            <a:r>
              <a:rPr dirty="0"/>
              <a:t>): PROBADO de </a:t>
            </a:r>
            <a:r>
              <a:rPr dirty="0" err="1"/>
              <a:t>punta</a:t>
            </a:r>
            <a:r>
              <a:rPr dirty="0"/>
              <a:t> a </a:t>
            </a:r>
            <a:r>
              <a:rPr dirty="0" err="1"/>
              <a:t>punta</a:t>
            </a:r>
            <a:r>
              <a:rPr dirty="0"/>
              <a:t> </a:t>
            </a:r>
            <a:r>
              <a:rPr dirty="0" err="1"/>
              <a:t>en</a:t>
            </a:r>
            <a:r>
              <a:rPr dirty="0"/>
              <a:t> </a:t>
            </a:r>
            <a:r>
              <a:rPr dirty="0" err="1"/>
              <a:t>una</a:t>
            </a:r>
            <a:r>
              <a:rPr dirty="0"/>
              <a:t> </a:t>
            </a:r>
            <a:r>
              <a:rPr dirty="0" err="1"/>
              <a:t>cuenta</a:t>
            </a:r>
            <a:r>
              <a:rPr dirty="0"/>
              <a:t> de Google </a:t>
            </a:r>
            <a:r>
              <a:rPr dirty="0" err="1"/>
              <a:t>gratuita</a:t>
            </a:r>
            <a:r>
              <a:rPr dirty="0"/>
              <a:t>. 50 </a:t>
            </a:r>
            <a:r>
              <a:rPr dirty="0" err="1"/>
              <a:t>créditos</a:t>
            </a:r>
            <a:r>
              <a:rPr dirty="0"/>
              <a:t> </a:t>
            </a:r>
            <a:r>
              <a:rPr dirty="0" err="1"/>
              <a:t>diarios</a:t>
            </a:r>
            <a:r>
              <a:rPr dirty="0"/>
              <a:t>, se </a:t>
            </a:r>
            <a:r>
              <a:rPr dirty="0" err="1"/>
              <a:t>renuevan</a:t>
            </a:r>
            <a:r>
              <a:rPr dirty="0"/>
              <a:t> </a:t>
            </a:r>
            <a:r>
              <a:rPr dirty="0" err="1"/>
              <a:t>pasada</a:t>
            </a:r>
            <a:r>
              <a:rPr dirty="0"/>
              <a:t> la medianoche. Costos reales </a:t>
            </a:r>
            <a:r>
              <a:rPr dirty="0" err="1"/>
              <a:t>medidos</a:t>
            </a:r>
            <a:r>
              <a:rPr dirty="0"/>
              <a:t>: Veo 3.1 Lite (8 s) = 10 </a:t>
            </a:r>
            <a:r>
              <a:rPr dirty="0" err="1"/>
              <a:t>créditos</a:t>
            </a:r>
            <a:r>
              <a:rPr dirty="0"/>
              <a:t>; Omni 1.1 Flash (10 s) = 15. CREAR UN PERSONAJE NO GASTA NADA. Salida 720p con audio; 1080p y 4K </a:t>
            </a:r>
            <a:r>
              <a:rPr dirty="0" err="1"/>
              <a:t>piden</a:t>
            </a:r>
            <a:r>
              <a:rPr dirty="0"/>
              <a:t> plan.</a:t>
            </a:r>
          </a:p>
          <a:p>
            <a:r>
              <a:rPr dirty="0"/>
              <a:t>· POR ESO EL ENCARGO ES DE CUATRO CLIPS DE OCHO: 40 </a:t>
            </a:r>
            <a:r>
              <a:rPr dirty="0" err="1"/>
              <a:t>créditos</a:t>
            </a:r>
            <a:r>
              <a:rPr dirty="0"/>
              <a:t> y </a:t>
            </a:r>
            <a:r>
              <a:rPr dirty="0" err="1"/>
              <a:t>queda</a:t>
            </a:r>
            <a:r>
              <a:rPr dirty="0"/>
              <a:t> uno de </a:t>
            </a:r>
            <a:r>
              <a:rPr dirty="0" err="1"/>
              <a:t>repuesto</a:t>
            </a:r>
            <a:r>
              <a:rPr dirty="0"/>
              <a:t>.</a:t>
            </a:r>
          </a:p>
          <a:p>
            <a:r>
              <a:rPr dirty="0"/>
              <a:t>· VEO 3.1 LITE FALLA SEGUIDO: me </a:t>
            </a:r>
            <a:r>
              <a:rPr dirty="0" err="1"/>
              <a:t>dio</a:t>
            </a:r>
            <a:r>
              <a:rPr dirty="0"/>
              <a:t> «Se </a:t>
            </a:r>
            <a:r>
              <a:rPr dirty="0" err="1"/>
              <a:t>produjo</a:t>
            </a:r>
            <a:r>
              <a:rPr dirty="0"/>
              <a:t> un error» cuatro </a:t>
            </a:r>
            <a:r>
              <a:rPr dirty="0" err="1"/>
              <a:t>veces</a:t>
            </a:r>
            <a:r>
              <a:rPr dirty="0"/>
              <a:t>. Se le da </a:t>
            </a:r>
            <a:r>
              <a:rPr dirty="0" err="1"/>
              <a:t>Reintentar</a:t>
            </a:r>
            <a:r>
              <a:rPr dirty="0"/>
              <a:t> y </a:t>
            </a:r>
            <a:r>
              <a:rPr dirty="0" err="1"/>
              <a:t>suele</a:t>
            </a:r>
            <a:r>
              <a:rPr dirty="0"/>
              <a:t> </a:t>
            </a:r>
            <a:r>
              <a:rPr dirty="0" err="1"/>
              <a:t>salir</a:t>
            </a:r>
            <a:r>
              <a:rPr dirty="0"/>
              <a:t>. Si se pone </a:t>
            </a:r>
            <a:r>
              <a:rPr dirty="0" err="1"/>
              <a:t>imposible</a:t>
            </a:r>
            <a:r>
              <a:rPr dirty="0"/>
              <a:t>, </a:t>
            </a:r>
            <a:r>
              <a:rPr dirty="0" err="1"/>
              <a:t>escribir</a:t>
            </a:r>
            <a:r>
              <a:rPr dirty="0"/>
              <a:t> «</a:t>
            </a:r>
            <a:r>
              <a:rPr dirty="0" err="1"/>
              <a:t>usa</a:t>
            </a:r>
            <a:r>
              <a:rPr dirty="0"/>
              <a:t> omni» cambia a Omni 1.1 Flash, </a:t>
            </a:r>
            <a:r>
              <a:rPr dirty="0" err="1"/>
              <a:t>más</a:t>
            </a:r>
            <a:r>
              <a:rPr dirty="0"/>
              <a:t> </a:t>
            </a:r>
            <a:r>
              <a:rPr dirty="0" err="1"/>
              <a:t>confiable</a:t>
            </a:r>
            <a:r>
              <a:rPr dirty="0"/>
              <a:t> </a:t>
            </a:r>
            <a:r>
              <a:rPr dirty="0" err="1"/>
              <a:t>pero</a:t>
            </a:r>
            <a:r>
              <a:rPr dirty="0"/>
              <a:t> a 15 </a:t>
            </a:r>
            <a:r>
              <a:rPr dirty="0" err="1"/>
              <a:t>créditos</a:t>
            </a:r>
            <a:r>
              <a:rPr dirty="0"/>
              <a:t> (solo </a:t>
            </a:r>
            <a:r>
              <a:rPr dirty="0" err="1"/>
              <a:t>alcanzan</a:t>
            </a:r>
            <a:r>
              <a:rPr dirty="0"/>
              <a:t> </a:t>
            </a:r>
            <a:r>
              <a:rPr dirty="0" err="1"/>
              <a:t>tres</a:t>
            </a:r>
            <a:r>
              <a:rPr dirty="0"/>
              <a:t> clips).</a:t>
            </a:r>
          </a:p>
          <a:p>
            <a:r>
              <a:rPr dirty="0"/>
              <a:t>· FLOW UNE LOS CLIPS SOLO: al </a:t>
            </a:r>
            <a:r>
              <a:rPr dirty="0" err="1"/>
              <a:t>abrir</a:t>
            </a:r>
            <a:r>
              <a:rPr dirty="0"/>
              <a:t> un clip hay </a:t>
            </a:r>
            <a:r>
              <a:rPr dirty="0" err="1"/>
              <a:t>una</a:t>
            </a:r>
            <a:r>
              <a:rPr dirty="0"/>
              <a:t> </a:t>
            </a:r>
            <a:r>
              <a:rPr dirty="0" err="1"/>
              <a:t>línea</a:t>
            </a:r>
            <a:r>
              <a:rPr dirty="0"/>
              <a:t> de </a:t>
            </a:r>
            <a:r>
              <a:rPr dirty="0" err="1"/>
              <a:t>tiempo</a:t>
            </a:r>
            <a:r>
              <a:rPr dirty="0"/>
              <a:t> con «+ → </a:t>
            </a:r>
            <a:r>
              <a:rPr dirty="0" err="1"/>
              <a:t>Agregar</a:t>
            </a:r>
            <a:r>
              <a:rPr dirty="0"/>
              <a:t> clip». Por </a:t>
            </a:r>
            <a:r>
              <a:rPr dirty="0" err="1"/>
              <a:t>eso</a:t>
            </a:r>
            <a:r>
              <a:rPr dirty="0"/>
              <a:t> ChatGPT </a:t>
            </a:r>
            <a:r>
              <a:rPr dirty="0" err="1"/>
              <a:t>queda</a:t>
            </a:r>
            <a:r>
              <a:rPr dirty="0"/>
              <a:t> de </a:t>
            </a:r>
            <a:r>
              <a:rPr dirty="0" err="1"/>
              <a:t>respaldo</a:t>
            </a:r>
            <a:r>
              <a:rPr dirty="0"/>
              <a:t>, no de paso </a:t>
            </a:r>
            <a:r>
              <a:rPr dirty="0" err="1"/>
              <a:t>obligatorio</a:t>
            </a:r>
            <a:r>
              <a:rPr dirty="0"/>
              <a:t>.</a:t>
            </a:r>
          </a:p>
          <a:p>
            <a:r>
              <a:rPr dirty="0"/>
              <a:t>· Gemini NO </a:t>
            </a:r>
            <a:r>
              <a:rPr dirty="0" err="1"/>
              <a:t>une</a:t>
            </a:r>
            <a:r>
              <a:rPr dirty="0"/>
              <a:t> videos: </a:t>
            </a:r>
            <a:r>
              <a:rPr dirty="0" err="1"/>
              <a:t>ejecuta</a:t>
            </a:r>
            <a:r>
              <a:rPr dirty="0"/>
              <a:t> </a:t>
            </a:r>
            <a:r>
              <a:rPr dirty="0" err="1"/>
              <a:t>código</a:t>
            </a:r>
            <a:r>
              <a:rPr dirty="0"/>
              <a:t> </a:t>
            </a:r>
            <a:r>
              <a:rPr dirty="0" err="1"/>
              <a:t>pero</a:t>
            </a:r>
            <a:r>
              <a:rPr dirty="0"/>
              <a:t> sin </a:t>
            </a:r>
            <a:r>
              <a:rPr dirty="0" err="1"/>
              <a:t>herramientas</a:t>
            </a:r>
            <a:r>
              <a:rPr dirty="0"/>
              <a:t> de video, y </a:t>
            </a:r>
            <a:r>
              <a:rPr dirty="0" err="1"/>
              <a:t>devuelve</a:t>
            </a:r>
            <a:r>
              <a:rPr dirty="0"/>
              <a:t> un </a:t>
            </a:r>
            <a:r>
              <a:rPr dirty="0" err="1"/>
              <a:t>comando</a:t>
            </a:r>
            <a:r>
              <a:rPr dirty="0"/>
              <a:t> de terminal. ChatGPT </a:t>
            </a:r>
            <a:r>
              <a:rPr dirty="0" err="1"/>
              <a:t>sí</a:t>
            </a:r>
            <a:r>
              <a:rPr dirty="0"/>
              <a:t>, </a:t>
            </a:r>
            <a:r>
              <a:rPr dirty="0" err="1"/>
              <a:t>en</a:t>
            </a:r>
            <a:r>
              <a:rPr dirty="0"/>
              <a:t> </a:t>
            </a:r>
            <a:r>
              <a:rPr dirty="0" err="1"/>
              <a:t>unos</a:t>
            </a:r>
            <a:r>
              <a:rPr dirty="0"/>
              <a:t> quince </a:t>
            </a:r>
            <a:r>
              <a:rPr dirty="0" err="1"/>
              <a:t>segundos</a:t>
            </a:r>
            <a:r>
              <a:rPr dirty="0"/>
              <a:t>.</a:t>
            </a:r>
          </a:p>
          <a:p>
            <a:endParaRPr dirty="0"/>
          </a:p>
          <a:p>
            <a:r>
              <a:rPr dirty="0"/>
              <a:t>Por </a:t>
            </a:r>
            <a:r>
              <a:rPr dirty="0" err="1"/>
              <a:t>eso</a:t>
            </a:r>
            <a:r>
              <a:rPr dirty="0"/>
              <a:t> la Ruta B de la </a:t>
            </a:r>
            <a:r>
              <a:rPr dirty="0" err="1"/>
              <a:t>diapositiva</a:t>
            </a:r>
            <a:r>
              <a:rPr dirty="0"/>
              <a:t> 13 no es un </a:t>
            </a:r>
            <a:r>
              <a:rPr dirty="0" err="1"/>
              <a:t>adorno</a:t>
            </a:r>
            <a:r>
              <a:rPr dirty="0"/>
              <a:t>.</a:t>
            </a:r>
          </a:p>
          <a:p>
            <a:endParaRPr dirty="0"/>
          </a:p>
          <a:p>
            <a:r>
              <a:rPr dirty="0"/>
              <a:t>SI ALGUIEN PREGUNTA POR OTRAS RUTAS, las dos </a:t>
            </a:r>
            <a:r>
              <a:rPr dirty="0" err="1"/>
              <a:t>obvias</a:t>
            </a:r>
            <a:r>
              <a:rPr dirty="0"/>
              <a:t> </a:t>
            </a:r>
            <a:r>
              <a:rPr dirty="0" err="1"/>
              <a:t>están</a:t>
            </a:r>
            <a:r>
              <a:rPr dirty="0"/>
              <a:t> </a:t>
            </a:r>
            <a:r>
              <a:rPr dirty="0" err="1"/>
              <a:t>descartadas</a:t>
            </a:r>
            <a:r>
              <a:rPr dirty="0"/>
              <a:t> y lo </a:t>
            </a:r>
            <a:r>
              <a:rPr dirty="0" err="1"/>
              <a:t>comprobé</a:t>
            </a:r>
            <a:r>
              <a:rPr dirty="0"/>
              <a:t>:</a:t>
            </a:r>
          </a:p>
          <a:p>
            <a:r>
              <a:rPr dirty="0"/>
              <a:t>· SORA (OpenAI) </a:t>
            </a:r>
            <a:r>
              <a:rPr dirty="0" err="1"/>
              <a:t>ya</a:t>
            </a:r>
            <a:r>
              <a:rPr dirty="0"/>
              <a:t> no </a:t>
            </a:r>
            <a:r>
              <a:rPr dirty="0" err="1"/>
              <a:t>existe</a:t>
            </a:r>
            <a:r>
              <a:rPr dirty="0"/>
              <a:t>. Lo </a:t>
            </a:r>
            <a:r>
              <a:rPr dirty="0" err="1"/>
              <a:t>descontinuaron</a:t>
            </a:r>
            <a:r>
              <a:rPr dirty="0"/>
              <a:t> el 26 de </a:t>
            </a:r>
            <a:r>
              <a:rPr dirty="0" err="1"/>
              <a:t>abril</a:t>
            </a:r>
            <a:r>
              <a:rPr dirty="0"/>
              <a:t> de 2026, web y app; la API se </a:t>
            </a:r>
            <a:r>
              <a:rPr dirty="0" err="1"/>
              <a:t>apaga</a:t>
            </a:r>
            <a:r>
              <a:rPr dirty="0"/>
              <a:t> el 24 de </a:t>
            </a:r>
            <a:r>
              <a:rPr dirty="0" err="1"/>
              <a:t>septiembre</a:t>
            </a:r>
            <a:r>
              <a:rPr dirty="0"/>
              <a:t> de 2026. </a:t>
            </a:r>
            <a:r>
              <a:rPr dirty="0" err="1"/>
              <a:t>Está</a:t>
            </a:r>
            <a:r>
              <a:rPr dirty="0"/>
              <a:t> </a:t>
            </a:r>
            <a:r>
              <a:rPr dirty="0" err="1"/>
              <a:t>en</a:t>
            </a:r>
            <a:r>
              <a:rPr dirty="0"/>
              <a:t> el </a:t>
            </a:r>
            <a:r>
              <a:rPr dirty="0" err="1"/>
              <a:t>centro</a:t>
            </a:r>
            <a:r>
              <a:rPr dirty="0"/>
              <a:t> de </a:t>
            </a:r>
            <a:r>
              <a:rPr dirty="0" err="1"/>
              <a:t>ayuda</a:t>
            </a:r>
            <a:r>
              <a:rPr dirty="0"/>
              <a:t> de OpenAI.</a:t>
            </a:r>
          </a:p>
          <a:p>
            <a:r>
              <a:rPr dirty="0"/>
              <a:t>· GOOGLE AI STUDIO </a:t>
            </a:r>
            <a:r>
              <a:rPr dirty="0" err="1"/>
              <a:t>sí</a:t>
            </a:r>
            <a:r>
              <a:rPr dirty="0"/>
              <a:t> </a:t>
            </a:r>
            <a:r>
              <a:rPr dirty="0" err="1"/>
              <a:t>tiene</a:t>
            </a:r>
            <a:r>
              <a:rPr dirty="0"/>
              <a:t> </a:t>
            </a:r>
            <a:r>
              <a:rPr dirty="0" err="1"/>
              <a:t>generación</a:t>
            </a:r>
            <a:r>
              <a:rPr dirty="0"/>
              <a:t> de video, </a:t>
            </a:r>
            <a:r>
              <a:rPr dirty="0" err="1"/>
              <a:t>pero</a:t>
            </a:r>
            <a:r>
              <a:rPr dirty="0"/>
              <a:t> es de </a:t>
            </a:r>
            <a:r>
              <a:rPr dirty="0" err="1"/>
              <a:t>pago</a:t>
            </a:r>
            <a:r>
              <a:rPr dirty="0"/>
              <a:t>: el </a:t>
            </a:r>
            <a:r>
              <a:rPr dirty="0" err="1"/>
              <a:t>único</a:t>
            </a:r>
            <a:r>
              <a:rPr dirty="0"/>
              <a:t> </a:t>
            </a:r>
            <a:r>
              <a:rPr dirty="0" err="1"/>
              <a:t>modelo</a:t>
            </a:r>
            <a:r>
              <a:rPr dirty="0"/>
              <a:t> de la </a:t>
            </a:r>
            <a:r>
              <a:rPr dirty="0" err="1"/>
              <a:t>categoría</a:t>
            </a:r>
            <a:r>
              <a:rPr dirty="0"/>
              <a:t> Video </a:t>
            </a:r>
            <a:r>
              <a:rPr dirty="0" err="1"/>
              <a:t>está</a:t>
            </a:r>
            <a:r>
              <a:rPr dirty="0"/>
              <a:t> </a:t>
            </a:r>
            <a:r>
              <a:rPr dirty="0" err="1"/>
              <a:t>marcado</a:t>
            </a:r>
            <a:r>
              <a:rPr dirty="0"/>
              <a:t> "Paid" y cuesta </a:t>
            </a:r>
            <a:r>
              <a:rPr dirty="0" err="1"/>
              <a:t>unos</a:t>
            </a:r>
            <a:r>
              <a:rPr dirty="0"/>
              <a:t> 7,50 </a:t>
            </a:r>
            <a:r>
              <a:rPr dirty="0" err="1"/>
              <a:t>dólares</a:t>
            </a:r>
            <a:r>
              <a:rPr dirty="0"/>
              <a:t> </a:t>
            </a:r>
            <a:r>
              <a:rPr dirty="0" err="1"/>
              <a:t>por</a:t>
            </a:r>
            <a:r>
              <a:rPr dirty="0"/>
              <a:t> salida. El </a:t>
            </a:r>
            <a:r>
              <a:rPr dirty="0" err="1"/>
              <a:t>nivel</a:t>
            </a:r>
            <a:r>
              <a:rPr dirty="0"/>
              <a:t> </a:t>
            </a:r>
            <a:r>
              <a:rPr dirty="0" err="1"/>
              <a:t>gratuito</a:t>
            </a:r>
            <a:r>
              <a:rPr dirty="0"/>
              <a:t> de AI Studio </a:t>
            </a:r>
            <a:r>
              <a:rPr dirty="0" err="1"/>
              <a:t>cubre</a:t>
            </a:r>
            <a:r>
              <a:rPr dirty="0"/>
              <a:t> </a:t>
            </a:r>
            <a:r>
              <a:rPr dirty="0" err="1"/>
              <a:t>texto</a:t>
            </a:r>
            <a:r>
              <a:rPr dirty="0"/>
              <a:t> y audio —</a:t>
            </a:r>
            <a:r>
              <a:rPr dirty="0" err="1"/>
              <a:t>por</a:t>
            </a:r>
            <a:r>
              <a:rPr dirty="0"/>
              <a:t> </a:t>
            </a:r>
            <a:r>
              <a:rPr dirty="0" err="1"/>
              <a:t>eso</a:t>
            </a:r>
            <a:r>
              <a:rPr dirty="0"/>
              <a:t> la </a:t>
            </a:r>
            <a:r>
              <a:rPr dirty="0" err="1"/>
              <a:t>voz</a:t>
            </a:r>
            <a:r>
              <a:rPr dirty="0"/>
              <a:t> </a:t>
            </a:r>
            <a:r>
              <a:rPr dirty="0" err="1"/>
              <a:t>sí</a:t>
            </a:r>
            <a:r>
              <a:rPr dirty="0"/>
              <a:t> </a:t>
            </a:r>
            <a:r>
              <a:rPr dirty="0" err="1"/>
              <a:t>funciona</a:t>
            </a:r>
            <a:r>
              <a:rPr dirty="0"/>
              <a:t> ahí— </a:t>
            </a:r>
            <a:r>
              <a:rPr dirty="0" err="1"/>
              <a:t>pero</a:t>
            </a:r>
            <a:r>
              <a:rPr dirty="0"/>
              <a:t> no video.</a:t>
            </a:r>
          </a:p>
          <a:p>
            <a:endParaRPr dirty="0"/>
          </a:p>
          <a:p>
            <a:r>
              <a:rPr dirty="0"/>
              <a:t>O sea: para video gratis, la app de Gemini con </a:t>
            </a:r>
            <a:r>
              <a:rPr dirty="0" err="1"/>
              <a:t>cuenta</a:t>
            </a:r>
            <a:r>
              <a:rPr dirty="0"/>
              <a:t> personal es la </a:t>
            </a:r>
            <a:r>
              <a:rPr dirty="0" err="1"/>
              <a:t>única</a:t>
            </a:r>
            <a:r>
              <a:rPr dirty="0"/>
              <a:t> </a:t>
            </a:r>
            <a:r>
              <a:rPr dirty="0" err="1"/>
              <a:t>puerta</a:t>
            </a:r>
            <a:r>
              <a:rPr dirty="0"/>
              <a:t>. No hay plan C.</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Este </a:t>
            </a:r>
            <a:r>
              <a:rPr dirty="0" err="1"/>
              <a:t>bloque</a:t>
            </a:r>
            <a:r>
              <a:rPr dirty="0"/>
              <a:t> </a:t>
            </a:r>
            <a:r>
              <a:rPr dirty="0" err="1"/>
              <a:t>va</a:t>
            </a:r>
            <a:r>
              <a:rPr dirty="0"/>
              <a:t> antes de </a:t>
            </a:r>
            <a:r>
              <a:rPr dirty="0" err="1"/>
              <a:t>producir</a:t>
            </a:r>
            <a:r>
              <a:rPr dirty="0"/>
              <a:t> nada.</a:t>
            </a:r>
          </a:p>
          <a:p>
            <a:endParaRPr dirty="0"/>
          </a:p>
          <a:p>
            <a:r>
              <a:rPr dirty="0"/>
              <a:t>Tres </a:t>
            </a:r>
            <a:r>
              <a:rPr dirty="0" err="1"/>
              <a:t>reglas</a:t>
            </a:r>
            <a:r>
              <a:rPr dirty="0"/>
              <a:t>:</a:t>
            </a:r>
          </a:p>
          <a:p>
            <a:r>
              <a:rPr dirty="0"/>
              <a:t>1. Solo </a:t>
            </a:r>
            <a:r>
              <a:rPr dirty="0" err="1"/>
              <a:t>tu</a:t>
            </a:r>
            <a:r>
              <a:rPr dirty="0"/>
              <a:t> </a:t>
            </a:r>
            <a:r>
              <a:rPr dirty="0" err="1"/>
              <a:t>propia</a:t>
            </a:r>
            <a:r>
              <a:rPr dirty="0"/>
              <a:t> </a:t>
            </a:r>
            <a:r>
              <a:rPr dirty="0" err="1"/>
              <a:t>cara</a:t>
            </a:r>
            <a:r>
              <a:rPr dirty="0"/>
              <a:t> y </a:t>
            </a:r>
            <a:r>
              <a:rPr dirty="0" err="1"/>
              <a:t>tu</a:t>
            </a:r>
            <a:r>
              <a:rPr dirty="0"/>
              <a:t> </a:t>
            </a:r>
            <a:r>
              <a:rPr dirty="0" err="1"/>
              <a:t>propia</a:t>
            </a:r>
            <a:r>
              <a:rPr dirty="0"/>
              <a:t> </a:t>
            </a:r>
            <a:r>
              <a:rPr dirty="0" err="1"/>
              <a:t>voz</a:t>
            </a:r>
            <a:r>
              <a:rPr dirty="0"/>
              <a:t>. Nunca la de un </a:t>
            </a:r>
            <a:r>
              <a:rPr dirty="0" err="1"/>
              <a:t>compañero</a:t>
            </a:r>
            <a:r>
              <a:rPr dirty="0"/>
              <a:t> sin </a:t>
            </a:r>
            <a:r>
              <a:rPr dirty="0" err="1"/>
              <a:t>que</a:t>
            </a:r>
            <a:r>
              <a:rPr dirty="0"/>
              <a:t> lo </a:t>
            </a:r>
            <a:r>
              <a:rPr dirty="0" err="1"/>
              <a:t>sepa</a:t>
            </a:r>
            <a:r>
              <a:rPr dirty="0"/>
              <a:t>, </a:t>
            </a:r>
            <a:r>
              <a:rPr dirty="0" err="1"/>
              <a:t>nunca</a:t>
            </a:r>
            <a:r>
              <a:rPr dirty="0"/>
              <a:t> la de </a:t>
            </a:r>
            <a:r>
              <a:rPr dirty="0" err="1"/>
              <a:t>alguien</a:t>
            </a:r>
            <a:r>
              <a:rPr dirty="0"/>
              <a:t> </a:t>
            </a:r>
            <a:r>
              <a:rPr dirty="0" err="1"/>
              <a:t>famoso</a:t>
            </a:r>
            <a:r>
              <a:rPr dirty="0"/>
              <a:t>, </a:t>
            </a:r>
            <a:r>
              <a:rPr dirty="0" err="1"/>
              <a:t>nunca</a:t>
            </a:r>
            <a:r>
              <a:rPr dirty="0"/>
              <a:t> la de un </a:t>
            </a:r>
            <a:r>
              <a:rPr dirty="0" err="1"/>
              <a:t>profesor</a:t>
            </a:r>
            <a:r>
              <a:rPr dirty="0"/>
              <a:t>.</a:t>
            </a:r>
          </a:p>
          <a:p>
            <a:r>
              <a:rPr dirty="0"/>
              <a:t>2. Se </a:t>
            </a:r>
            <a:r>
              <a:rPr dirty="0" err="1"/>
              <a:t>declara</a:t>
            </a:r>
            <a:r>
              <a:rPr dirty="0"/>
              <a:t>. En el video o </a:t>
            </a:r>
            <a:r>
              <a:rPr dirty="0" err="1"/>
              <a:t>en</a:t>
            </a:r>
            <a:r>
              <a:rPr dirty="0"/>
              <a:t> la </a:t>
            </a:r>
            <a:r>
              <a:rPr dirty="0" err="1"/>
              <a:t>descripción</a:t>
            </a:r>
            <a:r>
              <a:rPr dirty="0"/>
              <a:t>: </a:t>
            </a:r>
            <a:r>
              <a:rPr dirty="0" err="1"/>
              <a:t>qué</a:t>
            </a:r>
            <a:r>
              <a:rPr dirty="0"/>
              <a:t> se </a:t>
            </a:r>
            <a:r>
              <a:rPr dirty="0" err="1"/>
              <a:t>hizo</a:t>
            </a:r>
            <a:r>
              <a:rPr dirty="0"/>
              <a:t> con IA.</a:t>
            </a:r>
          </a:p>
          <a:p>
            <a:r>
              <a:rPr dirty="0"/>
              <a:t>3. Nada </a:t>
            </a:r>
            <a:r>
              <a:rPr dirty="0" err="1"/>
              <a:t>confidencial</a:t>
            </a:r>
            <a:r>
              <a:rPr dirty="0"/>
              <a:t> </a:t>
            </a:r>
            <a:r>
              <a:rPr dirty="0" err="1"/>
              <a:t>en</a:t>
            </a:r>
            <a:r>
              <a:rPr dirty="0"/>
              <a:t> las </a:t>
            </a:r>
            <a:r>
              <a:rPr dirty="0" err="1"/>
              <a:t>herramientas</a:t>
            </a:r>
            <a:r>
              <a:rPr dirty="0"/>
              <a:t>.</a:t>
            </a:r>
          </a:p>
          <a:p>
            <a:endParaRPr dirty="0"/>
          </a:p>
          <a:p>
            <a:r>
              <a:rPr dirty="0"/>
              <a:t>Esta </a:t>
            </a:r>
            <a:r>
              <a:rPr dirty="0" err="1"/>
              <a:t>sesión</a:t>
            </a:r>
            <a:r>
              <a:rPr dirty="0"/>
              <a:t> lo </a:t>
            </a:r>
            <a:r>
              <a:rPr dirty="0" err="1"/>
              <a:t>hace</a:t>
            </a:r>
            <a:r>
              <a:rPr dirty="0"/>
              <a:t> </a:t>
            </a:r>
            <a:r>
              <a:rPr dirty="0" err="1"/>
              <a:t>más</a:t>
            </a:r>
            <a:r>
              <a:rPr dirty="0"/>
              <a:t> </a:t>
            </a:r>
            <a:r>
              <a:rPr dirty="0" err="1"/>
              <a:t>urgente</a:t>
            </a:r>
            <a:r>
              <a:rPr dirty="0"/>
              <a:t> </a:t>
            </a:r>
            <a:r>
              <a:rPr dirty="0" err="1"/>
              <a:t>que</a:t>
            </a:r>
            <a:r>
              <a:rPr dirty="0"/>
              <a:t> antes: </a:t>
            </a:r>
            <a:r>
              <a:rPr dirty="0" err="1"/>
              <a:t>ahora</a:t>
            </a:r>
            <a:r>
              <a:rPr dirty="0"/>
              <a:t> </a:t>
            </a:r>
            <a:r>
              <a:rPr dirty="0" err="1"/>
              <a:t>adjuntan</a:t>
            </a:r>
            <a:r>
              <a:rPr dirty="0"/>
              <a:t> </a:t>
            </a:r>
            <a:r>
              <a:rPr dirty="0" err="1"/>
              <a:t>una</a:t>
            </a:r>
            <a:r>
              <a:rPr dirty="0"/>
              <a:t> </a:t>
            </a:r>
            <a:r>
              <a:rPr dirty="0" err="1"/>
              <a:t>foto</a:t>
            </a:r>
            <a:r>
              <a:rPr dirty="0"/>
              <a:t> y sale </a:t>
            </a:r>
            <a:r>
              <a:rPr dirty="0" err="1"/>
              <a:t>esa</a:t>
            </a:r>
            <a:r>
              <a:rPr dirty="0"/>
              <a:t> persona </a:t>
            </a:r>
            <a:r>
              <a:rPr dirty="0" err="1"/>
              <a:t>hablando</a:t>
            </a:r>
            <a:r>
              <a:rPr dirty="0"/>
              <a:t>. Es </a:t>
            </a:r>
            <a:r>
              <a:rPr dirty="0" err="1"/>
              <a:t>exactamente</a:t>
            </a:r>
            <a:r>
              <a:rPr dirty="0"/>
              <a:t> la </a:t>
            </a:r>
            <a:r>
              <a:rPr dirty="0" err="1"/>
              <a:t>mecánica</a:t>
            </a:r>
            <a:r>
              <a:rPr dirty="0"/>
              <a:t> de un deepfake. Por </a:t>
            </a:r>
            <a:r>
              <a:rPr dirty="0" err="1"/>
              <a:t>eso</a:t>
            </a:r>
            <a:r>
              <a:rPr dirty="0"/>
              <a:t> la </a:t>
            </a:r>
            <a:r>
              <a:rPr dirty="0" err="1"/>
              <a:t>regla</a:t>
            </a:r>
            <a:r>
              <a:rPr dirty="0"/>
              <a:t> 1 </a:t>
            </a:r>
            <a:r>
              <a:rPr dirty="0" err="1"/>
              <a:t>deja</a:t>
            </a:r>
            <a:r>
              <a:rPr dirty="0"/>
              <a:t> de ser abstracta.</a:t>
            </a:r>
          </a:p>
          <a:p>
            <a:endParaRPr dirty="0"/>
          </a:p>
          <a:p>
            <a:r>
              <a:rPr dirty="0" err="1"/>
              <a:t>Conectar</a:t>
            </a:r>
            <a:r>
              <a:rPr dirty="0"/>
              <a:t> con la </a:t>
            </a:r>
            <a:r>
              <a:rPr dirty="0" err="1"/>
              <a:t>sesión</a:t>
            </a:r>
            <a:r>
              <a:rPr dirty="0"/>
              <a:t> de </a:t>
            </a:r>
            <a:r>
              <a:rPr dirty="0" err="1"/>
              <a:t>ética</a:t>
            </a:r>
            <a:r>
              <a:rPr dirty="0"/>
              <a:t>: </a:t>
            </a:r>
            <a:r>
              <a:rPr dirty="0" err="1"/>
              <a:t>hacerlo</a:t>
            </a:r>
            <a:r>
              <a:rPr dirty="0"/>
              <a:t> con la </a:t>
            </a:r>
            <a:r>
              <a:rPr dirty="0" err="1"/>
              <a:t>cara</a:t>
            </a:r>
            <a:r>
              <a:rPr dirty="0"/>
              <a:t> de </a:t>
            </a:r>
            <a:r>
              <a:rPr dirty="0" err="1"/>
              <a:t>otro</a:t>
            </a:r>
            <a:r>
              <a:rPr dirty="0"/>
              <a:t> sin </a:t>
            </a:r>
            <a:r>
              <a:rPr dirty="0" err="1"/>
              <a:t>su</a:t>
            </a:r>
            <a:r>
              <a:rPr dirty="0"/>
              <a:t> </a:t>
            </a:r>
            <a:r>
              <a:rPr dirty="0" err="1"/>
              <a:t>consentimiento</a:t>
            </a:r>
            <a:r>
              <a:rPr dirty="0"/>
              <a:t> </a:t>
            </a:r>
            <a:r>
              <a:rPr dirty="0" err="1"/>
              <a:t>puede</a:t>
            </a:r>
            <a:r>
              <a:rPr dirty="0"/>
              <a:t> ser </a:t>
            </a:r>
            <a:r>
              <a:rPr dirty="0" err="1"/>
              <a:t>delito</a:t>
            </a:r>
            <a:r>
              <a:rPr dirty="0"/>
              <a:t> </a:t>
            </a:r>
            <a:r>
              <a:rPr dirty="0" err="1"/>
              <a:t>en</a:t>
            </a:r>
            <a:r>
              <a:rPr dirty="0"/>
              <a:t> Colombia.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PROMPT PARA EL GUION:</a:t>
            </a:r>
          </a:p>
          <a:p>
            <a:endParaRPr dirty="0"/>
          </a:p>
          <a:p>
            <a:r>
              <a:rPr dirty="0"/>
              <a:t>«Eres </a:t>
            </a:r>
            <a:r>
              <a:rPr dirty="0" err="1"/>
              <a:t>guionista</a:t>
            </a:r>
            <a:r>
              <a:rPr dirty="0"/>
              <a:t> de videos </a:t>
            </a:r>
            <a:r>
              <a:rPr dirty="0" err="1"/>
              <a:t>educativos</a:t>
            </a:r>
            <a:r>
              <a:rPr dirty="0"/>
              <a:t> </a:t>
            </a:r>
            <a:r>
              <a:rPr dirty="0" err="1"/>
              <a:t>cortos</a:t>
            </a:r>
            <a:r>
              <a:rPr dirty="0"/>
              <a:t>. </a:t>
            </a:r>
            <a:r>
              <a:rPr dirty="0" err="1"/>
              <a:t>Escríbeme</a:t>
            </a:r>
            <a:r>
              <a:rPr dirty="0"/>
              <a:t> un </a:t>
            </a:r>
            <a:r>
              <a:rPr dirty="0" err="1"/>
              <a:t>guion</a:t>
            </a:r>
            <a:r>
              <a:rPr dirty="0"/>
              <a:t> de 80 palabras para un video de 32 </a:t>
            </a:r>
            <a:r>
              <a:rPr dirty="0" err="1"/>
              <a:t>segundos</a:t>
            </a:r>
            <a:r>
              <a:rPr dirty="0"/>
              <a:t>.</a:t>
            </a:r>
          </a:p>
          <a:p>
            <a:r>
              <a:rPr dirty="0"/>
              <a:t>Tema: [lo </a:t>
            </a:r>
            <a:r>
              <a:rPr dirty="0" err="1"/>
              <a:t>que</a:t>
            </a:r>
            <a:r>
              <a:rPr dirty="0"/>
              <a:t> </a:t>
            </a:r>
            <a:r>
              <a:rPr dirty="0" err="1"/>
              <a:t>haces</a:t>
            </a:r>
            <a:r>
              <a:rPr dirty="0"/>
              <a:t> </a:t>
            </a:r>
            <a:r>
              <a:rPr dirty="0" err="1"/>
              <a:t>en</a:t>
            </a:r>
            <a:r>
              <a:rPr dirty="0"/>
              <a:t> </a:t>
            </a:r>
            <a:r>
              <a:rPr dirty="0" err="1"/>
              <a:t>tu</a:t>
            </a:r>
            <a:r>
              <a:rPr dirty="0"/>
              <a:t> </a:t>
            </a:r>
            <a:r>
              <a:rPr dirty="0" err="1"/>
              <a:t>carrera</a:t>
            </a:r>
            <a:r>
              <a:rPr dirty="0"/>
              <a:t>, o un </a:t>
            </a:r>
            <a:r>
              <a:rPr dirty="0" err="1"/>
              <a:t>concepto</a:t>
            </a:r>
            <a:r>
              <a:rPr dirty="0"/>
              <a:t> </a:t>
            </a:r>
            <a:r>
              <a:rPr dirty="0" err="1"/>
              <a:t>que</a:t>
            </a:r>
            <a:r>
              <a:rPr dirty="0"/>
              <a:t> </a:t>
            </a:r>
            <a:r>
              <a:rPr dirty="0" err="1"/>
              <a:t>te</a:t>
            </a:r>
            <a:r>
              <a:rPr dirty="0"/>
              <a:t> </a:t>
            </a:r>
            <a:r>
              <a:rPr dirty="0" err="1"/>
              <a:t>costó</a:t>
            </a:r>
            <a:r>
              <a:rPr dirty="0"/>
              <a:t> </a:t>
            </a:r>
            <a:r>
              <a:rPr dirty="0" err="1"/>
              <a:t>entender</a:t>
            </a:r>
            <a:r>
              <a:rPr dirty="0"/>
              <a:t>].</a:t>
            </a:r>
          </a:p>
          <a:p>
            <a:r>
              <a:rPr dirty="0"/>
              <a:t>Para: </a:t>
            </a:r>
            <a:r>
              <a:rPr dirty="0" err="1"/>
              <a:t>alguien</a:t>
            </a:r>
            <a:r>
              <a:rPr dirty="0"/>
              <a:t> </a:t>
            </a:r>
            <a:r>
              <a:rPr dirty="0" err="1"/>
              <a:t>que</a:t>
            </a:r>
            <a:r>
              <a:rPr dirty="0"/>
              <a:t> no sabe nada del </a:t>
            </a:r>
            <a:r>
              <a:rPr dirty="0" err="1"/>
              <a:t>tema</a:t>
            </a:r>
            <a:r>
              <a:rPr dirty="0"/>
              <a:t> y no es de </a:t>
            </a:r>
            <a:r>
              <a:rPr dirty="0" err="1"/>
              <a:t>tu</a:t>
            </a:r>
            <a:r>
              <a:rPr dirty="0"/>
              <a:t> </a:t>
            </a:r>
            <a:r>
              <a:rPr dirty="0" err="1"/>
              <a:t>área</a:t>
            </a:r>
            <a:r>
              <a:rPr dirty="0"/>
              <a:t>.</a:t>
            </a:r>
          </a:p>
          <a:p>
            <a:r>
              <a:rPr dirty="0" err="1"/>
              <a:t>Estructura</a:t>
            </a:r>
            <a:r>
              <a:rPr dirty="0"/>
              <a:t>: </a:t>
            </a:r>
            <a:r>
              <a:rPr dirty="0" err="1"/>
              <a:t>una</a:t>
            </a:r>
            <a:r>
              <a:rPr dirty="0"/>
              <a:t> </a:t>
            </a:r>
            <a:r>
              <a:rPr dirty="0" err="1"/>
              <a:t>primera</a:t>
            </a:r>
            <a:r>
              <a:rPr dirty="0"/>
              <a:t> </a:t>
            </a:r>
            <a:r>
              <a:rPr dirty="0" err="1"/>
              <a:t>frase</a:t>
            </a:r>
            <a:r>
              <a:rPr dirty="0"/>
              <a:t> </a:t>
            </a:r>
            <a:r>
              <a:rPr dirty="0" err="1"/>
              <a:t>que</a:t>
            </a:r>
            <a:r>
              <a:rPr dirty="0"/>
              <a:t> </a:t>
            </a:r>
            <a:r>
              <a:rPr dirty="0" err="1"/>
              <a:t>enganche</a:t>
            </a:r>
            <a:r>
              <a:rPr dirty="0"/>
              <a:t>, </a:t>
            </a:r>
            <a:r>
              <a:rPr dirty="0" err="1"/>
              <a:t>una</a:t>
            </a:r>
            <a:r>
              <a:rPr dirty="0"/>
              <a:t> idea central </a:t>
            </a:r>
            <a:r>
              <a:rPr dirty="0" err="1"/>
              <a:t>explicada</a:t>
            </a:r>
            <a:r>
              <a:rPr dirty="0"/>
              <a:t> con </a:t>
            </a:r>
            <a:r>
              <a:rPr dirty="0" err="1"/>
              <a:t>una</a:t>
            </a:r>
            <a:r>
              <a:rPr dirty="0"/>
              <a:t> </a:t>
            </a:r>
            <a:r>
              <a:rPr dirty="0" err="1"/>
              <a:t>comparación</a:t>
            </a:r>
            <a:r>
              <a:rPr dirty="0"/>
              <a:t> </a:t>
            </a:r>
            <a:r>
              <a:rPr dirty="0" err="1"/>
              <a:t>cotidiana</a:t>
            </a:r>
            <a:r>
              <a:rPr dirty="0"/>
              <a:t>, y un </a:t>
            </a:r>
            <a:r>
              <a:rPr dirty="0" err="1"/>
              <a:t>cierre</a:t>
            </a:r>
            <a:r>
              <a:rPr dirty="0"/>
              <a:t> </a:t>
            </a:r>
            <a:r>
              <a:rPr dirty="0" err="1"/>
              <a:t>que</a:t>
            </a:r>
            <a:r>
              <a:rPr dirty="0"/>
              <a:t> </a:t>
            </a:r>
            <a:r>
              <a:rPr dirty="0" err="1"/>
              <a:t>deje</a:t>
            </a:r>
            <a:r>
              <a:rPr dirty="0"/>
              <a:t> </a:t>
            </a:r>
            <a:r>
              <a:rPr dirty="0" err="1"/>
              <a:t>una</a:t>
            </a:r>
            <a:r>
              <a:rPr dirty="0"/>
              <a:t> </a:t>
            </a:r>
            <a:r>
              <a:rPr dirty="0" err="1"/>
              <a:t>pregunta</a:t>
            </a:r>
            <a:r>
              <a:rPr dirty="0"/>
              <a:t>.</a:t>
            </a:r>
          </a:p>
          <a:p>
            <a:r>
              <a:rPr dirty="0"/>
              <a:t>Reglas: </a:t>
            </a:r>
            <a:r>
              <a:rPr dirty="0" err="1"/>
              <a:t>frases</a:t>
            </a:r>
            <a:r>
              <a:rPr dirty="0"/>
              <a:t> </a:t>
            </a:r>
            <a:r>
              <a:rPr dirty="0" err="1"/>
              <a:t>cortas</a:t>
            </a:r>
            <a:r>
              <a:rPr dirty="0"/>
              <a:t>, para </a:t>
            </a:r>
            <a:r>
              <a:rPr dirty="0" err="1"/>
              <a:t>decir</a:t>
            </a:r>
            <a:r>
              <a:rPr dirty="0"/>
              <a:t> </a:t>
            </a:r>
            <a:r>
              <a:rPr dirty="0" err="1"/>
              <a:t>en</a:t>
            </a:r>
            <a:r>
              <a:rPr dirty="0"/>
              <a:t> </a:t>
            </a:r>
            <a:r>
              <a:rPr dirty="0" err="1"/>
              <a:t>voz</a:t>
            </a:r>
            <a:r>
              <a:rPr dirty="0"/>
              <a:t> </a:t>
            </a:r>
            <a:r>
              <a:rPr dirty="0" err="1"/>
              <a:t>alta.</a:t>
            </a:r>
            <a:r>
              <a:rPr dirty="0"/>
              <a:t> Sin </a:t>
            </a:r>
            <a:r>
              <a:rPr dirty="0" err="1"/>
              <a:t>tecnicismos</a:t>
            </a:r>
            <a:r>
              <a:rPr dirty="0"/>
              <a:t> sin </a:t>
            </a:r>
            <a:r>
              <a:rPr dirty="0" err="1"/>
              <a:t>explicar</a:t>
            </a:r>
            <a:r>
              <a:rPr dirty="0"/>
              <a:t>. Nada de "</a:t>
            </a:r>
            <a:r>
              <a:rPr dirty="0" err="1"/>
              <a:t>en</a:t>
            </a:r>
            <a:r>
              <a:rPr dirty="0"/>
              <a:t> el </a:t>
            </a:r>
            <a:r>
              <a:rPr dirty="0" err="1"/>
              <a:t>mundo</a:t>
            </a:r>
            <a:r>
              <a:rPr dirty="0"/>
              <a:t> actual" </a:t>
            </a:r>
            <a:r>
              <a:rPr dirty="0" err="1"/>
              <a:t>ni</a:t>
            </a:r>
            <a:r>
              <a:rPr dirty="0"/>
              <a:t> "hoy </a:t>
            </a:r>
            <a:r>
              <a:rPr dirty="0" err="1"/>
              <a:t>en</a:t>
            </a:r>
            <a:r>
              <a:rPr dirty="0"/>
              <a:t> día". Al final, dime </a:t>
            </a:r>
            <a:r>
              <a:rPr dirty="0" err="1"/>
              <a:t>cuántas</a:t>
            </a:r>
            <a:r>
              <a:rPr dirty="0"/>
              <a:t> palabras </a:t>
            </a:r>
            <a:r>
              <a:rPr dirty="0" err="1"/>
              <a:t>tiene</a:t>
            </a:r>
            <a:r>
              <a:rPr dirty="0"/>
              <a:t>.»</a:t>
            </a:r>
          </a:p>
          <a:p>
            <a:endParaRPr dirty="0"/>
          </a:p>
          <a:p>
            <a:r>
              <a:rPr dirty="0"/>
              <a:t>Y ENSEGUIDA, EL QUE DE VERDAD IMPORTA HOY:</a:t>
            </a:r>
          </a:p>
          <a:p>
            <a:endParaRPr dirty="0"/>
          </a:p>
          <a:p>
            <a:r>
              <a:rPr dirty="0"/>
              <a:t>«</a:t>
            </a:r>
            <a:r>
              <a:rPr dirty="0" err="1"/>
              <a:t>Parte</a:t>
            </a:r>
            <a:r>
              <a:rPr dirty="0"/>
              <a:t> </a:t>
            </a:r>
            <a:r>
              <a:rPr dirty="0" err="1"/>
              <a:t>este</a:t>
            </a:r>
            <a:r>
              <a:rPr dirty="0"/>
              <a:t> </a:t>
            </a:r>
            <a:r>
              <a:rPr dirty="0" err="1"/>
              <a:t>guion</a:t>
            </a:r>
            <a:r>
              <a:rPr dirty="0"/>
              <a:t> </a:t>
            </a:r>
            <a:r>
              <a:rPr dirty="0" err="1"/>
              <a:t>en</a:t>
            </a:r>
            <a:r>
              <a:rPr dirty="0"/>
              <a:t> 4 </a:t>
            </a:r>
            <a:r>
              <a:rPr dirty="0" err="1"/>
              <a:t>frases</a:t>
            </a:r>
            <a:r>
              <a:rPr dirty="0"/>
              <a:t> de </a:t>
            </a:r>
            <a:r>
              <a:rPr dirty="0" err="1"/>
              <a:t>unas</a:t>
            </a:r>
            <a:r>
              <a:rPr dirty="0"/>
              <a:t> 20 palabras </a:t>
            </a:r>
            <a:r>
              <a:rPr dirty="0" err="1"/>
              <a:t>cada</a:t>
            </a:r>
            <a:r>
              <a:rPr dirty="0"/>
              <a:t> </a:t>
            </a:r>
            <a:r>
              <a:rPr dirty="0" err="1"/>
              <a:t>una</a:t>
            </a:r>
            <a:r>
              <a:rPr dirty="0"/>
              <a:t>. Cada </a:t>
            </a:r>
            <a:r>
              <a:rPr dirty="0" err="1"/>
              <a:t>frase</a:t>
            </a:r>
            <a:r>
              <a:rPr dirty="0"/>
              <a:t> </a:t>
            </a:r>
            <a:r>
              <a:rPr dirty="0" err="1"/>
              <a:t>tiene</a:t>
            </a:r>
            <a:r>
              <a:rPr dirty="0"/>
              <a:t> </a:t>
            </a:r>
            <a:r>
              <a:rPr dirty="0" err="1"/>
              <a:t>que</a:t>
            </a:r>
            <a:r>
              <a:rPr dirty="0"/>
              <a:t> </a:t>
            </a:r>
            <a:r>
              <a:rPr dirty="0" err="1"/>
              <a:t>poder</a:t>
            </a:r>
            <a:r>
              <a:rPr dirty="0"/>
              <a:t> </a:t>
            </a:r>
            <a:r>
              <a:rPr dirty="0" err="1"/>
              <a:t>decirse</a:t>
            </a:r>
            <a:r>
              <a:rPr dirty="0"/>
              <a:t> sola </a:t>
            </a:r>
            <a:r>
              <a:rPr dirty="0" err="1"/>
              <a:t>en</a:t>
            </a:r>
            <a:r>
              <a:rPr dirty="0"/>
              <a:t> 8 </a:t>
            </a:r>
            <a:r>
              <a:rPr dirty="0" err="1"/>
              <a:t>segundos</a:t>
            </a:r>
            <a:r>
              <a:rPr dirty="0"/>
              <a:t> y </a:t>
            </a:r>
            <a:r>
              <a:rPr dirty="0" err="1"/>
              <a:t>entenderse</a:t>
            </a:r>
            <a:r>
              <a:rPr dirty="0"/>
              <a:t> sin la anterior. </a:t>
            </a:r>
            <a:r>
              <a:rPr dirty="0" err="1"/>
              <a:t>Numéralas</a:t>
            </a:r>
            <a:r>
              <a:rPr dirty="0"/>
              <a:t>.»</a:t>
            </a:r>
          </a:p>
          <a:p>
            <a:endParaRPr dirty="0"/>
          </a:p>
          <a:p>
            <a:r>
              <a:rPr dirty="0"/>
              <a:t>LA CUENTA: se </a:t>
            </a:r>
            <a:r>
              <a:rPr dirty="0" err="1"/>
              <a:t>habla</a:t>
            </a:r>
            <a:r>
              <a:rPr dirty="0"/>
              <a:t> a </a:t>
            </a:r>
            <a:r>
              <a:rPr dirty="0" err="1"/>
              <a:t>unas</a:t>
            </a:r>
            <a:r>
              <a:rPr dirty="0"/>
              <a:t> 150 palabras </a:t>
            </a:r>
            <a:r>
              <a:rPr dirty="0" err="1"/>
              <a:t>por</a:t>
            </a:r>
            <a:r>
              <a:rPr dirty="0"/>
              <a:t> </a:t>
            </a:r>
            <a:r>
              <a:rPr dirty="0" err="1"/>
              <a:t>minuto</a:t>
            </a:r>
            <a:r>
              <a:rPr dirty="0"/>
              <a:t>, o sea 20 palabras </a:t>
            </a:r>
            <a:r>
              <a:rPr dirty="0" err="1"/>
              <a:t>cada</a:t>
            </a:r>
            <a:r>
              <a:rPr dirty="0"/>
              <a:t> 8 </a:t>
            </a:r>
            <a:r>
              <a:rPr dirty="0" err="1"/>
              <a:t>segundos</a:t>
            </a:r>
            <a:r>
              <a:rPr dirty="0"/>
              <a:t>. Cuatro clips = 80 palabras = 32 </a:t>
            </a:r>
            <a:r>
              <a:rPr dirty="0" err="1"/>
              <a:t>segundos</a:t>
            </a:r>
            <a:r>
              <a:rPr dirty="0"/>
              <a:t>. Hacer la </a:t>
            </a:r>
            <a:r>
              <a:rPr dirty="0" err="1"/>
              <a:t>cuenta</a:t>
            </a:r>
            <a:r>
              <a:rPr dirty="0"/>
              <a:t> </a:t>
            </a:r>
            <a:r>
              <a:rPr dirty="0" err="1"/>
              <a:t>en</a:t>
            </a:r>
            <a:r>
              <a:rPr dirty="0"/>
              <a:t> el </a:t>
            </a:r>
            <a:r>
              <a:rPr dirty="0" err="1"/>
              <a:t>tablero</a:t>
            </a:r>
            <a:r>
              <a:rPr dirty="0"/>
              <a:t> con </a:t>
            </a:r>
            <a:r>
              <a:rPr dirty="0" err="1"/>
              <a:t>ellos</a:t>
            </a:r>
            <a:r>
              <a:rPr dirty="0"/>
              <a:t>; es lo </a:t>
            </a:r>
            <a:r>
              <a:rPr dirty="0" err="1"/>
              <a:t>que</a:t>
            </a:r>
            <a:r>
              <a:rPr dirty="0"/>
              <a:t> </a:t>
            </a:r>
            <a:r>
              <a:rPr dirty="0" err="1"/>
              <a:t>vuelve</a:t>
            </a:r>
            <a:r>
              <a:rPr dirty="0"/>
              <a:t> el </a:t>
            </a:r>
            <a:r>
              <a:rPr dirty="0" err="1"/>
              <a:t>encargo</a:t>
            </a:r>
            <a:r>
              <a:rPr dirty="0"/>
              <a:t> </a:t>
            </a:r>
            <a:r>
              <a:rPr dirty="0" err="1"/>
              <a:t>concreto</a:t>
            </a:r>
            <a:r>
              <a:rPr dirty="0"/>
              <a:t>.</a:t>
            </a:r>
          </a:p>
          <a:p>
            <a:endParaRPr dirty="0"/>
          </a:p>
          <a:p>
            <a:r>
              <a:rPr dirty="0" err="1"/>
              <a:t>Que</a:t>
            </a:r>
            <a:r>
              <a:rPr dirty="0"/>
              <a:t> lean </a:t>
            </a:r>
            <a:r>
              <a:rPr dirty="0" err="1"/>
              <a:t>cada</a:t>
            </a:r>
            <a:r>
              <a:rPr dirty="0"/>
              <a:t> </a:t>
            </a:r>
            <a:r>
              <a:rPr dirty="0" err="1"/>
              <a:t>frase</a:t>
            </a:r>
            <a:r>
              <a:rPr dirty="0"/>
              <a:t> </a:t>
            </a:r>
            <a:r>
              <a:rPr dirty="0" err="1"/>
              <a:t>en</a:t>
            </a:r>
            <a:r>
              <a:rPr dirty="0"/>
              <a:t> </a:t>
            </a:r>
            <a:r>
              <a:rPr dirty="0" err="1"/>
              <a:t>voz</a:t>
            </a:r>
            <a:r>
              <a:rPr dirty="0"/>
              <a:t> </a:t>
            </a:r>
            <a:r>
              <a:rPr dirty="0" err="1"/>
              <a:t>alta</a:t>
            </a:r>
            <a:r>
              <a:rPr dirty="0"/>
              <a:t> y la </a:t>
            </a:r>
            <a:r>
              <a:rPr dirty="0" err="1"/>
              <a:t>cronometren</a:t>
            </a:r>
            <a:r>
              <a:rPr dirty="0"/>
              <a:t>. Si </a:t>
            </a:r>
            <a:r>
              <a:rPr dirty="0" err="1"/>
              <a:t>una</a:t>
            </a:r>
            <a:r>
              <a:rPr dirty="0"/>
              <a:t> no </a:t>
            </a:r>
            <a:r>
              <a:rPr dirty="0" err="1"/>
              <a:t>cabe</a:t>
            </a:r>
            <a:r>
              <a:rPr dirty="0"/>
              <a:t> </a:t>
            </a:r>
            <a:r>
              <a:rPr dirty="0" err="1"/>
              <a:t>en</a:t>
            </a:r>
            <a:r>
              <a:rPr dirty="0"/>
              <a:t> 10 </a:t>
            </a:r>
            <a:r>
              <a:rPr dirty="0" err="1"/>
              <a:t>segundos</a:t>
            </a:r>
            <a:r>
              <a:rPr dirty="0"/>
              <a:t>, hay </a:t>
            </a:r>
            <a:r>
              <a:rPr dirty="0" err="1"/>
              <a:t>que</a:t>
            </a:r>
            <a:r>
              <a:rPr dirty="0"/>
              <a:t> </a:t>
            </a:r>
            <a:r>
              <a:rPr dirty="0" err="1"/>
              <a:t>partirla</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Esto es el "</a:t>
            </a:r>
            <a:r>
              <a:rPr dirty="0" err="1"/>
              <a:t>voz</a:t>
            </a:r>
            <a:r>
              <a:rPr dirty="0"/>
              <a:t> a </a:t>
            </a:r>
            <a:r>
              <a:rPr dirty="0" err="1"/>
              <a:t>texto</a:t>
            </a:r>
            <a:r>
              <a:rPr dirty="0"/>
              <a:t>" del </a:t>
            </a:r>
            <a:r>
              <a:rPr dirty="0" err="1"/>
              <a:t>título</a:t>
            </a:r>
            <a:r>
              <a:rPr dirty="0"/>
              <a:t> y </a:t>
            </a:r>
            <a:r>
              <a:rPr dirty="0" err="1"/>
              <a:t>funciona</a:t>
            </a:r>
            <a:r>
              <a:rPr dirty="0"/>
              <a:t> </a:t>
            </a:r>
            <a:r>
              <a:rPr dirty="0" err="1"/>
              <a:t>mejor</a:t>
            </a:r>
            <a:r>
              <a:rPr dirty="0"/>
              <a:t> </a:t>
            </a:r>
            <a:r>
              <a:rPr dirty="0" err="1"/>
              <a:t>como</a:t>
            </a:r>
            <a:r>
              <a:rPr dirty="0"/>
              <a:t> </a:t>
            </a:r>
            <a:r>
              <a:rPr dirty="0" err="1"/>
              <a:t>truco</a:t>
            </a:r>
            <a:r>
              <a:rPr dirty="0"/>
              <a:t> </a:t>
            </a:r>
            <a:r>
              <a:rPr dirty="0" err="1"/>
              <a:t>que</a:t>
            </a:r>
            <a:r>
              <a:rPr dirty="0"/>
              <a:t> </a:t>
            </a:r>
            <a:r>
              <a:rPr dirty="0" err="1"/>
              <a:t>como</a:t>
            </a:r>
            <a:r>
              <a:rPr dirty="0"/>
              <a:t> </a:t>
            </a:r>
            <a:r>
              <a:rPr dirty="0" err="1"/>
              <a:t>tema</a:t>
            </a:r>
            <a:r>
              <a:rPr dirty="0"/>
              <a:t>.</a:t>
            </a:r>
          </a:p>
          <a:p>
            <a:endParaRPr dirty="0"/>
          </a:p>
          <a:p>
            <a:r>
              <a:rPr dirty="0" err="1"/>
              <a:t>Demostración</a:t>
            </a:r>
            <a:r>
              <a:rPr dirty="0"/>
              <a:t>: </a:t>
            </a:r>
            <a:r>
              <a:rPr dirty="0" err="1"/>
              <a:t>abrir</a:t>
            </a:r>
            <a:r>
              <a:rPr dirty="0"/>
              <a:t> un Google Doc, </a:t>
            </a:r>
            <a:r>
              <a:rPr dirty="0" err="1"/>
              <a:t>Herramientas</a:t>
            </a:r>
            <a:r>
              <a:rPr dirty="0"/>
              <a:t> → </a:t>
            </a:r>
            <a:r>
              <a:rPr dirty="0" err="1"/>
              <a:t>Dictado</a:t>
            </a:r>
            <a:r>
              <a:rPr dirty="0"/>
              <a:t> </a:t>
            </a:r>
            <a:r>
              <a:rPr dirty="0" err="1"/>
              <a:t>por</a:t>
            </a:r>
            <a:r>
              <a:rPr dirty="0"/>
              <a:t> </a:t>
            </a:r>
            <a:r>
              <a:rPr dirty="0" err="1"/>
              <a:t>voz</a:t>
            </a:r>
            <a:r>
              <a:rPr dirty="0"/>
              <a:t>, </a:t>
            </a:r>
            <a:r>
              <a:rPr dirty="0" err="1"/>
              <a:t>hablar</a:t>
            </a:r>
            <a:r>
              <a:rPr dirty="0"/>
              <a:t> </a:t>
            </a:r>
            <a:r>
              <a:rPr dirty="0" err="1"/>
              <a:t>treinta</a:t>
            </a:r>
            <a:r>
              <a:rPr dirty="0"/>
              <a:t> </a:t>
            </a:r>
            <a:r>
              <a:rPr dirty="0" err="1"/>
              <a:t>segundos</a:t>
            </a:r>
            <a:r>
              <a:rPr dirty="0"/>
              <a:t> </a:t>
            </a:r>
            <a:r>
              <a:rPr dirty="0" err="1"/>
              <a:t>explicando</a:t>
            </a:r>
            <a:r>
              <a:rPr dirty="0"/>
              <a:t> algo y </a:t>
            </a:r>
            <a:r>
              <a:rPr dirty="0" err="1"/>
              <a:t>ver</a:t>
            </a:r>
            <a:r>
              <a:rPr dirty="0"/>
              <a:t> el </a:t>
            </a:r>
            <a:r>
              <a:rPr dirty="0" err="1"/>
              <a:t>texto</a:t>
            </a:r>
            <a:r>
              <a:rPr dirty="0"/>
              <a:t> </a:t>
            </a:r>
            <a:r>
              <a:rPr dirty="0" err="1"/>
              <a:t>aparecer</a:t>
            </a:r>
            <a:r>
              <a:rPr dirty="0"/>
              <a:t>.</a:t>
            </a:r>
          </a:p>
          <a:p>
            <a:endParaRPr dirty="0"/>
          </a:p>
          <a:p>
            <a:r>
              <a:rPr dirty="0"/>
              <a:t>Para </a:t>
            </a:r>
            <a:r>
              <a:rPr dirty="0" err="1"/>
              <a:t>quien</a:t>
            </a:r>
            <a:r>
              <a:rPr dirty="0"/>
              <a:t> </a:t>
            </a:r>
            <a:r>
              <a:rPr dirty="0" err="1"/>
              <a:t>habla</a:t>
            </a:r>
            <a:r>
              <a:rPr dirty="0"/>
              <a:t> </a:t>
            </a:r>
            <a:r>
              <a:rPr dirty="0" err="1"/>
              <a:t>mejor</a:t>
            </a:r>
            <a:r>
              <a:rPr dirty="0"/>
              <a:t> de lo </a:t>
            </a:r>
            <a:r>
              <a:rPr dirty="0" err="1"/>
              <a:t>que</a:t>
            </a:r>
            <a:r>
              <a:rPr dirty="0"/>
              <a:t> escribe, </a:t>
            </a:r>
            <a:r>
              <a:rPr dirty="0" err="1"/>
              <a:t>esto</a:t>
            </a:r>
            <a:r>
              <a:rPr dirty="0"/>
              <a:t> cambia la </a:t>
            </a:r>
            <a:r>
              <a:rPr dirty="0" err="1"/>
              <a:t>vida</a:t>
            </a:r>
            <a:r>
              <a:rPr dirty="0"/>
              <a:t>. Y el </a:t>
            </a:r>
            <a:r>
              <a:rPr dirty="0" err="1"/>
              <a:t>texto</a:t>
            </a:r>
            <a:r>
              <a:rPr dirty="0"/>
              <a:t> </a:t>
            </a:r>
            <a:r>
              <a:rPr dirty="0" err="1"/>
              <a:t>dictado</a:t>
            </a:r>
            <a:r>
              <a:rPr dirty="0"/>
              <a:t> </a:t>
            </a:r>
            <a:r>
              <a:rPr dirty="0" err="1"/>
              <a:t>suena</a:t>
            </a:r>
            <a:r>
              <a:rPr dirty="0"/>
              <a:t> natural al </a:t>
            </a:r>
            <a:r>
              <a:rPr dirty="0" err="1"/>
              <a:t>decirlo</a:t>
            </a:r>
            <a:r>
              <a:rPr dirty="0"/>
              <a:t> </a:t>
            </a:r>
            <a:r>
              <a:rPr dirty="0" err="1"/>
              <a:t>en</a:t>
            </a:r>
            <a:r>
              <a:rPr dirty="0"/>
              <a:t> </a:t>
            </a:r>
            <a:r>
              <a:rPr dirty="0" err="1"/>
              <a:t>voz</a:t>
            </a:r>
            <a:r>
              <a:rPr dirty="0"/>
              <a:t> </a:t>
            </a:r>
            <a:r>
              <a:rPr dirty="0" err="1"/>
              <a:t>alta</a:t>
            </a:r>
            <a:r>
              <a:rPr dirty="0"/>
              <a:t>, </a:t>
            </a:r>
            <a:r>
              <a:rPr dirty="0" err="1"/>
              <a:t>que</a:t>
            </a:r>
            <a:r>
              <a:rPr dirty="0"/>
              <a:t> es </a:t>
            </a:r>
            <a:r>
              <a:rPr dirty="0" err="1"/>
              <a:t>justo</a:t>
            </a:r>
            <a:r>
              <a:rPr dirty="0"/>
              <a:t> lo </a:t>
            </a:r>
            <a:r>
              <a:rPr dirty="0" err="1"/>
              <a:t>que</a:t>
            </a:r>
            <a:r>
              <a:rPr dirty="0"/>
              <a:t> </a:t>
            </a:r>
            <a:r>
              <a:rPr dirty="0" err="1"/>
              <a:t>necesita</a:t>
            </a:r>
            <a:r>
              <a:rPr dirty="0"/>
              <a:t> un </a:t>
            </a:r>
            <a:r>
              <a:rPr dirty="0" err="1"/>
              <a:t>guion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EL PERSONAJE. Este paso es nuevo y es el </a:t>
            </a:r>
            <a:r>
              <a:rPr dirty="0" err="1"/>
              <a:t>que</a:t>
            </a:r>
            <a:r>
              <a:rPr dirty="0"/>
              <a:t> </a:t>
            </a:r>
            <a:r>
              <a:rPr dirty="0" err="1"/>
              <a:t>más</a:t>
            </a:r>
            <a:r>
              <a:rPr dirty="0"/>
              <a:t> </a:t>
            </a:r>
            <a:r>
              <a:rPr dirty="0" err="1"/>
              <a:t>mejora</a:t>
            </a:r>
            <a:r>
              <a:rPr dirty="0"/>
              <a:t> el </a:t>
            </a:r>
            <a:r>
              <a:rPr dirty="0" err="1"/>
              <a:t>resultado</a:t>
            </a:r>
            <a:r>
              <a:rPr dirty="0"/>
              <a:t>.</a:t>
            </a:r>
          </a:p>
          <a:p>
            <a:endParaRPr dirty="0"/>
          </a:p>
          <a:p>
            <a:r>
              <a:rPr dirty="0"/>
              <a:t>En Flow, </a:t>
            </a:r>
            <a:r>
              <a:rPr dirty="0" err="1"/>
              <a:t>menú</a:t>
            </a:r>
            <a:r>
              <a:rPr dirty="0"/>
              <a:t> lateral → </a:t>
            </a:r>
            <a:r>
              <a:rPr dirty="0" err="1"/>
              <a:t>Personajes</a:t>
            </a:r>
            <a:r>
              <a:rPr dirty="0"/>
              <a:t>. CREARLO NO GASTA CRÉDITOS, </a:t>
            </a:r>
            <a:r>
              <a:rPr dirty="0" err="1"/>
              <a:t>así</a:t>
            </a:r>
            <a:r>
              <a:rPr dirty="0"/>
              <a:t> </a:t>
            </a:r>
            <a:r>
              <a:rPr dirty="0" err="1"/>
              <a:t>que</a:t>
            </a:r>
            <a:r>
              <a:rPr dirty="0"/>
              <a:t> </a:t>
            </a:r>
            <a:r>
              <a:rPr dirty="0" err="1"/>
              <a:t>pueden</a:t>
            </a:r>
            <a:r>
              <a:rPr dirty="0"/>
              <a:t> </a:t>
            </a:r>
            <a:r>
              <a:rPr dirty="0" err="1"/>
              <a:t>ensayar</a:t>
            </a:r>
            <a:r>
              <a:rPr dirty="0"/>
              <a:t> hasta </a:t>
            </a:r>
            <a:r>
              <a:rPr dirty="0" err="1"/>
              <a:t>que</a:t>
            </a:r>
            <a:r>
              <a:rPr dirty="0"/>
              <a:t> les </a:t>
            </a:r>
            <a:r>
              <a:rPr dirty="0" err="1"/>
              <a:t>guste</a:t>
            </a:r>
            <a:r>
              <a:rPr dirty="0"/>
              <a:t>. </a:t>
            </a:r>
            <a:r>
              <a:rPr dirty="0" err="1"/>
              <a:t>Decirlo</a:t>
            </a:r>
            <a:r>
              <a:rPr dirty="0"/>
              <a:t> </a:t>
            </a:r>
            <a:r>
              <a:rPr dirty="0" err="1"/>
              <a:t>en</a:t>
            </a:r>
            <a:r>
              <a:rPr dirty="0"/>
              <a:t> </a:t>
            </a:r>
            <a:r>
              <a:rPr dirty="0" err="1"/>
              <a:t>voz</a:t>
            </a:r>
            <a:r>
              <a:rPr dirty="0"/>
              <a:t> </a:t>
            </a:r>
            <a:r>
              <a:rPr dirty="0" err="1"/>
              <a:t>alta</a:t>
            </a:r>
            <a:r>
              <a:rPr dirty="0"/>
              <a:t>: es la </a:t>
            </a:r>
            <a:r>
              <a:rPr dirty="0" err="1"/>
              <a:t>única</a:t>
            </a:r>
            <a:r>
              <a:rPr dirty="0"/>
              <a:t> </a:t>
            </a:r>
            <a:r>
              <a:rPr dirty="0" err="1"/>
              <a:t>parte</a:t>
            </a:r>
            <a:r>
              <a:rPr dirty="0"/>
              <a:t> de la </a:t>
            </a:r>
            <a:r>
              <a:rPr dirty="0" err="1"/>
              <a:t>clase</a:t>
            </a:r>
            <a:r>
              <a:rPr dirty="0"/>
              <a:t> </a:t>
            </a:r>
            <a:r>
              <a:rPr dirty="0" err="1"/>
              <a:t>donde</a:t>
            </a:r>
            <a:r>
              <a:rPr dirty="0"/>
              <a:t> </a:t>
            </a:r>
            <a:r>
              <a:rPr dirty="0" err="1"/>
              <a:t>pueden</a:t>
            </a:r>
            <a:r>
              <a:rPr dirty="0"/>
              <a:t> </a:t>
            </a:r>
            <a:r>
              <a:rPr dirty="0" err="1"/>
              <a:t>experimentar</a:t>
            </a:r>
            <a:r>
              <a:rPr dirty="0"/>
              <a:t> sin </a:t>
            </a:r>
            <a:r>
              <a:rPr dirty="0" err="1"/>
              <a:t>costo</a:t>
            </a:r>
            <a:r>
              <a:rPr dirty="0"/>
              <a:t>.</a:t>
            </a:r>
          </a:p>
          <a:p>
            <a:endParaRPr dirty="0"/>
          </a:p>
          <a:p>
            <a:r>
              <a:rPr dirty="0"/>
              <a:t>DOS FORMAS:</a:t>
            </a:r>
          </a:p>
          <a:p>
            <a:r>
              <a:rPr dirty="0"/>
              <a:t>· Con </a:t>
            </a:r>
            <a:r>
              <a:rPr dirty="0" err="1"/>
              <a:t>su</a:t>
            </a:r>
            <a:r>
              <a:rPr dirty="0"/>
              <a:t> </a:t>
            </a:r>
            <a:r>
              <a:rPr dirty="0" err="1"/>
              <a:t>foto</a:t>
            </a:r>
            <a:r>
              <a:rPr dirty="0"/>
              <a:t>: </a:t>
            </a:r>
            <a:r>
              <a:rPr dirty="0" err="1"/>
              <a:t>botón</a:t>
            </a:r>
            <a:r>
              <a:rPr dirty="0"/>
              <a:t> Subir, </a:t>
            </a:r>
            <a:r>
              <a:rPr dirty="0" err="1"/>
              <a:t>una</a:t>
            </a:r>
            <a:r>
              <a:rPr dirty="0"/>
              <a:t> </a:t>
            </a:r>
            <a:r>
              <a:rPr dirty="0" err="1"/>
              <a:t>foto</a:t>
            </a:r>
            <a:r>
              <a:rPr dirty="0"/>
              <a:t> de </a:t>
            </a:r>
            <a:r>
              <a:rPr dirty="0" err="1"/>
              <a:t>frente</a:t>
            </a:r>
            <a:r>
              <a:rPr dirty="0"/>
              <a:t>, bien </a:t>
            </a:r>
            <a:r>
              <a:rPr dirty="0" err="1"/>
              <a:t>iluminada</a:t>
            </a:r>
            <a:r>
              <a:rPr dirty="0"/>
              <a:t>, sin </a:t>
            </a:r>
            <a:r>
              <a:rPr dirty="0" err="1"/>
              <a:t>gafas</a:t>
            </a:r>
            <a:r>
              <a:rPr dirty="0"/>
              <a:t> de sol.</a:t>
            </a:r>
          </a:p>
          <a:p>
            <a:r>
              <a:rPr dirty="0"/>
              <a:t>· </a:t>
            </a:r>
            <a:r>
              <a:rPr dirty="0" err="1"/>
              <a:t>Describiéndolo</a:t>
            </a:r>
            <a:r>
              <a:rPr dirty="0"/>
              <a:t>: </a:t>
            </a:r>
            <a:r>
              <a:rPr dirty="0" err="1"/>
              <a:t>escriben</a:t>
            </a:r>
            <a:r>
              <a:rPr dirty="0"/>
              <a:t> </a:t>
            </a:r>
            <a:r>
              <a:rPr dirty="0" err="1"/>
              <a:t>cómo</a:t>
            </a:r>
            <a:r>
              <a:rPr dirty="0"/>
              <a:t> es y Flow lo </a:t>
            </a:r>
            <a:r>
              <a:rPr dirty="0" err="1"/>
              <a:t>dibuja</a:t>
            </a:r>
            <a:r>
              <a:rPr dirty="0"/>
              <a:t>. Para </a:t>
            </a:r>
            <a:r>
              <a:rPr dirty="0" err="1"/>
              <a:t>quien</a:t>
            </a:r>
            <a:r>
              <a:rPr dirty="0"/>
              <a:t> no </a:t>
            </a:r>
            <a:r>
              <a:rPr dirty="0" err="1"/>
              <a:t>quiera</a:t>
            </a:r>
            <a:r>
              <a:rPr dirty="0"/>
              <a:t> </a:t>
            </a:r>
            <a:r>
              <a:rPr dirty="0" err="1"/>
              <a:t>poner</a:t>
            </a:r>
            <a:r>
              <a:rPr dirty="0"/>
              <a:t> </a:t>
            </a:r>
            <a:r>
              <a:rPr dirty="0" err="1"/>
              <a:t>su</a:t>
            </a:r>
            <a:r>
              <a:rPr dirty="0"/>
              <a:t> </a:t>
            </a:r>
            <a:r>
              <a:rPr dirty="0" err="1"/>
              <a:t>cara</a:t>
            </a:r>
            <a:r>
              <a:rPr dirty="0"/>
              <a:t>, y </a:t>
            </a:r>
            <a:r>
              <a:rPr dirty="0" err="1"/>
              <a:t>queda</a:t>
            </a:r>
            <a:r>
              <a:rPr dirty="0"/>
              <a:t> </a:t>
            </a:r>
            <a:r>
              <a:rPr dirty="0" err="1"/>
              <a:t>igual</a:t>
            </a:r>
            <a:r>
              <a:rPr dirty="0"/>
              <a:t> de </a:t>
            </a:r>
            <a:r>
              <a:rPr dirty="0" err="1"/>
              <a:t>consistente</a:t>
            </a:r>
            <a:r>
              <a:rPr dirty="0"/>
              <a:t>.</a:t>
            </a:r>
          </a:p>
          <a:p>
            <a:endParaRPr dirty="0"/>
          </a:p>
          <a:p>
            <a:r>
              <a:rPr dirty="0"/>
              <a:t>DOS COSAS QUE HAY QUE HACER ANTES DE GASTAR UN CRÉDITO:</a:t>
            </a:r>
          </a:p>
          <a:p>
            <a:r>
              <a:rPr dirty="0"/>
              <a:t>1. ASIGNARLE UNA VOZ. El </a:t>
            </a:r>
            <a:r>
              <a:rPr dirty="0" err="1"/>
              <a:t>botón</a:t>
            </a:r>
            <a:r>
              <a:rPr dirty="0"/>
              <a:t> «</a:t>
            </a:r>
            <a:r>
              <a:rPr dirty="0" err="1"/>
              <a:t>Selecciona</a:t>
            </a:r>
            <a:r>
              <a:rPr dirty="0"/>
              <a:t> </a:t>
            </a:r>
            <a:r>
              <a:rPr dirty="0" err="1"/>
              <a:t>una</a:t>
            </a:r>
            <a:r>
              <a:rPr dirty="0"/>
              <a:t> </a:t>
            </a:r>
            <a:r>
              <a:rPr dirty="0" err="1"/>
              <a:t>voz</a:t>
            </a:r>
            <a:r>
              <a:rPr dirty="0"/>
              <a:t>» </a:t>
            </a:r>
            <a:r>
              <a:rPr dirty="0" err="1"/>
              <a:t>deja</a:t>
            </a:r>
            <a:r>
              <a:rPr dirty="0"/>
              <a:t> </a:t>
            </a:r>
            <a:r>
              <a:rPr dirty="0" err="1"/>
              <a:t>elegir</a:t>
            </a:r>
            <a:r>
              <a:rPr dirty="0"/>
              <a:t> </a:t>
            </a:r>
            <a:r>
              <a:rPr dirty="0" err="1"/>
              <a:t>voz</a:t>
            </a:r>
            <a:r>
              <a:rPr dirty="0"/>
              <a:t> y </a:t>
            </a:r>
            <a:r>
              <a:rPr dirty="0" err="1"/>
              <a:t>escribir</a:t>
            </a:r>
            <a:r>
              <a:rPr dirty="0"/>
              <a:t> </a:t>
            </a:r>
            <a:r>
              <a:rPr dirty="0" err="1"/>
              <a:t>cómo</a:t>
            </a:r>
            <a:r>
              <a:rPr dirty="0"/>
              <a:t> </a:t>
            </a:r>
            <a:r>
              <a:rPr dirty="0" err="1"/>
              <a:t>debe</a:t>
            </a:r>
            <a:r>
              <a:rPr dirty="0"/>
              <a:t> sonar: «</a:t>
            </a:r>
            <a:r>
              <a:rPr dirty="0" err="1"/>
              <a:t>español</a:t>
            </a:r>
            <a:r>
              <a:rPr dirty="0"/>
              <a:t> </a:t>
            </a:r>
            <a:r>
              <a:rPr dirty="0" err="1"/>
              <a:t>latinoamericano</a:t>
            </a:r>
            <a:r>
              <a:rPr dirty="0"/>
              <a:t>, tono </a:t>
            </a:r>
            <a:r>
              <a:rPr dirty="0" err="1"/>
              <a:t>cercano</a:t>
            </a:r>
            <a:r>
              <a:rPr dirty="0"/>
              <a:t> y </a:t>
            </a:r>
            <a:r>
              <a:rPr dirty="0" err="1"/>
              <a:t>pausado</a:t>
            </a:r>
            <a:r>
              <a:rPr dirty="0"/>
              <a:t>, </a:t>
            </a:r>
            <a:r>
              <a:rPr dirty="0" err="1"/>
              <a:t>como</a:t>
            </a:r>
            <a:r>
              <a:rPr dirty="0"/>
              <a:t> </a:t>
            </a:r>
            <a:r>
              <a:rPr dirty="0" err="1"/>
              <a:t>quien</a:t>
            </a:r>
            <a:r>
              <a:rPr dirty="0"/>
              <a:t> le </a:t>
            </a:r>
            <a:r>
              <a:rPr dirty="0" err="1"/>
              <a:t>explica</a:t>
            </a:r>
            <a:r>
              <a:rPr dirty="0"/>
              <a:t> algo a un amigo». </a:t>
            </a:r>
            <a:r>
              <a:rPr dirty="0" err="1"/>
              <a:t>Así</a:t>
            </a:r>
            <a:r>
              <a:rPr dirty="0"/>
              <a:t> </a:t>
            </a:r>
            <a:r>
              <a:rPr dirty="0" err="1"/>
              <a:t>suena</a:t>
            </a:r>
            <a:r>
              <a:rPr dirty="0"/>
              <a:t> </a:t>
            </a:r>
            <a:r>
              <a:rPr dirty="0" err="1"/>
              <a:t>igual</a:t>
            </a:r>
            <a:r>
              <a:rPr dirty="0"/>
              <a:t> </a:t>
            </a:r>
            <a:r>
              <a:rPr dirty="0" err="1"/>
              <a:t>en</a:t>
            </a:r>
            <a:r>
              <a:rPr dirty="0"/>
              <a:t> </a:t>
            </a:r>
            <a:r>
              <a:rPr dirty="0" err="1"/>
              <a:t>los</a:t>
            </a:r>
            <a:r>
              <a:rPr dirty="0"/>
              <a:t> cuatro clips, </a:t>
            </a:r>
            <a:r>
              <a:rPr dirty="0" err="1"/>
              <a:t>que</a:t>
            </a:r>
            <a:r>
              <a:rPr dirty="0"/>
              <a:t> era </a:t>
            </a:r>
            <a:r>
              <a:rPr dirty="0" err="1"/>
              <a:t>justo</a:t>
            </a:r>
            <a:r>
              <a:rPr dirty="0"/>
              <a:t> el </a:t>
            </a:r>
            <a:r>
              <a:rPr dirty="0" err="1"/>
              <a:t>problema</a:t>
            </a:r>
            <a:r>
              <a:rPr dirty="0"/>
              <a:t> de la </a:t>
            </a:r>
            <a:r>
              <a:rPr dirty="0" err="1"/>
              <a:t>versión</a:t>
            </a:r>
            <a:r>
              <a:rPr dirty="0"/>
              <a:t> anterior.</a:t>
            </a:r>
          </a:p>
          <a:p>
            <a:r>
              <a:rPr dirty="0"/>
              <a:t>2. CREARLO EN EL LUGAR CORRECTO. COMPROBADO: el </a:t>
            </a:r>
            <a:r>
              <a:rPr dirty="0" err="1"/>
              <a:t>personaje</a:t>
            </a:r>
            <a:r>
              <a:rPr dirty="0"/>
              <a:t> arrastra </a:t>
            </a:r>
            <a:r>
              <a:rPr dirty="0" err="1"/>
              <a:t>consigo</a:t>
            </a:r>
            <a:r>
              <a:rPr dirty="0"/>
              <a:t> el </a:t>
            </a:r>
            <a:r>
              <a:rPr dirty="0" err="1"/>
              <a:t>escenario</a:t>
            </a:r>
            <a:r>
              <a:rPr dirty="0"/>
              <a:t> </a:t>
            </a:r>
            <a:r>
              <a:rPr dirty="0" err="1"/>
              <a:t>donde</a:t>
            </a:r>
            <a:r>
              <a:rPr dirty="0"/>
              <a:t> se </a:t>
            </a:r>
            <a:r>
              <a:rPr dirty="0" err="1"/>
              <a:t>creó</a:t>
            </a:r>
            <a:r>
              <a:rPr dirty="0"/>
              <a:t>. Lo </a:t>
            </a:r>
            <a:r>
              <a:rPr dirty="0" err="1"/>
              <a:t>creé</a:t>
            </a:r>
            <a:r>
              <a:rPr dirty="0"/>
              <a:t> </a:t>
            </a:r>
            <a:r>
              <a:rPr dirty="0" err="1"/>
              <a:t>en</a:t>
            </a:r>
            <a:r>
              <a:rPr dirty="0"/>
              <a:t> </a:t>
            </a:r>
            <a:r>
              <a:rPr dirty="0" err="1"/>
              <a:t>una</a:t>
            </a:r>
            <a:r>
              <a:rPr dirty="0"/>
              <a:t> </a:t>
            </a:r>
            <a:r>
              <a:rPr dirty="0" err="1"/>
              <a:t>oficina</a:t>
            </a:r>
            <a:r>
              <a:rPr dirty="0"/>
              <a:t>, </a:t>
            </a:r>
            <a:r>
              <a:rPr dirty="0" err="1"/>
              <a:t>pedí</a:t>
            </a:r>
            <a:r>
              <a:rPr dirty="0"/>
              <a:t> un </a:t>
            </a:r>
            <a:r>
              <a:rPr dirty="0" err="1"/>
              <a:t>salón</a:t>
            </a:r>
            <a:r>
              <a:rPr dirty="0"/>
              <a:t> de </a:t>
            </a:r>
            <a:r>
              <a:rPr dirty="0" err="1"/>
              <a:t>clase</a:t>
            </a:r>
            <a:r>
              <a:rPr dirty="0"/>
              <a:t>, y </a:t>
            </a:r>
            <a:r>
              <a:rPr dirty="0" err="1"/>
              <a:t>salió</a:t>
            </a:r>
            <a:r>
              <a:rPr dirty="0"/>
              <a:t> </a:t>
            </a:r>
            <a:r>
              <a:rPr dirty="0" err="1"/>
              <a:t>en</a:t>
            </a:r>
            <a:r>
              <a:rPr dirty="0"/>
              <a:t> la </a:t>
            </a:r>
            <a:r>
              <a:rPr dirty="0" err="1"/>
              <a:t>oficina</a:t>
            </a:r>
            <a:r>
              <a:rPr dirty="0"/>
              <a:t>. Si </a:t>
            </a:r>
            <a:r>
              <a:rPr dirty="0" err="1"/>
              <a:t>quieren</a:t>
            </a:r>
            <a:r>
              <a:rPr dirty="0"/>
              <a:t> un </a:t>
            </a:r>
            <a:r>
              <a:rPr dirty="0" err="1"/>
              <a:t>laboratorio</a:t>
            </a:r>
            <a:r>
              <a:rPr dirty="0"/>
              <a:t>, el </a:t>
            </a:r>
            <a:r>
              <a:rPr dirty="0" err="1"/>
              <a:t>personaje</a:t>
            </a:r>
            <a:r>
              <a:rPr dirty="0"/>
              <a:t> hay </a:t>
            </a:r>
            <a:r>
              <a:rPr dirty="0" err="1"/>
              <a:t>que</a:t>
            </a:r>
            <a:r>
              <a:rPr dirty="0"/>
              <a:t> </a:t>
            </a:r>
            <a:r>
              <a:rPr dirty="0" err="1"/>
              <a:t>crearlo</a:t>
            </a:r>
            <a:r>
              <a:rPr dirty="0"/>
              <a:t> </a:t>
            </a:r>
            <a:r>
              <a:rPr dirty="0" err="1"/>
              <a:t>en</a:t>
            </a:r>
            <a:r>
              <a:rPr dirty="0"/>
              <a:t> el </a:t>
            </a:r>
            <a:r>
              <a:rPr dirty="0" err="1"/>
              <a:t>laboratorio</a:t>
            </a:r>
            <a:r>
              <a:rPr dirty="0"/>
              <a:t>.</a:t>
            </a:r>
          </a:p>
          <a:p>
            <a:endParaRPr dirty="0"/>
          </a:p>
          <a:p>
            <a:r>
              <a:rPr dirty="0" err="1"/>
              <a:t>Aquí</a:t>
            </a:r>
            <a:r>
              <a:rPr dirty="0"/>
              <a:t> es </a:t>
            </a:r>
            <a:r>
              <a:rPr dirty="0" err="1"/>
              <a:t>donde</a:t>
            </a:r>
            <a:r>
              <a:rPr dirty="0"/>
              <a:t> </a:t>
            </a:r>
            <a:r>
              <a:rPr dirty="0" err="1"/>
              <a:t>conviene</a:t>
            </a:r>
            <a:r>
              <a:rPr dirty="0"/>
              <a:t> </a:t>
            </a:r>
            <a:r>
              <a:rPr dirty="0" err="1"/>
              <a:t>repetir</a:t>
            </a:r>
            <a:r>
              <a:rPr dirty="0"/>
              <a:t> la </a:t>
            </a:r>
            <a:r>
              <a:rPr dirty="0" err="1"/>
              <a:t>regla</a:t>
            </a:r>
            <a:r>
              <a:rPr dirty="0"/>
              <a:t> 1: la </a:t>
            </a:r>
            <a:r>
              <a:rPr dirty="0" err="1"/>
              <a:t>foto</a:t>
            </a:r>
            <a:r>
              <a:rPr dirty="0"/>
              <a:t> es </a:t>
            </a:r>
            <a:r>
              <a:rPr dirty="0" err="1"/>
              <a:t>tuya</a:t>
            </a:r>
            <a:r>
              <a:rPr dirty="0"/>
              <a:t>, de </a:t>
            </a:r>
            <a:r>
              <a:rPr dirty="0" err="1"/>
              <a:t>nadie</a:t>
            </a:r>
            <a:r>
              <a:rPr dirty="0"/>
              <a:t> </a:t>
            </a:r>
            <a:r>
              <a:rPr dirty="0" err="1"/>
              <a:t>más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EL PASO CENTRAL. </a:t>
            </a:r>
            <a:r>
              <a:rPr dirty="0" err="1"/>
              <a:t>Aquí</a:t>
            </a:r>
            <a:r>
              <a:rPr dirty="0"/>
              <a:t> se </a:t>
            </a:r>
            <a:r>
              <a:rPr dirty="0" err="1"/>
              <a:t>va</a:t>
            </a:r>
            <a:r>
              <a:rPr dirty="0"/>
              <a:t> la mayor </a:t>
            </a:r>
            <a:r>
              <a:rPr dirty="0" err="1"/>
              <a:t>parte</a:t>
            </a:r>
            <a:r>
              <a:rPr dirty="0"/>
              <a:t> de la </a:t>
            </a:r>
            <a:r>
              <a:rPr dirty="0" err="1"/>
              <a:t>clase</a:t>
            </a:r>
            <a:r>
              <a:rPr dirty="0"/>
              <a:t>.</a:t>
            </a:r>
          </a:p>
          <a:p>
            <a:endParaRPr dirty="0"/>
          </a:p>
          <a:p>
            <a:r>
              <a:rPr dirty="0"/>
              <a:t>PARA CADA CLIP, EN FLOW:</a:t>
            </a:r>
          </a:p>
          <a:p>
            <a:r>
              <a:rPr dirty="0"/>
              <a:t>1. </a:t>
            </a:r>
            <a:r>
              <a:rPr dirty="0" err="1"/>
              <a:t>Botón</a:t>
            </a:r>
            <a:r>
              <a:rPr dirty="0"/>
              <a:t> + </a:t>
            </a:r>
            <a:r>
              <a:rPr dirty="0" err="1"/>
              <a:t>debajo</a:t>
            </a:r>
            <a:r>
              <a:rPr dirty="0"/>
              <a:t> del </a:t>
            </a:r>
            <a:r>
              <a:rPr dirty="0" err="1"/>
              <a:t>cuadro</a:t>
            </a:r>
            <a:r>
              <a:rPr dirty="0"/>
              <a:t> de </a:t>
            </a:r>
            <a:r>
              <a:rPr dirty="0" err="1"/>
              <a:t>texto</a:t>
            </a:r>
            <a:r>
              <a:rPr dirty="0"/>
              <a:t>.</a:t>
            </a:r>
          </a:p>
          <a:p>
            <a:r>
              <a:rPr dirty="0"/>
              <a:t>2. </a:t>
            </a:r>
            <a:r>
              <a:rPr dirty="0" err="1"/>
              <a:t>Eligen</a:t>
            </a:r>
            <a:r>
              <a:rPr dirty="0"/>
              <a:t> </a:t>
            </a:r>
            <a:r>
              <a:rPr dirty="0" err="1"/>
              <a:t>su</a:t>
            </a:r>
            <a:r>
              <a:rPr dirty="0"/>
              <a:t> </a:t>
            </a:r>
            <a:r>
              <a:rPr dirty="0" err="1"/>
              <a:t>personaje</a:t>
            </a:r>
            <a:r>
              <a:rPr dirty="0"/>
              <a:t> de la </a:t>
            </a:r>
            <a:r>
              <a:rPr dirty="0" err="1"/>
              <a:t>lista</a:t>
            </a:r>
            <a:r>
              <a:rPr dirty="0"/>
              <a:t> y le dan «</a:t>
            </a:r>
            <a:r>
              <a:rPr dirty="0" err="1"/>
              <a:t>Agregar</a:t>
            </a:r>
            <a:r>
              <a:rPr dirty="0"/>
              <a:t> a la </a:t>
            </a:r>
            <a:r>
              <a:rPr dirty="0" err="1"/>
              <a:t>instrucción</a:t>
            </a:r>
            <a:r>
              <a:rPr dirty="0"/>
              <a:t>».</a:t>
            </a:r>
          </a:p>
          <a:p>
            <a:r>
              <a:rPr dirty="0"/>
              <a:t>3. </a:t>
            </a:r>
            <a:r>
              <a:rPr dirty="0" err="1"/>
              <a:t>Escriben</a:t>
            </a:r>
            <a:r>
              <a:rPr dirty="0"/>
              <a:t> el prompt.</a:t>
            </a:r>
          </a:p>
          <a:p>
            <a:endParaRPr dirty="0"/>
          </a:p>
          <a:p>
            <a:r>
              <a:rPr dirty="0"/>
              <a:t>PROMPT (solo cambia la </a:t>
            </a:r>
            <a:r>
              <a:rPr dirty="0" err="1"/>
              <a:t>frase</a:t>
            </a:r>
            <a:r>
              <a:rPr dirty="0"/>
              <a:t>):</a:t>
            </a:r>
          </a:p>
          <a:p>
            <a:r>
              <a:rPr dirty="0"/>
              <a:t>«Este </a:t>
            </a:r>
            <a:r>
              <a:rPr dirty="0" err="1"/>
              <a:t>personaje</a:t>
            </a:r>
            <a:r>
              <a:rPr dirty="0"/>
              <a:t> </a:t>
            </a:r>
            <a:r>
              <a:rPr dirty="0" err="1"/>
              <a:t>mira</a:t>
            </a:r>
            <a:r>
              <a:rPr dirty="0"/>
              <a:t> a la </a:t>
            </a:r>
            <a:r>
              <a:rPr dirty="0" err="1"/>
              <a:t>cámara</a:t>
            </a:r>
            <a:r>
              <a:rPr dirty="0"/>
              <a:t> y dice </a:t>
            </a:r>
            <a:r>
              <a:rPr dirty="0" err="1"/>
              <a:t>en</a:t>
            </a:r>
            <a:r>
              <a:rPr dirty="0"/>
              <a:t> </a:t>
            </a:r>
            <a:r>
              <a:rPr dirty="0" err="1"/>
              <a:t>español</a:t>
            </a:r>
            <a:r>
              <a:rPr dirty="0"/>
              <a:t> </a:t>
            </a:r>
            <a:r>
              <a:rPr dirty="0" err="1"/>
              <a:t>latinoamericano</a:t>
            </a:r>
            <a:r>
              <a:rPr dirty="0"/>
              <a:t>, tono </a:t>
            </a:r>
            <a:r>
              <a:rPr dirty="0" err="1"/>
              <a:t>cercano</a:t>
            </a:r>
            <a:r>
              <a:rPr dirty="0"/>
              <a:t> y </a:t>
            </a:r>
            <a:r>
              <a:rPr dirty="0" err="1"/>
              <a:t>pausado</a:t>
            </a:r>
            <a:r>
              <a:rPr dirty="0"/>
              <a:t>: "[</a:t>
            </a:r>
            <a:r>
              <a:rPr dirty="0" err="1"/>
              <a:t>una</a:t>
            </a:r>
            <a:r>
              <a:rPr dirty="0"/>
              <a:t> de sus </a:t>
            </a:r>
            <a:r>
              <a:rPr dirty="0" err="1"/>
              <a:t>frases</a:t>
            </a:r>
            <a:r>
              <a:rPr dirty="0"/>
              <a:t>]". Plano medio. Cámara </a:t>
            </a:r>
            <a:r>
              <a:rPr dirty="0" err="1"/>
              <a:t>fija</a:t>
            </a:r>
            <a:r>
              <a:rPr dirty="0"/>
              <a:t>. Sin </a:t>
            </a:r>
            <a:r>
              <a:rPr dirty="0" err="1"/>
              <a:t>texto</a:t>
            </a:r>
            <a:r>
              <a:rPr dirty="0"/>
              <a:t> </a:t>
            </a:r>
            <a:r>
              <a:rPr dirty="0" err="1"/>
              <a:t>en</a:t>
            </a:r>
            <a:r>
              <a:rPr dirty="0"/>
              <a:t> </a:t>
            </a:r>
            <a:r>
              <a:rPr dirty="0" err="1"/>
              <a:t>pantalla</a:t>
            </a:r>
            <a:r>
              <a:rPr dirty="0"/>
              <a:t>.»</a:t>
            </a:r>
          </a:p>
          <a:p>
            <a:endParaRPr dirty="0"/>
          </a:p>
          <a:p>
            <a:r>
              <a:rPr dirty="0"/>
              <a:t>EL ERROR QUE VA A PASAR Y HAY QUE ANTICIPAR: </a:t>
            </a:r>
            <a:r>
              <a:rPr dirty="0" err="1"/>
              <a:t>si</a:t>
            </a:r>
            <a:r>
              <a:rPr dirty="0"/>
              <a:t> solo ESCRIBEN «</a:t>
            </a:r>
            <a:r>
              <a:rPr dirty="0" err="1"/>
              <a:t>usa</a:t>
            </a:r>
            <a:r>
              <a:rPr dirty="0"/>
              <a:t> el </a:t>
            </a:r>
            <a:r>
              <a:rPr dirty="0" err="1"/>
              <a:t>personaje</a:t>
            </a:r>
            <a:r>
              <a:rPr dirty="0"/>
              <a:t> </a:t>
            </a:r>
            <a:r>
              <a:rPr dirty="0" err="1"/>
              <a:t>que</a:t>
            </a:r>
            <a:r>
              <a:rPr dirty="0"/>
              <a:t> </a:t>
            </a:r>
            <a:r>
              <a:rPr dirty="0" err="1"/>
              <a:t>acabo</a:t>
            </a:r>
            <a:r>
              <a:rPr dirty="0"/>
              <a:t> de </a:t>
            </a:r>
            <a:r>
              <a:rPr dirty="0" err="1"/>
              <a:t>crear</a:t>
            </a:r>
            <a:r>
              <a:rPr dirty="0"/>
              <a:t>», Flow genera OTRA PERSONA. Lo </a:t>
            </a:r>
            <a:r>
              <a:rPr dirty="0" err="1"/>
              <a:t>comprobé</a:t>
            </a:r>
            <a:r>
              <a:rPr dirty="0"/>
              <a:t>: </a:t>
            </a:r>
            <a:r>
              <a:rPr dirty="0" err="1"/>
              <a:t>salió</a:t>
            </a:r>
            <a:r>
              <a:rPr dirty="0"/>
              <a:t> un </a:t>
            </a:r>
            <a:r>
              <a:rPr dirty="0" err="1"/>
              <a:t>señor</a:t>
            </a:r>
            <a:r>
              <a:rPr dirty="0"/>
              <a:t> </a:t>
            </a:r>
            <a:r>
              <a:rPr dirty="0" err="1"/>
              <a:t>parecido</a:t>
            </a:r>
            <a:r>
              <a:rPr dirty="0"/>
              <a:t> </a:t>
            </a:r>
            <a:r>
              <a:rPr dirty="0" err="1"/>
              <a:t>pero</a:t>
            </a:r>
            <a:r>
              <a:rPr dirty="0"/>
              <a:t> con </a:t>
            </a:r>
            <a:r>
              <a:rPr dirty="0" err="1"/>
              <a:t>otra</a:t>
            </a:r>
            <a:r>
              <a:rPr dirty="0"/>
              <a:t> </a:t>
            </a:r>
            <a:r>
              <a:rPr dirty="0" err="1"/>
              <a:t>cara</a:t>
            </a:r>
            <a:r>
              <a:rPr dirty="0"/>
              <a:t>. Hay </a:t>
            </a:r>
            <a:r>
              <a:rPr dirty="0" err="1"/>
              <a:t>que</a:t>
            </a:r>
            <a:r>
              <a:rPr dirty="0"/>
              <a:t> ADJUNTARLO con el </a:t>
            </a:r>
            <a:r>
              <a:rPr dirty="0" err="1"/>
              <a:t>botón</a:t>
            </a:r>
            <a:r>
              <a:rPr dirty="0"/>
              <a:t> +. Cuando </a:t>
            </a:r>
            <a:r>
              <a:rPr dirty="0" err="1"/>
              <a:t>está</a:t>
            </a:r>
            <a:r>
              <a:rPr dirty="0"/>
              <a:t> bien, Flow </a:t>
            </a:r>
            <a:r>
              <a:rPr dirty="0" err="1"/>
              <a:t>responde</a:t>
            </a:r>
            <a:r>
              <a:rPr dirty="0"/>
              <a:t> </a:t>
            </a:r>
            <a:r>
              <a:rPr dirty="0" err="1"/>
              <a:t>que</a:t>
            </a:r>
            <a:r>
              <a:rPr dirty="0"/>
              <a:t> </a:t>
            </a:r>
            <a:r>
              <a:rPr dirty="0" err="1"/>
              <a:t>va</a:t>
            </a:r>
            <a:r>
              <a:rPr dirty="0"/>
              <a:t> a </a:t>
            </a:r>
            <a:r>
              <a:rPr dirty="0" err="1"/>
              <a:t>generar</a:t>
            </a:r>
            <a:r>
              <a:rPr dirty="0"/>
              <a:t> «</a:t>
            </a:r>
            <a:r>
              <a:rPr dirty="0" err="1"/>
              <a:t>utilizando</a:t>
            </a:r>
            <a:r>
              <a:rPr dirty="0"/>
              <a:t> la </a:t>
            </a:r>
            <a:r>
              <a:rPr dirty="0" err="1"/>
              <a:t>entidad</a:t>
            </a:r>
            <a:r>
              <a:rPr dirty="0"/>
              <a:t> del </a:t>
            </a:r>
            <a:r>
              <a:rPr dirty="0" err="1"/>
              <a:t>personaje</a:t>
            </a:r>
            <a:r>
              <a:rPr dirty="0"/>
              <a:t> </a:t>
            </a:r>
            <a:r>
              <a:rPr dirty="0" err="1"/>
              <a:t>referenciada</a:t>
            </a:r>
            <a:r>
              <a:rPr dirty="0"/>
              <a:t>»: </a:t>
            </a:r>
            <a:r>
              <a:rPr dirty="0" err="1"/>
              <a:t>que</a:t>
            </a:r>
            <a:r>
              <a:rPr dirty="0"/>
              <a:t> lo </a:t>
            </a:r>
            <a:r>
              <a:rPr dirty="0" err="1"/>
              <a:t>verifiquen</a:t>
            </a:r>
            <a:r>
              <a:rPr dirty="0"/>
              <a:t> </a:t>
            </a:r>
            <a:r>
              <a:rPr dirty="0" err="1"/>
              <a:t>en</a:t>
            </a:r>
            <a:r>
              <a:rPr dirty="0"/>
              <a:t> </a:t>
            </a:r>
            <a:r>
              <a:rPr dirty="0" err="1"/>
              <a:t>esa</a:t>
            </a:r>
            <a:r>
              <a:rPr dirty="0"/>
              <a:t> </a:t>
            </a:r>
            <a:r>
              <a:rPr dirty="0" err="1"/>
              <a:t>frase</a:t>
            </a:r>
            <a:r>
              <a:rPr dirty="0"/>
              <a:t>.</a:t>
            </a:r>
          </a:p>
          <a:p>
            <a:endParaRPr dirty="0"/>
          </a:p>
          <a:p>
            <a:r>
              <a:rPr dirty="0"/>
              <a:t>LOS CRÉDITOS: 50 al día, 10 </a:t>
            </a:r>
            <a:r>
              <a:rPr dirty="0" err="1"/>
              <a:t>por</a:t>
            </a:r>
            <a:r>
              <a:rPr dirty="0"/>
              <a:t> clip de 8 </a:t>
            </a:r>
            <a:r>
              <a:rPr dirty="0" err="1"/>
              <a:t>segundos</a:t>
            </a:r>
            <a:r>
              <a:rPr dirty="0"/>
              <a:t>. Cuatro clips y </a:t>
            </a:r>
            <a:r>
              <a:rPr dirty="0" err="1"/>
              <a:t>queda</a:t>
            </a:r>
            <a:r>
              <a:rPr dirty="0"/>
              <a:t> uno de </a:t>
            </a:r>
            <a:r>
              <a:rPr dirty="0" err="1"/>
              <a:t>repuesto</a:t>
            </a:r>
            <a:r>
              <a:rPr dirty="0"/>
              <a:t>.</a:t>
            </a:r>
          </a:p>
          <a:p>
            <a:endParaRPr dirty="0"/>
          </a:p>
          <a:p>
            <a:r>
              <a:rPr dirty="0"/>
              <a:t>VEO 3.1 LITE FALLA SEGUIDO: «Se </a:t>
            </a:r>
            <a:r>
              <a:rPr dirty="0" err="1"/>
              <a:t>produjo</a:t>
            </a:r>
            <a:r>
              <a:rPr dirty="0"/>
              <a:t> un error» me </a:t>
            </a:r>
            <a:r>
              <a:rPr dirty="0" err="1"/>
              <a:t>salió</a:t>
            </a:r>
            <a:r>
              <a:rPr dirty="0"/>
              <a:t> cuatro </a:t>
            </a:r>
            <a:r>
              <a:rPr dirty="0" err="1"/>
              <a:t>veces</a:t>
            </a:r>
            <a:r>
              <a:rPr dirty="0"/>
              <a:t>. Se le da </a:t>
            </a:r>
            <a:r>
              <a:rPr dirty="0" err="1"/>
              <a:t>Reintentar</a:t>
            </a:r>
            <a:r>
              <a:rPr dirty="0"/>
              <a:t>. Si se pone </a:t>
            </a:r>
            <a:r>
              <a:rPr dirty="0" err="1"/>
              <a:t>imposible</a:t>
            </a:r>
            <a:r>
              <a:rPr dirty="0"/>
              <a:t>, </a:t>
            </a:r>
            <a:r>
              <a:rPr dirty="0" err="1"/>
              <a:t>escribir</a:t>
            </a:r>
            <a:r>
              <a:rPr dirty="0"/>
              <a:t> «</a:t>
            </a:r>
            <a:r>
              <a:rPr dirty="0" err="1"/>
              <a:t>usa</a:t>
            </a:r>
            <a:r>
              <a:rPr dirty="0"/>
              <a:t> omni» cambia a Omni 1.1 Flash (</a:t>
            </a:r>
            <a:r>
              <a:rPr dirty="0" err="1"/>
              <a:t>más</a:t>
            </a:r>
            <a:r>
              <a:rPr dirty="0"/>
              <a:t> </a:t>
            </a:r>
            <a:r>
              <a:rPr dirty="0" err="1"/>
              <a:t>confiable</a:t>
            </a:r>
            <a:r>
              <a:rPr dirty="0"/>
              <a:t>, 10 </a:t>
            </a:r>
            <a:r>
              <a:rPr dirty="0" err="1"/>
              <a:t>segundos</a:t>
            </a:r>
            <a:r>
              <a:rPr dirty="0"/>
              <a:t>, </a:t>
            </a:r>
            <a:r>
              <a:rPr dirty="0" err="1"/>
              <a:t>pero</a:t>
            </a:r>
            <a:r>
              <a:rPr dirty="0"/>
              <a:t> 15 </a:t>
            </a:r>
            <a:r>
              <a:rPr dirty="0" err="1"/>
              <a:t>créditos</a:t>
            </a:r>
            <a:r>
              <a:rPr dirty="0"/>
              <a:t>: solo </a:t>
            </a:r>
            <a:r>
              <a:rPr dirty="0" err="1"/>
              <a:t>alcanzan</a:t>
            </a:r>
            <a:r>
              <a:rPr dirty="0"/>
              <a:t> </a:t>
            </a:r>
            <a:r>
              <a:rPr dirty="0" err="1"/>
              <a:t>tres</a:t>
            </a:r>
            <a:r>
              <a:rPr dirty="0"/>
              <a:t> clips). </a:t>
            </a:r>
            <a:r>
              <a:rPr dirty="0" err="1"/>
              <a:t>Advertirlo</a:t>
            </a:r>
            <a:r>
              <a:rPr dirty="0"/>
              <a:t> ANTES de </a:t>
            </a:r>
            <a:r>
              <a:rPr dirty="0" err="1"/>
              <a:t>soltarlos</a:t>
            </a:r>
            <a:r>
              <a:rPr dirty="0"/>
              <a:t>.</a:t>
            </a:r>
          </a:p>
          <a:p>
            <a:endParaRPr dirty="0"/>
          </a:p>
          <a:p>
            <a:r>
              <a:rPr dirty="0"/>
              <a:t>Cada clip </a:t>
            </a:r>
            <a:r>
              <a:rPr dirty="0" err="1"/>
              <a:t>tarda</a:t>
            </a:r>
            <a:r>
              <a:rPr dirty="0"/>
              <a:t> de dos a cuatro </a:t>
            </a:r>
            <a:r>
              <a:rPr dirty="0" err="1"/>
              <a:t>minutos</a:t>
            </a:r>
            <a:r>
              <a:rPr dirty="0"/>
              <a:t>. </a:t>
            </a:r>
            <a:r>
              <a:rPr dirty="0" err="1"/>
              <a:t>Que</a:t>
            </a:r>
            <a:r>
              <a:rPr dirty="0"/>
              <a:t> </a:t>
            </a:r>
            <a:r>
              <a:rPr dirty="0" err="1"/>
              <a:t>los</a:t>
            </a:r>
            <a:r>
              <a:rPr dirty="0"/>
              <a:t> </a:t>
            </a:r>
            <a:r>
              <a:rPr dirty="0" err="1"/>
              <a:t>lancen</a:t>
            </a:r>
            <a:r>
              <a:rPr dirty="0"/>
              <a:t> </a:t>
            </a:r>
            <a:r>
              <a:rPr dirty="0" err="1"/>
              <a:t>seguidos</a:t>
            </a:r>
            <a:r>
              <a:rPr dirty="0"/>
              <a:t>, no de a uno </a:t>
            </a:r>
            <a:r>
              <a:rPr dirty="0" err="1"/>
              <a:t>esperando</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UNIR LOS CLIPS. Hay dos caminos y conviene enseñar el primero.</a:t>
            </a:r>
          </a:p>
          <a:p>
            <a:endParaRPr/>
          </a:p>
          <a:p>
            <a:r>
              <a:t>EN FLOW, que es lo más simple: al abrir un clip aparece una línea de tiempo abajo. El botón + al final del clip ofrece «Agregar clip». Van añadiendo los cuatro en orden y descargan el resultado. Todo en la misma herramienta, sin salir.</a:t>
            </a:r>
          </a:p>
          <a:p>
            <a:endParaRPr/>
          </a:p>
          <a:p>
            <a:r>
              <a:t>DESCARGA: menú ⋮ del clip → Descargar → 720p. Las de 1080p y 4K piden plan.</a:t>
            </a:r>
          </a:p>
          <a:p>
            <a:endParaRPr/>
          </a:p>
          <a:p>
            <a:r>
              <a:t>SI EL MONTAJE DE FLOW NO LES APARECE O FALLA, ChatGPT los une igual de bien:</a:t>
            </a:r>
          </a:p>
          <a:p>
            <a:r>
              <a:t>«Une estos clips en un solo video, en este orden: clip1, clip2, clip3, clip4. Conserva el audio de cada uno. Déjame el archivo mp4 para descargar.»</a:t>
            </a:r>
          </a:p>
          <a:p>
            <a:r>
              <a:t>Tarda unos quince segundos. Recodifica, así que pierde algo de calidad: no se nota.</a:t>
            </a:r>
          </a:p>
          <a:p>
            <a:endParaRPr/>
          </a:p>
          <a:p>
            <a:r>
              <a:t>DATO PARA UNA BUENA PREGUNTA: Gemini NO puede unir videos (ejecuta código pero sin herramientas de video, y devuelve un comando de terminal), ChatGPT SÍ. ¿Por qué una IA puede y la otra no? No es «inteligencia»: son las herramientas que le conectaron. Es la misma idea de la sesión del asistente.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LOS REMATES, en CapCut sobre el video ya unido. Opcional, pero sube mucho el resultado.</a:t>
            </a:r>
          </a:p>
          <a:p>
            <a:endParaRPr/>
          </a:p>
          <a:p>
            <a:r>
              <a:t>1. Subtítulos automáticos. CapCut los saca del audio. REVISARLOS: siempre hay dos o tres palabras mal, y los nombres propios casi nunca salen bien.</a:t>
            </a:r>
          </a:p>
          <a:p>
            <a:r>
              <a:t>2. Música de fondo al 10 o 15 % del volumen. Si compite con la voz, está muy alta.</a:t>
            </a:r>
          </a:p>
          <a:p>
            <a:r>
              <a:t>3. Cortar los silencios entre clip y clip.</a:t>
            </a:r>
          </a:p>
          <a:p>
            <a:endParaRPr/>
          </a:p>
          <a:p>
            <a:r>
              <a:t>TRUCO PARA DECIR EN VOZ ALTA: música muy alta y subtítulos sin revisar son las dos marcas de un video amateur. Arreglar esas dos cosas sube el resultado más que cualquier efecto.</a:t>
            </a:r>
          </a:p>
          <a:p>
            <a:endParaRPr/>
          </a:p>
          <a:p>
            <a:r>
              <a:t>NOTA SOBRE LA VOZ: ya no hace falta un paso aparte. La voz va asignada al personaje desde el paso 2, y por eso suena igual en los cuatro clips. Si alguien quiere otra voz encima, ElevenLabs da unos 10 minutos gratis al mes, pero no es necesario.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LOS AVATARES DE FLOW. Vale la pena mencionarlo porque lo van a ver en el menú y van a preguntar.</a:t>
            </a:r>
          </a:p>
          <a:p>
            <a:endParaRPr/>
          </a:p>
          <a:p>
            <a:r>
              <a:t>Flow tiene una opción de Avatares que graba tu cara Y TU VOZ con una videoselfie, y después te pone a ti en los videos. Suena perfecta para esta sesión. El titular que usa Google es, literalmente, «Tu rostro, tu voz, tu historia».</a:t>
            </a:r>
          </a:p>
          <a:p>
            <a:endParaRPr/>
          </a:p>
          <a:p>
            <a:r>
              <a:t>PERO NO SIRVE TODAVÍA, y lo dice la propia herramienta:</a:t>
            </a:r>
          </a:p>
          <a:p>
            <a:r>
              <a:t>· Es una función EXPERIMENTAL.</a:t>
            </a:r>
          </a:p>
          <a:p>
            <a:r>
              <a:t>· El registro SOLO ESTÁ DISPONIBLE EN INGLÉS.</a:t>
            </a:r>
          </a:p>
          <a:p>
            <a:r>
              <a:t>· Avisa que «es posible que requiera varios intentos».</a:t>
            </a:r>
          </a:p>
          <a:p>
            <a:endParaRPr/>
          </a:p>
          <a:p>
            <a:r>
              <a:t>Con treinta estudiantes y una hora, es inviable. Personajes hace el trabajo y es gratis.</a:t>
            </a:r>
          </a:p>
          <a:p>
            <a:endParaRPr/>
          </a:p>
          <a:p>
            <a:r>
              <a:t>ESTE ES UN BUEN MOMENTO PARA UN PUNTO DE FONDO: estas herramientas cambian cada mes. Esta sesión se rehízo tres veces mientras se preparaba, porque lo que funcionaba una semana dejaba de funcionar la siguiente. No es un defecto de la clase: es el estado real del campo, y aprender a verificar antes de confiar es parte de lo que se llevan.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RUTA B. El plan para quien se quede sin créditos o para todo el salón si Flow no funciona ese día. Con 50 créditos y 10 por clip hay margen, pero los errores de Veo Lite se comen intentos.</a:t>
            </a:r>
          </a:p>
          <a:p>
            <a:endParaRPr/>
          </a:p>
          <a:p>
            <a:r>
              <a:t>Importante decirlo sin dramatismo: el video sale bien igual. Lo que pesa es lo bien contado, no el movimiento.</a:t>
            </a:r>
          </a:p>
          <a:p>
            <a:endParaRPr/>
          </a:p>
          <a:p>
            <a:r>
              <a:t>Los cuatro pasos:</a:t>
            </a:r>
          </a:p>
          <a:p>
            <a:r>
              <a:t>1. AMBIENTE: «Genera una imagen horizontal 16:9 de [el lugar]. Fotografía realista, luz natural suave. Sin personas. Sin texto. Deja espacio libre en el lado derecho.»</a:t>
            </a:r>
          </a:p>
          <a:p>
            <a:r>
              <a:t>2. PERSONAJE: «Con esta foto mía como referencia, genera un retrato de medio cuerpo del mismo personaje. Fondo gris liso y uniforme, sin sombras ni degradados. Formato vertical.» El fondo liso es lo que permite recortarlo.</a:t>
            </a:r>
          </a:p>
          <a:p>
            <a:r>
              <a:t>3. VOZ: ElevenLabs con el guion completo.</a:t>
            </a:r>
          </a:p>
          <a:p>
            <a:r>
              <a:t>4. MONTAJE en CapCut: ambiente de fondo, avatar encima con «quitar fondo», la voz debajo, subtítulos, y un zoom lento sobre la imagen para que algo quieto se vea vivo.</a:t>
            </a:r>
          </a:p>
          <a:p>
            <a:endParaRPr/>
          </a:p>
          <a:p>
            <a:r>
              <a:t>Todo esto funciona en cualquier cuenta y sin cupos.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EJEMPLO. Desarmarlo en vivo mostrando las piezas.</a:t>
            </a:r>
          </a:p>
          <a:p>
            <a:endParaRPr/>
          </a:p>
          <a:p>
            <a:r>
              <a:t>Tema: qué es la inteligencia artificial y cómo se entrena, para gente de áreas no ingenieriles.</a:t>
            </a:r>
          </a:p>
          <a:p>
            <a:endParaRPr/>
          </a:p>
          <a:p>
            <a:r>
              <a:t>EL GUION COMPLETO. El ejemplo que se proyecta son las dos primeras frases; a ellos se les piden cuatro. Dejo las seis por si quieres mostrar la versión larga:</a:t>
            </a:r>
          </a:p>
          <a:p>
            <a:r>
              <a:t>1. «¿Alguna vez le enseñaste algo a un niño mostrándole ejemplos? Así se entrena la inteligencia artificial.»</a:t>
            </a:r>
          </a:p>
          <a:p>
            <a:r>
              <a:t>2. «Nadie le explica las reglas. Le muestran miles de fotos de perros, hasta que reconoce uno que nunca había visto.»</a:t>
            </a:r>
          </a:p>
          <a:p>
            <a:r>
              <a:t>3. «Nadie le dijo que un perro tiene cuatro patas. Lo fue deduciendo de los ejemplos que le pusieron enfrente.»</a:t>
            </a:r>
          </a:p>
          <a:p>
            <a:r>
              <a:t>4. «Por eso aprende lo que le mostramos. Y también aprende nuestros errores, sin que nadie se lo proponga.»</a:t>
            </a:r>
          </a:p>
          <a:p>
            <a:r>
              <a:t>5. «Si solo le mostramos un tipo de perro, se equivoca con todos los demás. No por maldad: por falta de ejemplos.»</a:t>
            </a:r>
          </a:p>
          <a:p>
            <a:r>
              <a:t>6. «Entonces la pregunta no es qué puede hacer la inteligencia artificial. Es qué ejemplos le estamos mostrando nosotros.»</a:t>
            </a:r>
          </a:p>
          <a:p>
            <a:endParaRPr/>
          </a:p>
          <a:p>
            <a:r>
              <a:t>PROMPT DE CADA CLIP (cambiando solo la frase):</a:t>
            </a:r>
          </a:p>
          <a:p>
            <a:r>
              <a:t>«La persona de la foto, en plano medio dentro de un salón de clase universitario vacío con luz natural suave. Mira a la cámara y dice en español latinoamericano, tono cercano y pausado: «[la frase]». Cámara fija, sin texto en pantalla.»</a:t>
            </a:r>
          </a:p>
          <a:p>
            <a:endParaRPr/>
          </a:p>
          <a:p>
            <a:r>
              <a:t>MOSTRAR QUE EL PERSONAJE SE MANTIENE: misma cara, misma camisa, mismo salón en los dos clips. Eso lo logra adjuntar la misma foto, nada más.</a:t>
            </a:r>
          </a:p>
          <a:p>
            <a:endParaRPr/>
          </a:p>
          <a:p>
            <a:r>
              <a:t>Si quieres las cuatro frases justas para el encargo de clase, usa la 1, la 2, la 5 y la 6: enganchan, explican, muestran la consecuencia y cierran con pregunta.</a:t>
            </a:r>
          </a:p>
          <a:p>
            <a:endParaRPr/>
          </a:p>
          <a:p>
            <a:r>
              <a:t>OJO AL DESARMARLO: el ejemplo está hecho con la app de Gemini adjuntando una foto en cada clip, que era la ruta anterior. Ellos van a usar Personajes en Flow, que es más fácil. Dilo, para que no intenten copiar el procedimiento del ejemplo.</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ENCARGO. Leerlo y soltarlos a trabajar.</a:t>
            </a:r>
          </a:p>
          <a:p>
            <a:endParaRPr/>
          </a:p>
          <a:p>
            <a:r>
              <a:t>Dos opciones de tema, para que nadie se quede en blanco:</a:t>
            </a:r>
          </a:p>
          <a:p>
            <a:r>
              <a:t>· Qué hace alguien de tu carrera un día normal de trabajo.</a:t>
            </a:r>
          </a:p>
          <a:p>
            <a:r>
              <a:t>· Un concepto que a ti te costó entender, explicado como te hubiera gustado que te lo explicaran.</a:t>
            </a:r>
          </a:p>
          <a:p>
            <a:endParaRPr/>
          </a:p>
          <a:p>
            <a:r>
              <a:t>La segunda suele dar mejores videos: hay algo personal adentro.</a:t>
            </a:r>
          </a:p>
          <a:p>
            <a:endParaRPr/>
          </a:p>
          <a:p>
            <a:r>
              <a:t>Mientras circulas, lo que más vas a tener que decir:</a:t>
            </a:r>
          </a:p>
          <a:p>
            <a:r>
              <a:t>· «Devuélvete al guion» — a quien empezó por los clips.</a:t>
            </a:r>
          </a:p>
          <a:p>
            <a:r>
              <a:t>· «Cuenta las palabras» — a quien metió cuarenta en una frase de diez segundos.</a:t>
            </a:r>
          </a:p>
          <a:p>
            <a:r>
              <a:t>· «Adjunta el personaje, no lo escribas» — a quien le salieron personas distintas.</a:t>
            </a:r>
          </a:p>
          <a:p>
            <a:r>
              <a:t>· «Dale Reintentar» — a quien le salió «Se produjo un error». Pasa seguido.</a:t>
            </a:r>
          </a:p>
          <a:p>
            <a:r>
              <a:t>· «¿Dónde creaste el personaje?» — a quien le sale siempre el mismo fondo equivocado.</a:t>
            </a:r>
          </a:p>
          <a:p>
            <a:r>
              <a:t>· «Revisa los subtítulos» — a todos.</a:t>
            </a:r>
          </a:p>
          <a:p>
            <a:endParaRPr/>
          </a:p>
          <a:p>
            <a:r>
              <a:t>Y para quien no tenga cupo: Ruta B, sin drama.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Cierre corto.</a:t>
            </a:r>
          </a:p>
          <a:p>
            <a:endParaRPr/>
          </a:p>
          <a:p>
            <a:r>
              <a:t>Que tres o cuatro proyecten lo suyo. No pedir voluntarios al aire: durante la clase, identificar dos o tres que vayan bien y pedírselo con anticipación.</a:t>
            </a:r>
          </a:p>
          <a:p>
            <a:endParaRPr/>
          </a:p>
          <a:p>
            <a:r>
              <a:t>Preguntas para cerrar:</a:t>
            </a:r>
          </a:p>
          <a:p>
            <a:r>
              <a:t>· ¿Qué parte costó más? (casi siempre: partir el guion, no la tecnología)</a:t>
            </a:r>
          </a:p>
          <a:p>
            <a:r>
              <a:t>· ¿En qué se nota que es IA?</a:t>
            </a:r>
          </a:p>
          <a:p>
            <a:r>
              <a:t>· Hoy pusiste tu cara a decir algo que tú escribiste. ¿Qué pasaría si alguien pusiera tu cara a decir algo que tú no escribiste?</a:t>
            </a:r>
          </a:p>
          <a:p>
            <a:endParaRPr/>
          </a:p>
          <a:p>
            <a:r>
              <a:t>La última conecta directo con la sesión de ética y deepfakes. Déjala sin responder; se responde la próxima clase.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_ucaldas.png"/>
          <p:cNvPicPr>
            <a:picLocks noChangeAspect="1"/>
          </p:cNvPicPr>
          <p:nvPr/>
        </p:nvPicPr>
        <p:blipFill>
          <a:blip r:embed="rId3"/>
          <a:stretch>
            <a:fillRect/>
          </a:stretch>
        </p:blipFill>
        <p:spPr>
          <a:xfrm>
            <a:off x="777240" y="457200"/>
            <a:ext cx="1946298" cy="475488"/>
          </a:xfrm>
          <a:prstGeom prst="rect">
            <a:avLst/>
          </a:prstGeom>
        </p:spPr>
      </p:pic>
      <p:sp>
        <p:nvSpPr>
          <p:cNvPr id="4" name="TextBox 3"/>
          <p:cNvSpPr txBox="1"/>
          <p:nvPr/>
        </p:nvSpPr>
        <p:spPr>
          <a:xfrm>
            <a:off x="804672" y="1024128"/>
            <a:ext cx="6400800" cy="274320"/>
          </a:xfrm>
          <a:prstGeom prst="rect">
            <a:avLst/>
          </a:prstGeom>
          <a:noFill/>
        </p:spPr>
        <p:txBody>
          <a:bodyPr wrap="square" lIns="0" tIns="0" rIns="0" bIns="0">
            <a:spAutoFit/>
          </a:bodyPr>
          <a:lstStyle/>
          <a:p>
            <a:pPr algn="l">
              <a:spcAft>
                <a:spcPts val="600"/>
              </a:spcAft>
            </a:pPr>
            <a:r>
              <a:rPr sz="1000" b="1">
                <a:solidFill>
                  <a:srgbClr val="ED7623"/>
                </a:solidFill>
                <a:latin typeface="Helvetica Neue"/>
              </a:rPr>
              <a:t>FACULTAD DE INTELIGENCIA ARTIFICIAL E INGENIERÍAS</a:t>
            </a:r>
          </a:p>
        </p:txBody>
      </p:sp>
      <p:sp>
        <p:nvSpPr>
          <p:cNvPr id="5" name="TextBox 4"/>
          <p:cNvSpPr txBox="1"/>
          <p:nvPr/>
        </p:nvSpPr>
        <p:spPr>
          <a:xfrm>
            <a:off x="822960" y="2103120"/>
            <a:ext cx="7315200" cy="457200"/>
          </a:xfrm>
          <a:prstGeom prst="rect">
            <a:avLst/>
          </a:prstGeom>
          <a:noFill/>
        </p:spPr>
        <p:txBody>
          <a:bodyPr wrap="square" lIns="0" tIns="0" rIns="0" bIns="0">
            <a:spAutoFit/>
          </a:bodyPr>
          <a:lstStyle/>
          <a:p>
            <a:pPr algn="l">
              <a:spcAft>
                <a:spcPts val="600"/>
              </a:spcAft>
            </a:pPr>
            <a:r>
              <a:rPr sz="1300" b="1">
                <a:solidFill>
                  <a:srgbClr val="35789C"/>
                </a:solidFill>
                <a:latin typeface="Helvetica Neue"/>
              </a:rPr>
              <a:t>SESIÓN 6 · INTRODUCCIÓN A LA INFORMÁTICA</a:t>
            </a:r>
          </a:p>
        </p:txBody>
      </p:sp>
      <p:sp>
        <p:nvSpPr>
          <p:cNvPr id="6" name="TextBox 5"/>
          <p:cNvSpPr txBox="1"/>
          <p:nvPr/>
        </p:nvSpPr>
        <p:spPr>
          <a:xfrm>
            <a:off x="822960" y="2651760"/>
            <a:ext cx="7863840" cy="2377440"/>
          </a:xfrm>
          <a:prstGeom prst="rect">
            <a:avLst/>
          </a:prstGeom>
          <a:noFill/>
        </p:spPr>
        <p:txBody>
          <a:bodyPr wrap="square" lIns="0" tIns="0" rIns="0" bIns="0">
            <a:spAutoFit/>
          </a:bodyPr>
          <a:lstStyle/>
          <a:p>
            <a:pPr algn="l">
              <a:lnSpc>
                <a:spcPct val="95000"/>
              </a:lnSpc>
              <a:spcAft>
                <a:spcPts val="0"/>
              </a:spcAft>
            </a:pPr>
            <a:r>
              <a:rPr sz="5600" b="1">
                <a:solidFill>
                  <a:srgbClr val="11406E"/>
                </a:solidFill>
                <a:latin typeface="Helvetica Neue"/>
              </a:rPr>
              <a:t>Tu voz,</a:t>
            </a:r>
          </a:p>
          <a:p>
            <a:pPr algn="l">
              <a:lnSpc>
                <a:spcPct val="95000"/>
              </a:lnSpc>
              <a:spcAft>
                <a:spcPts val="0"/>
              </a:spcAft>
            </a:pPr>
            <a:r>
              <a:rPr sz="5600" b="1">
                <a:solidFill>
                  <a:srgbClr val="ED7623"/>
                </a:solidFill>
                <a:latin typeface="Helvetica Neue"/>
              </a:rPr>
              <a:t>tu cara</a:t>
            </a:r>
          </a:p>
          <a:p>
            <a:pPr algn="l">
              <a:lnSpc>
                <a:spcPct val="95000"/>
              </a:lnSpc>
              <a:spcAft>
                <a:spcPts val="0"/>
              </a:spcAft>
            </a:pPr>
            <a:r>
              <a:rPr sz="5600" b="1">
                <a:solidFill>
                  <a:srgbClr val="11406E"/>
                </a:solidFill>
                <a:latin typeface="Helvetica Neue"/>
              </a:rPr>
              <a:t>y tu historia</a:t>
            </a:r>
          </a:p>
        </p:txBody>
      </p:sp>
      <p:sp>
        <p:nvSpPr>
          <p:cNvPr id="7" name="TextBox 6"/>
          <p:cNvSpPr txBox="1"/>
          <p:nvPr/>
        </p:nvSpPr>
        <p:spPr>
          <a:xfrm>
            <a:off x="822960" y="5303520"/>
            <a:ext cx="8229600" cy="822960"/>
          </a:xfrm>
          <a:prstGeom prst="rect">
            <a:avLst/>
          </a:prstGeom>
          <a:noFill/>
        </p:spPr>
        <p:txBody>
          <a:bodyPr wrap="square" lIns="0" tIns="0" rIns="0" bIns="0">
            <a:spAutoFit/>
          </a:bodyPr>
          <a:lstStyle/>
          <a:p>
            <a:pPr algn="l">
              <a:lnSpc>
                <a:spcPct val="120000"/>
              </a:lnSpc>
              <a:spcAft>
                <a:spcPts val="600"/>
              </a:spcAft>
            </a:pPr>
            <a:r>
              <a:rPr sz="1900" b="0">
                <a:solidFill>
                  <a:srgbClr val="6E6E6E"/>
                </a:solidFill>
                <a:latin typeface="Helvetica Neue"/>
              </a:rPr>
              <a:t>Cuatro clips de ocho segundos y medio minuto de video con un personaje tuyo</a:t>
            </a:r>
          </a:p>
        </p:txBody>
      </p:sp>
      <p:sp>
        <p:nvSpPr>
          <p:cNvPr id="8" name="TextBox 7"/>
          <p:cNvSpPr txBox="1"/>
          <p:nvPr/>
        </p:nvSpPr>
        <p:spPr>
          <a:xfrm>
            <a:off x="9326880" y="2651760"/>
            <a:ext cx="2194560" cy="2377440"/>
          </a:xfrm>
          <a:prstGeom prst="rect">
            <a:avLst/>
          </a:prstGeom>
          <a:noFill/>
        </p:spPr>
        <p:txBody>
          <a:bodyPr wrap="square" lIns="0" tIns="0" rIns="0" bIns="0">
            <a:spAutoFit/>
          </a:bodyPr>
          <a:lstStyle/>
          <a:p>
            <a:pPr algn="l">
              <a:spcAft>
                <a:spcPts val="400"/>
              </a:spcAft>
            </a:pPr>
            <a:r>
              <a:rPr sz="5400" b="0">
                <a:solidFill>
                  <a:srgbClr val="11406E"/>
                </a:solidFill>
                <a:latin typeface="Helvetica Neue"/>
              </a:rPr>
              <a:t>🎬</a:t>
            </a:r>
          </a:p>
          <a:p>
            <a:pPr algn="l">
              <a:spcAft>
                <a:spcPts val="400"/>
              </a:spcAft>
            </a:pPr>
            <a:r>
              <a:rPr sz="5400" b="0">
                <a:solidFill>
                  <a:srgbClr val="11406E"/>
                </a:solidFill>
                <a:latin typeface="Helvetica Neue"/>
              </a:rPr>
              <a:t>🧑</a:t>
            </a:r>
          </a:p>
          <a:p>
            <a:pPr algn="l">
              <a:spcAft>
                <a:spcPts val="400"/>
              </a:spcAft>
            </a:pPr>
            <a:r>
              <a:rPr sz="5400" b="0">
                <a:solidFill>
                  <a:srgbClr val="11406E"/>
                </a:solidFill>
                <a:latin typeface="Helvetica Neue"/>
              </a:rPr>
              <a:t>🔗</a:t>
            </a:r>
          </a:p>
        </p:txBody>
      </p:sp>
      <p:sp>
        <p:nvSpPr>
          <p:cNvPr id="9" name="TextBox 8"/>
          <p:cNvSpPr txBox="1"/>
          <p:nvPr/>
        </p:nvSpPr>
        <p:spPr>
          <a:xfrm>
            <a:off x="822960" y="6172200"/>
            <a:ext cx="10515600" cy="457200"/>
          </a:xfrm>
          <a:prstGeom prst="rect">
            <a:avLst/>
          </a:prstGeom>
          <a:noFill/>
        </p:spPr>
        <p:txBody>
          <a:bodyPr wrap="square" lIns="0" tIns="0" rIns="0" bIns="0">
            <a:spAutoFit/>
          </a:bodyPr>
          <a:lstStyle/>
          <a:p>
            <a:pPr algn="l">
              <a:spcAft>
                <a:spcPts val="600"/>
              </a:spcAft>
            </a:pPr>
            <a:r>
              <a:rPr sz="1300" b="0">
                <a:solidFill>
                  <a:srgbClr val="6E6E6E"/>
                </a:solidFill>
                <a:latin typeface="Helvetica Neue"/>
              </a:rPr>
              <a:t>Universidad de Caldas · 2026-2 · Todo con herramientas gratuitas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ED7623"/>
                </a:solidFill>
                <a:latin typeface="Helvetica Neue"/>
              </a:rPr>
              <a:t>ANTES DE TOCAR NADA</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4000" b="1">
                <a:solidFill>
                  <a:srgbClr val="11406E"/>
                </a:solidFill>
                <a:latin typeface="Helvetica Neue"/>
              </a:rPr>
              <a:t>¿Cómo aprendió a hacer esto?</a:t>
            </a:r>
          </a:p>
        </p:txBody>
      </p:sp>
      <p:sp>
        <p:nvSpPr>
          <p:cNvPr id="5" name="TextBox 4"/>
          <p:cNvSpPr txBox="1"/>
          <p:nvPr/>
        </p:nvSpPr>
        <p:spPr>
          <a:xfrm>
            <a:off x="822960" y="2148840"/>
            <a:ext cx="10515600" cy="822960"/>
          </a:xfrm>
          <a:prstGeom prst="rect">
            <a:avLst/>
          </a:prstGeom>
          <a:noFill/>
        </p:spPr>
        <p:txBody>
          <a:bodyPr wrap="square" lIns="0" tIns="0" rIns="0" bIns="0">
            <a:spAutoFit/>
          </a:bodyPr>
          <a:lstStyle/>
          <a:p>
            <a:pPr algn="l">
              <a:lnSpc>
                <a:spcPct val="130000"/>
              </a:lnSpc>
              <a:spcAft>
                <a:spcPts val="300"/>
              </a:spcAft>
            </a:pPr>
            <a:r>
              <a:rPr sz="2100" b="0">
                <a:solidFill>
                  <a:srgbClr val="6E6E6E"/>
                </a:solidFill>
                <a:latin typeface="Helvetica Neue"/>
              </a:rPr>
              <a:t>Imagen, voz y texto se aprenden de la misma forma:</a:t>
            </a:r>
          </a:p>
          <a:p>
            <a:pPr algn="l">
              <a:lnSpc>
                <a:spcPct val="130000"/>
              </a:lnSpc>
              <a:spcAft>
                <a:spcPts val="300"/>
              </a:spcAft>
            </a:pPr>
            <a:r>
              <a:rPr sz="2100" b="0">
                <a:solidFill>
                  <a:srgbClr val="6E6E6E"/>
                </a:solidFill>
                <a:latin typeface="Helvetica Neue"/>
              </a:rPr>
              <a:t>millones de pares de ejemplos, y una máquina buscando el patrón.</a:t>
            </a:r>
          </a:p>
        </p:txBody>
      </p:sp>
      <p:sp>
        <p:nvSpPr>
          <p:cNvPr id="6" name="Rounded Rectangle 5"/>
          <p:cNvSpPr/>
          <p:nvPr/>
        </p:nvSpPr>
        <p:spPr>
          <a:xfrm>
            <a:off x="822960" y="365760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3803904"/>
            <a:ext cx="3108960" cy="457200"/>
          </a:xfrm>
          <a:prstGeom prst="rect">
            <a:avLst/>
          </a:prstGeom>
          <a:noFill/>
        </p:spPr>
        <p:txBody>
          <a:bodyPr wrap="square" lIns="0" tIns="0" rIns="0" bIns="0">
            <a:spAutoFit/>
          </a:bodyPr>
          <a:lstStyle/>
          <a:p>
            <a:pPr algn="l">
              <a:spcAft>
                <a:spcPts val="600"/>
              </a:spcAft>
            </a:pPr>
            <a:r>
              <a:rPr sz="2000" b="1">
                <a:solidFill>
                  <a:srgbClr val="ED7623"/>
                </a:solidFill>
                <a:latin typeface="Helvetica Neue"/>
              </a:rPr>
              <a:t>🖼️  Imagen</a:t>
            </a:r>
          </a:p>
        </p:txBody>
      </p:sp>
      <p:sp>
        <p:nvSpPr>
          <p:cNvPr id="8" name="TextBox 7"/>
          <p:cNvSpPr txBox="1"/>
          <p:nvPr/>
        </p:nvSpPr>
        <p:spPr>
          <a:xfrm>
            <a:off x="4572000" y="3831336"/>
            <a:ext cx="6400800" cy="457200"/>
          </a:xfrm>
          <a:prstGeom prst="rect">
            <a:avLst/>
          </a:prstGeom>
          <a:noFill/>
        </p:spPr>
        <p:txBody>
          <a:bodyPr wrap="square" lIns="0" tIns="0" rIns="0" bIns="0">
            <a:spAutoFit/>
          </a:bodyPr>
          <a:lstStyle/>
          <a:p>
            <a:pPr algn="l">
              <a:spcAft>
                <a:spcPts val="600"/>
              </a:spcAft>
            </a:pPr>
            <a:r>
              <a:rPr sz="1700" b="0">
                <a:solidFill>
                  <a:srgbClr val="6E6E6E"/>
                </a:solidFill>
                <a:latin typeface="Helvetica Neue"/>
              </a:rPr>
              <a:t>pares de (imagen, descripción)</a:t>
            </a:r>
          </a:p>
        </p:txBody>
      </p:sp>
      <p:sp>
        <p:nvSpPr>
          <p:cNvPr id="9" name="Rounded Rectangle 8"/>
          <p:cNvSpPr/>
          <p:nvPr/>
        </p:nvSpPr>
        <p:spPr>
          <a:xfrm>
            <a:off x="822960" y="45262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88720" y="4672584"/>
            <a:ext cx="3108960" cy="457200"/>
          </a:xfrm>
          <a:prstGeom prst="rect">
            <a:avLst/>
          </a:prstGeom>
          <a:noFill/>
        </p:spPr>
        <p:txBody>
          <a:bodyPr wrap="square" lIns="0" tIns="0" rIns="0" bIns="0">
            <a:spAutoFit/>
          </a:bodyPr>
          <a:lstStyle/>
          <a:p>
            <a:pPr algn="l">
              <a:spcAft>
                <a:spcPts val="600"/>
              </a:spcAft>
            </a:pPr>
            <a:r>
              <a:rPr sz="2000" b="1">
                <a:solidFill>
                  <a:srgbClr val="ED7623"/>
                </a:solidFill>
                <a:latin typeface="Helvetica Neue"/>
              </a:rPr>
              <a:t>🎙️  Voz</a:t>
            </a:r>
          </a:p>
        </p:txBody>
      </p:sp>
      <p:sp>
        <p:nvSpPr>
          <p:cNvPr id="11" name="TextBox 10"/>
          <p:cNvSpPr txBox="1"/>
          <p:nvPr/>
        </p:nvSpPr>
        <p:spPr>
          <a:xfrm>
            <a:off x="4572000" y="4700016"/>
            <a:ext cx="6400800" cy="457200"/>
          </a:xfrm>
          <a:prstGeom prst="rect">
            <a:avLst/>
          </a:prstGeom>
          <a:noFill/>
        </p:spPr>
        <p:txBody>
          <a:bodyPr wrap="square" lIns="0" tIns="0" rIns="0" bIns="0">
            <a:spAutoFit/>
          </a:bodyPr>
          <a:lstStyle/>
          <a:p>
            <a:pPr algn="l">
              <a:spcAft>
                <a:spcPts val="600"/>
              </a:spcAft>
            </a:pPr>
            <a:r>
              <a:rPr sz="1700" b="0">
                <a:solidFill>
                  <a:srgbClr val="6E6E6E"/>
                </a:solidFill>
                <a:latin typeface="Helvetica Neue"/>
              </a:rPr>
              <a:t>pares de (audio, transcripción)</a:t>
            </a:r>
          </a:p>
        </p:txBody>
      </p:sp>
      <p:sp>
        <p:nvSpPr>
          <p:cNvPr id="12" name="Rounded Rectangle 11"/>
          <p:cNvSpPr/>
          <p:nvPr/>
        </p:nvSpPr>
        <p:spPr>
          <a:xfrm>
            <a:off x="822960" y="53949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88720" y="5541264"/>
            <a:ext cx="3108960" cy="457200"/>
          </a:xfrm>
          <a:prstGeom prst="rect">
            <a:avLst/>
          </a:prstGeom>
          <a:noFill/>
        </p:spPr>
        <p:txBody>
          <a:bodyPr wrap="square" lIns="0" tIns="0" rIns="0" bIns="0">
            <a:spAutoFit/>
          </a:bodyPr>
          <a:lstStyle/>
          <a:p>
            <a:pPr algn="l">
              <a:spcAft>
                <a:spcPts val="600"/>
              </a:spcAft>
            </a:pPr>
            <a:r>
              <a:rPr sz="2000" b="1">
                <a:solidFill>
                  <a:srgbClr val="ED7623"/>
                </a:solidFill>
                <a:latin typeface="Helvetica Neue"/>
              </a:rPr>
              <a:t>💬  Texto</a:t>
            </a:r>
          </a:p>
        </p:txBody>
      </p:sp>
      <p:sp>
        <p:nvSpPr>
          <p:cNvPr id="14" name="TextBox 13"/>
          <p:cNvSpPr txBox="1"/>
          <p:nvPr/>
        </p:nvSpPr>
        <p:spPr>
          <a:xfrm>
            <a:off x="4572000" y="5568696"/>
            <a:ext cx="6400800" cy="457200"/>
          </a:xfrm>
          <a:prstGeom prst="rect">
            <a:avLst/>
          </a:prstGeom>
          <a:noFill/>
        </p:spPr>
        <p:txBody>
          <a:bodyPr wrap="square" lIns="0" tIns="0" rIns="0" bIns="0">
            <a:spAutoFit/>
          </a:bodyPr>
          <a:lstStyle/>
          <a:p>
            <a:pPr algn="l">
              <a:spcAft>
                <a:spcPts val="600"/>
              </a:spcAft>
            </a:pPr>
            <a:r>
              <a:rPr sz="1700" b="0">
                <a:solidFill>
                  <a:srgbClr val="6E6E6E"/>
                </a:solidFill>
                <a:latin typeface="Helvetica Neue"/>
              </a:rPr>
              <a:t>pares de (pregunta, respuesta)</a:t>
            </a:r>
          </a:p>
        </p:txBody>
      </p:sp>
      <p:sp>
        <p:nvSpPr>
          <p:cNvPr id="15" name="Rounded Rectangle 14"/>
          <p:cNvSpPr/>
          <p:nvPr/>
        </p:nvSpPr>
        <p:spPr>
          <a:xfrm>
            <a:off x="822960" y="6309360"/>
            <a:ext cx="10515600" cy="457200"/>
          </a:xfrm>
          <a:prstGeom prst="roundRect">
            <a:avLst>
              <a:gd name="adj" fmla="val 5000"/>
            </a:avLst>
          </a:prstGeom>
          <a:solidFill>
            <a:srgbClr val="EC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34440" y="6400800"/>
            <a:ext cx="9692640" cy="365760"/>
          </a:xfrm>
          <a:prstGeom prst="rect">
            <a:avLst/>
          </a:prstGeom>
          <a:noFill/>
        </p:spPr>
        <p:txBody>
          <a:bodyPr wrap="square" lIns="0" tIns="0" rIns="0" bIns="0">
            <a:spAutoFit/>
          </a:bodyPr>
          <a:lstStyle/>
          <a:p>
            <a:pPr algn="l">
              <a:spcAft>
                <a:spcPts val="600"/>
              </a:spcAft>
            </a:pPr>
            <a:r>
              <a:rPr sz="1600" b="1">
                <a:solidFill>
                  <a:srgbClr val="35789C"/>
                </a:solidFill>
                <a:latin typeface="Helvetica Neue"/>
              </a:rPr>
              <a:t>Nadie escribió las reglas. Solo le mostraron ejemplos.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ED7623"/>
                </a:solidFill>
                <a:latin typeface="Helvetica Neue"/>
              </a:rPr>
              <a:t>IMAGEN</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4000" b="1">
                <a:solidFill>
                  <a:srgbClr val="11406E"/>
                </a:solidFill>
                <a:latin typeface="Helvetica Neue"/>
              </a:rPr>
              <a:t>Aprendió a quitar ruido</a:t>
            </a:r>
          </a:p>
        </p:txBody>
      </p:sp>
      <p:sp>
        <p:nvSpPr>
          <p:cNvPr id="5" name="Rounded Rectangle 4"/>
          <p:cNvSpPr/>
          <p:nvPr/>
        </p:nvSpPr>
        <p:spPr>
          <a:xfrm>
            <a:off x="822960" y="2103120"/>
            <a:ext cx="106070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34440" y="2377440"/>
            <a:ext cx="9784080" cy="1371600"/>
          </a:xfrm>
          <a:prstGeom prst="rect">
            <a:avLst/>
          </a:prstGeom>
          <a:noFill/>
        </p:spPr>
        <p:txBody>
          <a:bodyPr wrap="square" lIns="0" tIns="0" rIns="0" bIns="0">
            <a:spAutoFit/>
          </a:bodyPr>
          <a:lstStyle/>
          <a:p>
            <a:pPr algn="l">
              <a:lnSpc>
                <a:spcPct val="135000"/>
              </a:lnSpc>
              <a:spcAft>
                <a:spcPts val="400"/>
              </a:spcAft>
            </a:pPr>
            <a:r>
              <a:rPr sz="1900" b="0">
                <a:solidFill>
                  <a:srgbClr val="11406E"/>
                </a:solidFill>
                <a:latin typeface="Helvetica Neue"/>
              </a:rPr>
              <a:t>Al entrenarlo le echaron ruido a millones de fotos hasta volverlas estática,</a:t>
            </a:r>
          </a:p>
          <a:p>
            <a:pPr algn="l">
              <a:lnSpc>
                <a:spcPct val="135000"/>
              </a:lnSpc>
              <a:spcAft>
                <a:spcPts val="400"/>
              </a:spcAft>
            </a:pPr>
            <a:r>
              <a:rPr sz="1900" b="0">
                <a:solidFill>
                  <a:srgbClr val="11406E"/>
                </a:solidFill>
                <a:latin typeface="Helvetica Neue"/>
              </a:rPr>
              <a:t>y le pidieron aprender el camino de vuelta, guiado por la descripción.</a:t>
            </a:r>
          </a:p>
          <a:p>
            <a:pPr algn="l">
              <a:lnSpc>
                <a:spcPct val="135000"/>
              </a:lnSpc>
              <a:spcAft>
                <a:spcPts val="400"/>
              </a:spcAft>
            </a:pPr>
            <a:r>
              <a:rPr sz="1900" b="1">
                <a:solidFill>
                  <a:srgbClr val="ED7623"/>
                </a:solidFill>
                <a:latin typeface="Helvetica Neue"/>
              </a:rPr>
              <a:t>Cuando le pides algo, empieza en ruido puro y lo va despejando con tus palabras.</a:t>
            </a:r>
          </a:p>
        </p:txBody>
      </p:sp>
      <p:sp>
        <p:nvSpPr>
          <p:cNvPr id="7" name="TextBox 6"/>
          <p:cNvSpPr txBox="1"/>
          <p:nvPr/>
        </p:nvSpPr>
        <p:spPr>
          <a:xfrm>
            <a:off x="822960" y="4206240"/>
            <a:ext cx="10515600" cy="548640"/>
          </a:xfrm>
          <a:prstGeom prst="rect">
            <a:avLst/>
          </a:prstGeom>
          <a:noFill/>
        </p:spPr>
        <p:txBody>
          <a:bodyPr wrap="square" lIns="0" tIns="0" rIns="0" bIns="0">
            <a:spAutoFit/>
          </a:bodyPr>
          <a:lstStyle/>
          <a:p>
            <a:pPr algn="l">
              <a:spcAft>
                <a:spcPts val="600"/>
              </a:spcAft>
            </a:pPr>
            <a:r>
              <a:rPr sz="2000" b="0">
                <a:solidFill>
                  <a:srgbClr val="6E6E6E"/>
                </a:solidFill>
                <a:latin typeface="Helvetica Neue"/>
              </a:rPr>
              <a:t>Es mirar una nube y borrar todo lo que no es un caballo. Mil millones de veces.</a:t>
            </a:r>
          </a:p>
        </p:txBody>
      </p:sp>
      <p:sp>
        <p:nvSpPr>
          <p:cNvPr id="8" name="Rounded Rectangle 7"/>
          <p:cNvSpPr/>
          <p:nvPr/>
        </p:nvSpPr>
        <p:spPr>
          <a:xfrm>
            <a:off x="822960" y="4892040"/>
            <a:ext cx="10607040" cy="566928"/>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3000" y="5001768"/>
            <a:ext cx="3017520" cy="384048"/>
          </a:xfrm>
          <a:prstGeom prst="rect">
            <a:avLst/>
          </a:prstGeom>
          <a:noFill/>
        </p:spPr>
        <p:txBody>
          <a:bodyPr wrap="square" lIns="0" tIns="0" rIns="0" bIns="0">
            <a:spAutoFit/>
          </a:bodyPr>
          <a:lstStyle/>
          <a:p>
            <a:pPr algn="l">
              <a:spcAft>
                <a:spcPts val="600"/>
              </a:spcAft>
            </a:pPr>
            <a:r>
              <a:rPr sz="1600" b="1">
                <a:solidFill>
                  <a:srgbClr val="ED7623"/>
                </a:solidFill>
                <a:latin typeface="Helvetica Neue"/>
              </a:rPr>
              <a:t>No copia</a:t>
            </a:r>
          </a:p>
        </p:txBody>
      </p:sp>
      <p:sp>
        <p:nvSpPr>
          <p:cNvPr id="10" name="TextBox 9"/>
          <p:cNvSpPr txBox="1"/>
          <p:nvPr/>
        </p:nvSpPr>
        <p:spPr>
          <a:xfrm>
            <a:off x="4206240" y="5020055"/>
            <a:ext cx="6858000" cy="384048"/>
          </a:xfrm>
          <a:prstGeom prst="rect">
            <a:avLst/>
          </a:prstGeom>
          <a:noFill/>
        </p:spPr>
        <p:txBody>
          <a:bodyPr wrap="square" lIns="0" tIns="0" rIns="0" bIns="0">
            <a:spAutoFit/>
          </a:bodyPr>
          <a:lstStyle/>
          <a:p>
            <a:pPr algn="l">
              <a:spcAft>
                <a:spcPts val="600"/>
              </a:spcAft>
            </a:pPr>
            <a:r>
              <a:rPr sz="1400" b="0">
                <a:solidFill>
                  <a:srgbClr val="6E6E6E"/>
                </a:solidFill>
                <a:latin typeface="Helvetica Neue"/>
              </a:rPr>
              <a:t>No tiene un archivo de imágenes: por eso dibuja cosas que nunca existieron</a:t>
            </a:r>
          </a:p>
        </p:txBody>
      </p:sp>
      <p:sp>
        <p:nvSpPr>
          <p:cNvPr id="11" name="Rounded Rectangle 10"/>
          <p:cNvSpPr/>
          <p:nvPr/>
        </p:nvSpPr>
        <p:spPr>
          <a:xfrm>
            <a:off x="822960" y="5550407"/>
            <a:ext cx="10607040" cy="566928"/>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3000" y="5660136"/>
            <a:ext cx="3017520" cy="384048"/>
          </a:xfrm>
          <a:prstGeom prst="rect">
            <a:avLst/>
          </a:prstGeom>
          <a:noFill/>
        </p:spPr>
        <p:txBody>
          <a:bodyPr wrap="square" lIns="0" tIns="0" rIns="0" bIns="0">
            <a:spAutoFit/>
          </a:bodyPr>
          <a:lstStyle/>
          <a:p>
            <a:pPr algn="l">
              <a:spcAft>
                <a:spcPts val="600"/>
              </a:spcAft>
            </a:pPr>
            <a:r>
              <a:rPr sz="1600" b="1">
                <a:solidFill>
                  <a:srgbClr val="ED7623"/>
                </a:solidFill>
                <a:latin typeface="Helvetica Neue"/>
              </a:rPr>
              <a:t>Falla en manos y letras</a:t>
            </a:r>
          </a:p>
        </p:txBody>
      </p:sp>
      <p:sp>
        <p:nvSpPr>
          <p:cNvPr id="13" name="TextBox 12"/>
          <p:cNvSpPr txBox="1"/>
          <p:nvPr/>
        </p:nvSpPr>
        <p:spPr>
          <a:xfrm>
            <a:off x="4206240" y="5678423"/>
            <a:ext cx="6858000" cy="384048"/>
          </a:xfrm>
          <a:prstGeom prst="rect">
            <a:avLst/>
          </a:prstGeom>
          <a:noFill/>
        </p:spPr>
        <p:txBody>
          <a:bodyPr wrap="square" lIns="0" tIns="0" rIns="0" bIns="0">
            <a:spAutoFit/>
          </a:bodyPr>
          <a:lstStyle/>
          <a:p>
            <a:pPr algn="l">
              <a:spcAft>
                <a:spcPts val="600"/>
              </a:spcAft>
            </a:pPr>
            <a:r>
              <a:rPr sz="1400" b="0">
                <a:solidFill>
                  <a:srgbClr val="6E6E6E"/>
                </a:solidFill>
                <a:latin typeface="Helvetica Neue"/>
              </a:rPr>
              <a:t>Detalles donde un error se nota muchísimo y el ruido no lo guía bien</a:t>
            </a:r>
          </a:p>
        </p:txBody>
      </p:sp>
      <p:sp>
        <p:nvSpPr>
          <p:cNvPr id="14" name="Rounded Rectangle 13"/>
          <p:cNvSpPr/>
          <p:nvPr/>
        </p:nvSpPr>
        <p:spPr>
          <a:xfrm>
            <a:off x="822960" y="6208775"/>
            <a:ext cx="10607040" cy="566928"/>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43000" y="6318503"/>
            <a:ext cx="3017520" cy="384048"/>
          </a:xfrm>
          <a:prstGeom prst="rect">
            <a:avLst/>
          </a:prstGeom>
          <a:noFill/>
        </p:spPr>
        <p:txBody>
          <a:bodyPr wrap="square" lIns="0" tIns="0" rIns="0" bIns="0">
            <a:spAutoFit/>
          </a:bodyPr>
          <a:lstStyle/>
          <a:p>
            <a:pPr algn="l">
              <a:spcAft>
                <a:spcPts val="600"/>
              </a:spcAft>
            </a:pPr>
            <a:r>
              <a:rPr sz="1600" b="1">
                <a:solidFill>
                  <a:srgbClr val="ED7623"/>
                </a:solidFill>
                <a:latin typeface="Helvetica Neue"/>
              </a:rPr>
              <a:t>Tu frase manda</a:t>
            </a:r>
          </a:p>
        </p:txBody>
      </p:sp>
      <p:sp>
        <p:nvSpPr>
          <p:cNvPr id="16" name="TextBox 15"/>
          <p:cNvSpPr txBox="1"/>
          <p:nvPr/>
        </p:nvSpPr>
        <p:spPr>
          <a:xfrm>
            <a:off x="4206240" y="6336791"/>
            <a:ext cx="6858000" cy="384048"/>
          </a:xfrm>
          <a:prstGeom prst="rect">
            <a:avLst/>
          </a:prstGeom>
          <a:noFill/>
        </p:spPr>
        <p:txBody>
          <a:bodyPr wrap="square" lIns="0" tIns="0" rIns="0" bIns="0">
            <a:spAutoFit/>
          </a:bodyPr>
          <a:lstStyle/>
          <a:p>
            <a:pPr algn="l">
              <a:spcAft>
                <a:spcPts val="600"/>
              </a:spcAft>
            </a:pPr>
            <a:r>
              <a:rPr sz="1400" b="0">
                <a:solidFill>
                  <a:srgbClr val="6E6E6E"/>
                </a:solidFill>
                <a:latin typeface="Helvetica Neue"/>
              </a:rPr>
              <a:t>Es lo único que orienta cada paso. Por eso el prompt cambia tanto el resultado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ED7623"/>
                </a:solidFill>
                <a:latin typeface="Helvetica Neue"/>
              </a:rPr>
              <a:t>VOZ</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4000" b="1">
                <a:solidFill>
                  <a:srgbClr val="11406E"/>
                </a:solidFill>
                <a:latin typeface="Helvetica Neue"/>
              </a:rPr>
              <a:t>Las dos direcciones</a:t>
            </a:r>
          </a:p>
        </p:txBody>
      </p:sp>
      <p:sp>
        <p:nvSpPr>
          <p:cNvPr id="5" name="Rounded Rectangle 4"/>
          <p:cNvSpPr/>
          <p:nvPr/>
        </p:nvSpPr>
        <p:spPr>
          <a:xfrm>
            <a:off x="822960" y="2148840"/>
            <a:ext cx="10607040" cy="13716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2331720"/>
            <a:ext cx="3291840" cy="457200"/>
          </a:xfrm>
          <a:prstGeom prst="rect">
            <a:avLst/>
          </a:prstGeom>
          <a:noFill/>
        </p:spPr>
        <p:txBody>
          <a:bodyPr wrap="square" lIns="0" tIns="0" rIns="0" bIns="0">
            <a:spAutoFit/>
          </a:bodyPr>
          <a:lstStyle/>
          <a:p>
            <a:pPr algn="l">
              <a:spcAft>
                <a:spcPts val="600"/>
              </a:spcAft>
            </a:pPr>
            <a:r>
              <a:rPr sz="2200" b="1">
                <a:solidFill>
                  <a:srgbClr val="ED7623"/>
                </a:solidFill>
                <a:latin typeface="Helvetica Neue"/>
              </a:rPr>
              <a:t>Voz → texto</a:t>
            </a:r>
          </a:p>
        </p:txBody>
      </p:sp>
      <p:sp>
        <p:nvSpPr>
          <p:cNvPr id="7" name="TextBox 6"/>
          <p:cNvSpPr txBox="1"/>
          <p:nvPr/>
        </p:nvSpPr>
        <p:spPr>
          <a:xfrm>
            <a:off x="1188720" y="2807208"/>
            <a:ext cx="3291840" cy="457200"/>
          </a:xfrm>
          <a:prstGeom prst="rect">
            <a:avLst/>
          </a:prstGeom>
          <a:noFill/>
        </p:spPr>
        <p:txBody>
          <a:bodyPr wrap="square" lIns="0" tIns="0" rIns="0" bIns="0">
            <a:spAutoFit/>
          </a:bodyPr>
          <a:lstStyle/>
          <a:p>
            <a:pPr algn="l">
              <a:lnSpc>
                <a:spcPct val="115000"/>
              </a:lnSpc>
              <a:spcAft>
                <a:spcPts val="600"/>
              </a:spcAft>
            </a:pPr>
            <a:r>
              <a:rPr sz="1400" b="0">
                <a:solidFill>
                  <a:srgbClr val="35789C"/>
                </a:solidFill>
                <a:latin typeface="Helvetica Neue"/>
              </a:rPr>
              <a:t>Miles de horas de audio con su transcripción</a:t>
            </a:r>
          </a:p>
        </p:txBody>
      </p:sp>
      <p:sp>
        <p:nvSpPr>
          <p:cNvPr id="8" name="TextBox 7"/>
          <p:cNvSpPr txBox="1"/>
          <p:nvPr/>
        </p:nvSpPr>
        <p:spPr>
          <a:xfrm>
            <a:off x="4846320" y="2450592"/>
            <a:ext cx="6309360" cy="822960"/>
          </a:xfrm>
          <a:prstGeom prst="rect">
            <a:avLst/>
          </a:prstGeom>
          <a:noFill/>
        </p:spPr>
        <p:txBody>
          <a:bodyPr wrap="square" lIns="0" tIns="0" rIns="0" bIns="0">
            <a:spAutoFit/>
          </a:bodyPr>
          <a:lstStyle/>
          <a:p>
            <a:pPr algn="l">
              <a:lnSpc>
                <a:spcPct val="130000"/>
              </a:lnSpc>
              <a:spcAft>
                <a:spcPts val="600"/>
              </a:spcAft>
            </a:pPr>
            <a:r>
              <a:rPr sz="1550" b="0">
                <a:solidFill>
                  <a:srgbClr val="6E6E6E"/>
                </a:solidFill>
                <a:latin typeface="Helvetica Neue"/>
              </a:rPr>
              <a:t>Por eso acierta en frases comunes y falla en nombres propios: «Piña Durán» no es probable en ningún texto</a:t>
            </a:r>
          </a:p>
        </p:txBody>
      </p:sp>
      <p:sp>
        <p:nvSpPr>
          <p:cNvPr id="9" name="Rounded Rectangle 8"/>
          <p:cNvSpPr/>
          <p:nvPr/>
        </p:nvSpPr>
        <p:spPr>
          <a:xfrm>
            <a:off x="822960" y="3749039"/>
            <a:ext cx="10607040" cy="13716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88720" y="3931920"/>
            <a:ext cx="3291840" cy="457200"/>
          </a:xfrm>
          <a:prstGeom prst="rect">
            <a:avLst/>
          </a:prstGeom>
          <a:noFill/>
        </p:spPr>
        <p:txBody>
          <a:bodyPr wrap="square" lIns="0" tIns="0" rIns="0" bIns="0">
            <a:spAutoFit/>
          </a:bodyPr>
          <a:lstStyle/>
          <a:p>
            <a:pPr algn="l">
              <a:spcAft>
                <a:spcPts val="600"/>
              </a:spcAft>
            </a:pPr>
            <a:r>
              <a:rPr sz="2200" b="1">
                <a:solidFill>
                  <a:srgbClr val="ED7623"/>
                </a:solidFill>
                <a:latin typeface="Helvetica Neue"/>
              </a:rPr>
              <a:t>Texto → voz</a:t>
            </a:r>
          </a:p>
        </p:txBody>
      </p:sp>
      <p:sp>
        <p:nvSpPr>
          <p:cNvPr id="11" name="TextBox 10"/>
          <p:cNvSpPr txBox="1"/>
          <p:nvPr/>
        </p:nvSpPr>
        <p:spPr>
          <a:xfrm>
            <a:off x="1188720" y="4407407"/>
            <a:ext cx="3291840" cy="457200"/>
          </a:xfrm>
          <a:prstGeom prst="rect">
            <a:avLst/>
          </a:prstGeom>
          <a:noFill/>
        </p:spPr>
        <p:txBody>
          <a:bodyPr wrap="square" lIns="0" tIns="0" rIns="0" bIns="0">
            <a:spAutoFit/>
          </a:bodyPr>
          <a:lstStyle/>
          <a:p>
            <a:pPr algn="l">
              <a:lnSpc>
                <a:spcPct val="115000"/>
              </a:lnSpc>
              <a:spcAft>
                <a:spcPts val="600"/>
              </a:spcAft>
            </a:pPr>
            <a:r>
              <a:rPr sz="1400" b="0">
                <a:solidFill>
                  <a:srgbClr val="35789C"/>
                </a:solidFill>
                <a:latin typeface="Helvetica Neue"/>
              </a:rPr>
              <a:t>Los mismos pares, al revés</a:t>
            </a:r>
          </a:p>
        </p:txBody>
      </p:sp>
      <p:sp>
        <p:nvSpPr>
          <p:cNvPr id="12" name="TextBox 11"/>
          <p:cNvSpPr txBox="1"/>
          <p:nvPr/>
        </p:nvSpPr>
        <p:spPr>
          <a:xfrm>
            <a:off x="4846320" y="4050791"/>
            <a:ext cx="6309360" cy="822960"/>
          </a:xfrm>
          <a:prstGeom prst="rect">
            <a:avLst/>
          </a:prstGeom>
          <a:noFill/>
        </p:spPr>
        <p:txBody>
          <a:bodyPr wrap="square" lIns="0" tIns="0" rIns="0" bIns="0">
            <a:spAutoFit/>
          </a:bodyPr>
          <a:lstStyle/>
          <a:p>
            <a:pPr algn="l">
              <a:lnSpc>
                <a:spcPct val="130000"/>
              </a:lnSpc>
              <a:spcAft>
                <a:spcPts val="600"/>
              </a:spcAft>
            </a:pPr>
            <a:r>
              <a:rPr sz="1550" b="0">
                <a:solidFill>
                  <a:srgbClr val="6E6E6E"/>
                </a:solidFill>
                <a:latin typeface="Helvetica Neue"/>
              </a:rPr>
              <a:t>Aprendió también la entonación. Por eso «tono cercano, no de noticiero» funciona de verdad</a:t>
            </a:r>
          </a:p>
        </p:txBody>
      </p:sp>
      <p:sp>
        <p:nvSpPr>
          <p:cNvPr id="13" name="Rounded Rectangle 12"/>
          <p:cNvSpPr/>
          <p:nvPr/>
        </p:nvSpPr>
        <p:spPr>
          <a:xfrm>
            <a:off x="822960" y="5486400"/>
            <a:ext cx="10607040" cy="118872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34440" y="5760720"/>
            <a:ext cx="9784080" cy="822960"/>
          </a:xfrm>
          <a:prstGeom prst="rect">
            <a:avLst/>
          </a:prstGeom>
          <a:noFill/>
        </p:spPr>
        <p:txBody>
          <a:bodyPr wrap="square" lIns="0" tIns="0" rIns="0" bIns="0">
            <a:spAutoFit/>
          </a:bodyPr>
          <a:lstStyle/>
          <a:p>
            <a:pPr algn="l">
              <a:lnSpc>
                <a:spcPct val="130000"/>
              </a:lnSpc>
              <a:spcAft>
                <a:spcPts val="200"/>
              </a:spcAft>
            </a:pPr>
            <a:r>
              <a:rPr sz="1900" b="1">
                <a:solidFill>
                  <a:srgbClr val="ED7623"/>
                </a:solidFill>
                <a:latin typeface="Helvetica Neue"/>
              </a:rPr>
              <a:t>Las voces no son grabaciones guardadas: son patrones aprendidos.</a:t>
            </a:r>
          </a:p>
          <a:p>
            <a:pPr algn="l">
              <a:lnSpc>
                <a:spcPct val="130000"/>
              </a:lnSpc>
              <a:spcAft>
                <a:spcPts val="200"/>
              </a:spcAft>
            </a:pPr>
            <a:r>
              <a:rPr sz="1500" b="0">
                <a:solidFill>
                  <a:srgbClr val="6E6E6E"/>
                </a:solidFill>
                <a:latin typeface="Helvetica Neue"/>
              </a:rPr>
              <a:t>Entender eso es entender qué significa clonar la voz de alguien.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ED7623"/>
                </a:solidFill>
                <a:latin typeface="Helvetica Neue"/>
              </a:rPr>
              <a:t>LO QUE VAS A TENER AL FINAL</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4000" b="1">
                <a:solidFill>
                  <a:srgbClr val="11406E"/>
                </a:solidFill>
                <a:latin typeface="Helvetica Neue"/>
              </a:rPr>
              <a:t>Medio minuto, en cuatro pedazos</a:t>
            </a:r>
          </a:p>
        </p:txBody>
      </p:sp>
      <p:sp>
        <p:nvSpPr>
          <p:cNvPr id="5" name="TextBox 4"/>
          <p:cNvSpPr txBox="1"/>
          <p:nvPr/>
        </p:nvSpPr>
        <p:spPr>
          <a:xfrm>
            <a:off x="822960" y="2194560"/>
            <a:ext cx="10515600" cy="822960"/>
          </a:xfrm>
          <a:prstGeom prst="rect">
            <a:avLst/>
          </a:prstGeom>
          <a:noFill/>
        </p:spPr>
        <p:txBody>
          <a:bodyPr wrap="square" lIns="0" tIns="0" rIns="0" bIns="0">
            <a:spAutoFit/>
          </a:bodyPr>
          <a:lstStyle/>
          <a:p>
            <a:pPr algn="l">
              <a:lnSpc>
                <a:spcPct val="130000"/>
              </a:lnSpc>
              <a:spcAft>
                <a:spcPts val="400"/>
              </a:spcAft>
            </a:pPr>
            <a:r>
              <a:rPr sz="2200" b="0">
                <a:solidFill>
                  <a:srgbClr val="6E6E6E"/>
                </a:solidFill>
                <a:latin typeface="Helvetica Neue"/>
              </a:rPr>
              <a:t>Nadie hace un video de corrido de una sola vez.</a:t>
            </a:r>
          </a:p>
          <a:p>
            <a:pPr algn="l">
              <a:lnSpc>
                <a:spcPct val="130000"/>
              </a:lnSpc>
              <a:spcAft>
                <a:spcPts val="400"/>
              </a:spcAft>
            </a:pPr>
            <a:r>
              <a:rPr sz="2200" b="0">
                <a:solidFill>
                  <a:srgbClr val="6E6E6E"/>
                </a:solidFill>
                <a:latin typeface="Helvetica Neue"/>
              </a:rPr>
              <a:t>Se hacen cuatro de ocho segundos y se pegan. Así sí se puede.</a:t>
            </a:r>
          </a:p>
        </p:txBody>
      </p:sp>
      <p:sp>
        <p:nvSpPr>
          <p:cNvPr id="6" name="Rounded Rectangle 5"/>
          <p:cNvSpPr/>
          <p:nvPr/>
        </p:nvSpPr>
        <p:spPr>
          <a:xfrm>
            <a:off x="82296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3977639"/>
            <a:ext cx="1920240" cy="822960"/>
          </a:xfrm>
          <a:prstGeom prst="rect">
            <a:avLst/>
          </a:prstGeom>
          <a:noFill/>
        </p:spPr>
        <p:txBody>
          <a:bodyPr wrap="square" lIns="0" tIns="0" rIns="0" bIns="0">
            <a:spAutoFit/>
          </a:bodyPr>
          <a:lstStyle/>
          <a:p>
            <a:pPr algn="l">
              <a:lnSpc>
                <a:spcPct val="110000"/>
              </a:lnSpc>
              <a:spcAft>
                <a:spcPts val="600"/>
              </a:spcAft>
            </a:pPr>
            <a:r>
              <a:rPr sz="2000" b="1">
                <a:solidFill>
                  <a:srgbClr val="11406E"/>
                </a:solidFill>
                <a:latin typeface="Helvetica Neue"/>
              </a:rPr>
              <a:t>📝 Guion</a:t>
            </a:r>
          </a:p>
        </p:txBody>
      </p:sp>
      <p:sp>
        <p:nvSpPr>
          <p:cNvPr id="8" name="TextBox 7"/>
          <p:cNvSpPr txBox="1"/>
          <p:nvPr/>
        </p:nvSpPr>
        <p:spPr>
          <a:xfrm>
            <a:off x="1143000" y="4846320"/>
            <a:ext cx="1920240" cy="548640"/>
          </a:xfrm>
          <a:prstGeom prst="rect">
            <a:avLst/>
          </a:prstGeom>
          <a:noFill/>
        </p:spPr>
        <p:txBody>
          <a:bodyPr wrap="square" lIns="0" tIns="0" rIns="0" bIns="0">
            <a:spAutoFit/>
          </a:bodyPr>
          <a:lstStyle/>
          <a:p>
            <a:pPr algn="l">
              <a:lnSpc>
                <a:spcPct val="120000"/>
              </a:lnSpc>
              <a:spcAft>
                <a:spcPts val="600"/>
              </a:spcAft>
            </a:pPr>
            <a:r>
              <a:rPr sz="1400" b="0">
                <a:solidFill>
                  <a:srgbClr val="6E6E6E"/>
                </a:solidFill>
                <a:latin typeface="Helvetica Neue"/>
              </a:rPr>
              <a:t>partido en 4 frases</a:t>
            </a:r>
          </a:p>
        </p:txBody>
      </p:sp>
      <p:sp>
        <p:nvSpPr>
          <p:cNvPr id="9" name="Rounded Rectangle 8"/>
          <p:cNvSpPr/>
          <p:nvPr/>
        </p:nvSpPr>
        <p:spPr>
          <a:xfrm>
            <a:off x="352044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840480" y="3977639"/>
            <a:ext cx="1920240" cy="822960"/>
          </a:xfrm>
          <a:prstGeom prst="rect">
            <a:avLst/>
          </a:prstGeom>
          <a:noFill/>
        </p:spPr>
        <p:txBody>
          <a:bodyPr wrap="square" lIns="0" tIns="0" rIns="0" bIns="0">
            <a:spAutoFit/>
          </a:bodyPr>
          <a:lstStyle/>
          <a:p>
            <a:pPr algn="l">
              <a:lnSpc>
                <a:spcPct val="110000"/>
              </a:lnSpc>
              <a:spcAft>
                <a:spcPts val="600"/>
              </a:spcAft>
            </a:pPr>
            <a:r>
              <a:rPr sz="2000" b="1">
                <a:solidFill>
                  <a:srgbClr val="11406E"/>
                </a:solidFill>
                <a:latin typeface="Helvetica Neue"/>
              </a:rPr>
              <a:t>🧑 Personaje</a:t>
            </a:r>
          </a:p>
        </p:txBody>
      </p:sp>
      <p:sp>
        <p:nvSpPr>
          <p:cNvPr id="11" name="TextBox 10"/>
          <p:cNvSpPr txBox="1"/>
          <p:nvPr/>
        </p:nvSpPr>
        <p:spPr>
          <a:xfrm>
            <a:off x="3840480" y="4846320"/>
            <a:ext cx="1920240" cy="548640"/>
          </a:xfrm>
          <a:prstGeom prst="rect">
            <a:avLst/>
          </a:prstGeom>
          <a:noFill/>
        </p:spPr>
        <p:txBody>
          <a:bodyPr wrap="square" lIns="0" tIns="0" rIns="0" bIns="0">
            <a:spAutoFit/>
          </a:bodyPr>
          <a:lstStyle/>
          <a:p>
            <a:pPr algn="l">
              <a:lnSpc>
                <a:spcPct val="120000"/>
              </a:lnSpc>
              <a:spcAft>
                <a:spcPts val="600"/>
              </a:spcAft>
            </a:pPr>
            <a:r>
              <a:rPr sz="1400" b="0">
                <a:solidFill>
                  <a:srgbClr val="6E6E6E"/>
                </a:solidFill>
                <a:latin typeface="Helvetica Neue"/>
              </a:rPr>
              <a:t>gratis, y con voz</a:t>
            </a:r>
          </a:p>
        </p:txBody>
      </p:sp>
      <p:sp>
        <p:nvSpPr>
          <p:cNvPr id="12" name="Rounded Rectangle 11"/>
          <p:cNvSpPr/>
          <p:nvPr/>
        </p:nvSpPr>
        <p:spPr>
          <a:xfrm>
            <a:off x="621792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37960" y="3977639"/>
            <a:ext cx="1920240" cy="822960"/>
          </a:xfrm>
          <a:prstGeom prst="rect">
            <a:avLst/>
          </a:prstGeom>
          <a:noFill/>
        </p:spPr>
        <p:txBody>
          <a:bodyPr wrap="square" lIns="0" tIns="0" rIns="0" bIns="0">
            <a:spAutoFit/>
          </a:bodyPr>
          <a:lstStyle/>
          <a:p>
            <a:pPr algn="l">
              <a:lnSpc>
                <a:spcPct val="110000"/>
              </a:lnSpc>
              <a:spcAft>
                <a:spcPts val="600"/>
              </a:spcAft>
            </a:pPr>
            <a:r>
              <a:rPr sz="2000" b="1">
                <a:solidFill>
                  <a:srgbClr val="11406E"/>
                </a:solidFill>
                <a:latin typeface="Helvetica Neue"/>
              </a:rPr>
              <a:t>🎬 4 clips</a:t>
            </a:r>
          </a:p>
        </p:txBody>
      </p:sp>
      <p:sp>
        <p:nvSpPr>
          <p:cNvPr id="14" name="TextBox 13"/>
          <p:cNvSpPr txBox="1"/>
          <p:nvPr/>
        </p:nvSpPr>
        <p:spPr>
          <a:xfrm>
            <a:off x="6537960" y="4846320"/>
            <a:ext cx="1920240" cy="548640"/>
          </a:xfrm>
          <a:prstGeom prst="rect">
            <a:avLst/>
          </a:prstGeom>
          <a:noFill/>
        </p:spPr>
        <p:txBody>
          <a:bodyPr wrap="square" lIns="0" tIns="0" rIns="0" bIns="0">
            <a:spAutoFit/>
          </a:bodyPr>
          <a:lstStyle/>
          <a:p>
            <a:pPr algn="l">
              <a:lnSpc>
                <a:spcPct val="120000"/>
              </a:lnSpc>
              <a:spcAft>
                <a:spcPts val="600"/>
              </a:spcAft>
            </a:pPr>
            <a:r>
              <a:rPr sz="1400" b="0">
                <a:solidFill>
                  <a:srgbClr val="6E6E6E"/>
                </a:solidFill>
                <a:latin typeface="Helvetica Neue"/>
              </a:rPr>
              <a:t>8 segundos cada uno</a:t>
            </a:r>
          </a:p>
        </p:txBody>
      </p:sp>
      <p:sp>
        <p:nvSpPr>
          <p:cNvPr id="15" name="Rounded Rectangle 14"/>
          <p:cNvSpPr/>
          <p:nvPr/>
        </p:nvSpPr>
        <p:spPr>
          <a:xfrm>
            <a:off x="891540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35440" y="3977639"/>
            <a:ext cx="1920240" cy="822960"/>
          </a:xfrm>
          <a:prstGeom prst="rect">
            <a:avLst/>
          </a:prstGeom>
          <a:noFill/>
        </p:spPr>
        <p:txBody>
          <a:bodyPr wrap="square" lIns="0" tIns="0" rIns="0" bIns="0">
            <a:spAutoFit/>
          </a:bodyPr>
          <a:lstStyle/>
          <a:p>
            <a:pPr algn="l">
              <a:lnSpc>
                <a:spcPct val="110000"/>
              </a:lnSpc>
              <a:spcAft>
                <a:spcPts val="600"/>
              </a:spcAft>
            </a:pPr>
            <a:r>
              <a:rPr sz="2000" b="1">
                <a:solidFill>
                  <a:srgbClr val="11406E"/>
                </a:solidFill>
                <a:latin typeface="Helvetica Neue"/>
              </a:rPr>
              <a:t>🔗 Unirlos</a:t>
            </a:r>
          </a:p>
        </p:txBody>
      </p:sp>
      <p:sp>
        <p:nvSpPr>
          <p:cNvPr id="17" name="TextBox 16"/>
          <p:cNvSpPr txBox="1"/>
          <p:nvPr/>
        </p:nvSpPr>
        <p:spPr>
          <a:xfrm>
            <a:off x="9235440" y="4846320"/>
            <a:ext cx="1920240" cy="548640"/>
          </a:xfrm>
          <a:prstGeom prst="rect">
            <a:avLst/>
          </a:prstGeom>
          <a:noFill/>
        </p:spPr>
        <p:txBody>
          <a:bodyPr wrap="square" lIns="0" tIns="0" rIns="0" bIns="0">
            <a:spAutoFit/>
          </a:bodyPr>
          <a:lstStyle/>
          <a:p>
            <a:pPr algn="l">
              <a:lnSpc>
                <a:spcPct val="120000"/>
              </a:lnSpc>
              <a:spcAft>
                <a:spcPts val="600"/>
              </a:spcAft>
            </a:pPr>
            <a:r>
              <a:rPr sz="1400" b="0">
                <a:solidFill>
                  <a:srgbClr val="6E6E6E"/>
                </a:solidFill>
                <a:latin typeface="Helvetica Neue"/>
              </a:rPr>
              <a:t>en el mismo Flow</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ED7623"/>
                </a:solidFill>
                <a:latin typeface="Helvetica Neue"/>
              </a:rPr>
              <a:t>EL CAMINO</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4000" b="1">
                <a:solidFill>
                  <a:srgbClr val="11406E"/>
                </a:solidFill>
                <a:latin typeface="Helvetica Neue"/>
              </a:rPr>
              <a:t>Cuatro pasos, y dos de remate</a:t>
            </a:r>
          </a:p>
        </p:txBody>
      </p:sp>
      <p:sp>
        <p:nvSpPr>
          <p:cNvPr id="5" name="Rounded Rectangle 4"/>
          <p:cNvSpPr/>
          <p:nvPr/>
        </p:nvSpPr>
        <p:spPr>
          <a:xfrm>
            <a:off x="82296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2404872"/>
            <a:ext cx="731520" cy="640080"/>
          </a:xfrm>
          <a:prstGeom prst="rect">
            <a:avLst/>
          </a:prstGeom>
          <a:noFill/>
        </p:spPr>
        <p:txBody>
          <a:bodyPr wrap="square" lIns="0" tIns="0" rIns="0" bIns="0">
            <a:spAutoFit/>
          </a:bodyPr>
          <a:lstStyle/>
          <a:p>
            <a:pPr algn="l">
              <a:spcAft>
                <a:spcPts val="600"/>
              </a:spcAft>
            </a:pPr>
            <a:r>
              <a:rPr sz="3400" b="1">
                <a:solidFill>
                  <a:srgbClr val="ED7623"/>
                </a:solidFill>
                <a:latin typeface="Helvetica Neue"/>
              </a:rPr>
              <a:t>1</a:t>
            </a:r>
          </a:p>
        </p:txBody>
      </p:sp>
      <p:sp>
        <p:nvSpPr>
          <p:cNvPr id="7" name="TextBox 6"/>
          <p:cNvSpPr txBox="1"/>
          <p:nvPr/>
        </p:nvSpPr>
        <p:spPr>
          <a:xfrm>
            <a:off x="1737360" y="2487168"/>
            <a:ext cx="2286000" cy="457200"/>
          </a:xfrm>
          <a:prstGeom prst="rect">
            <a:avLst/>
          </a:prstGeom>
          <a:noFill/>
        </p:spPr>
        <p:txBody>
          <a:bodyPr wrap="square" lIns="0" tIns="0" rIns="0" bIns="0">
            <a:spAutoFit/>
          </a:bodyPr>
          <a:lstStyle/>
          <a:p>
            <a:pPr algn="l">
              <a:spcAft>
                <a:spcPts val="600"/>
              </a:spcAft>
            </a:pPr>
            <a:r>
              <a:rPr sz="2100" b="1">
                <a:solidFill>
                  <a:srgbClr val="11406E"/>
                </a:solidFill>
                <a:latin typeface="Helvetica Neue"/>
              </a:rPr>
              <a:t>El guion</a:t>
            </a:r>
          </a:p>
        </p:txBody>
      </p:sp>
      <p:sp>
        <p:nvSpPr>
          <p:cNvPr id="8" name="TextBox 7"/>
          <p:cNvSpPr txBox="1"/>
          <p:nvPr/>
        </p:nvSpPr>
        <p:spPr>
          <a:xfrm>
            <a:off x="1097280" y="3200400"/>
            <a:ext cx="2743200" cy="640080"/>
          </a:xfrm>
          <a:prstGeom prst="rect">
            <a:avLst/>
          </a:prstGeom>
          <a:noFill/>
        </p:spPr>
        <p:txBody>
          <a:bodyPr wrap="square" lIns="0" tIns="0" rIns="0" bIns="0">
            <a:spAutoFit/>
          </a:bodyPr>
          <a:lstStyle/>
          <a:p>
            <a:pPr algn="l">
              <a:lnSpc>
                <a:spcPct val="120000"/>
              </a:lnSpc>
              <a:spcAft>
                <a:spcPts val="600"/>
              </a:spcAft>
            </a:pPr>
            <a:r>
              <a:rPr sz="1350" b="0">
                <a:solidFill>
                  <a:srgbClr val="6E6E6E"/>
                </a:solidFill>
                <a:latin typeface="Helvetica Neue"/>
              </a:rPr>
              <a:t>Partido en cuatro frases de 20 palabras</a:t>
            </a:r>
          </a:p>
        </p:txBody>
      </p:sp>
      <p:sp>
        <p:nvSpPr>
          <p:cNvPr id="9" name="Rounded Rectangle 8"/>
          <p:cNvSpPr/>
          <p:nvPr/>
        </p:nvSpPr>
        <p:spPr>
          <a:xfrm>
            <a:off x="443484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09160" y="2404872"/>
            <a:ext cx="731520" cy="640080"/>
          </a:xfrm>
          <a:prstGeom prst="rect">
            <a:avLst/>
          </a:prstGeom>
          <a:noFill/>
        </p:spPr>
        <p:txBody>
          <a:bodyPr wrap="square" lIns="0" tIns="0" rIns="0" bIns="0">
            <a:spAutoFit/>
          </a:bodyPr>
          <a:lstStyle/>
          <a:p>
            <a:pPr algn="l">
              <a:spcAft>
                <a:spcPts val="600"/>
              </a:spcAft>
            </a:pPr>
            <a:r>
              <a:rPr sz="3400" b="1">
                <a:solidFill>
                  <a:srgbClr val="ED7623"/>
                </a:solidFill>
                <a:latin typeface="Helvetica Neue"/>
              </a:rPr>
              <a:t>2</a:t>
            </a:r>
          </a:p>
        </p:txBody>
      </p:sp>
      <p:sp>
        <p:nvSpPr>
          <p:cNvPr id="11" name="TextBox 10"/>
          <p:cNvSpPr txBox="1"/>
          <p:nvPr/>
        </p:nvSpPr>
        <p:spPr>
          <a:xfrm>
            <a:off x="5349240" y="2487168"/>
            <a:ext cx="2286000" cy="457200"/>
          </a:xfrm>
          <a:prstGeom prst="rect">
            <a:avLst/>
          </a:prstGeom>
          <a:noFill/>
        </p:spPr>
        <p:txBody>
          <a:bodyPr wrap="square" lIns="0" tIns="0" rIns="0" bIns="0">
            <a:spAutoFit/>
          </a:bodyPr>
          <a:lstStyle/>
          <a:p>
            <a:pPr algn="l">
              <a:spcAft>
                <a:spcPts val="600"/>
              </a:spcAft>
            </a:pPr>
            <a:r>
              <a:rPr sz="2100" b="1">
                <a:solidFill>
                  <a:srgbClr val="11406E"/>
                </a:solidFill>
                <a:latin typeface="Helvetica Neue"/>
              </a:rPr>
              <a:t>Tu personaje</a:t>
            </a:r>
          </a:p>
        </p:txBody>
      </p:sp>
      <p:sp>
        <p:nvSpPr>
          <p:cNvPr id="12" name="TextBox 11"/>
          <p:cNvSpPr txBox="1"/>
          <p:nvPr/>
        </p:nvSpPr>
        <p:spPr>
          <a:xfrm>
            <a:off x="4709160" y="3200400"/>
            <a:ext cx="2743200" cy="640080"/>
          </a:xfrm>
          <a:prstGeom prst="rect">
            <a:avLst/>
          </a:prstGeom>
          <a:noFill/>
        </p:spPr>
        <p:txBody>
          <a:bodyPr wrap="square" lIns="0" tIns="0" rIns="0" bIns="0">
            <a:spAutoFit/>
          </a:bodyPr>
          <a:lstStyle/>
          <a:p>
            <a:pPr algn="l">
              <a:lnSpc>
                <a:spcPct val="120000"/>
              </a:lnSpc>
              <a:spcAft>
                <a:spcPts val="600"/>
              </a:spcAft>
            </a:pPr>
            <a:r>
              <a:rPr sz="1350" b="0">
                <a:solidFill>
                  <a:srgbClr val="6E6E6E"/>
                </a:solidFill>
                <a:latin typeface="Helvetica Neue"/>
              </a:rPr>
              <a:t>Se crea en Flow, gratis, y lleva voz</a:t>
            </a:r>
          </a:p>
        </p:txBody>
      </p:sp>
      <p:sp>
        <p:nvSpPr>
          <p:cNvPr id="13" name="Rounded Rectangle 12"/>
          <p:cNvSpPr/>
          <p:nvPr/>
        </p:nvSpPr>
        <p:spPr>
          <a:xfrm>
            <a:off x="804672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21040" y="2404872"/>
            <a:ext cx="731520" cy="640080"/>
          </a:xfrm>
          <a:prstGeom prst="rect">
            <a:avLst/>
          </a:prstGeom>
          <a:noFill/>
        </p:spPr>
        <p:txBody>
          <a:bodyPr wrap="square" lIns="0" tIns="0" rIns="0" bIns="0">
            <a:spAutoFit/>
          </a:bodyPr>
          <a:lstStyle/>
          <a:p>
            <a:pPr algn="l">
              <a:spcAft>
                <a:spcPts val="600"/>
              </a:spcAft>
            </a:pPr>
            <a:r>
              <a:rPr sz="3400" b="1">
                <a:solidFill>
                  <a:srgbClr val="ED7623"/>
                </a:solidFill>
                <a:latin typeface="Helvetica Neue"/>
              </a:rPr>
              <a:t>3</a:t>
            </a:r>
          </a:p>
        </p:txBody>
      </p:sp>
      <p:sp>
        <p:nvSpPr>
          <p:cNvPr id="15" name="TextBox 14"/>
          <p:cNvSpPr txBox="1"/>
          <p:nvPr/>
        </p:nvSpPr>
        <p:spPr>
          <a:xfrm>
            <a:off x="8961120" y="2487168"/>
            <a:ext cx="2286000" cy="457200"/>
          </a:xfrm>
          <a:prstGeom prst="rect">
            <a:avLst/>
          </a:prstGeom>
          <a:noFill/>
        </p:spPr>
        <p:txBody>
          <a:bodyPr wrap="square" lIns="0" tIns="0" rIns="0" bIns="0">
            <a:spAutoFit/>
          </a:bodyPr>
          <a:lstStyle/>
          <a:p>
            <a:pPr algn="l">
              <a:spcAft>
                <a:spcPts val="600"/>
              </a:spcAft>
            </a:pPr>
            <a:r>
              <a:rPr sz="2100" b="1">
                <a:solidFill>
                  <a:srgbClr val="11406E"/>
                </a:solidFill>
                <a:latin typeface="Helvetica Neue"/>
              </a:rPr>
              <a:t>Los clips</a:t>
            </a:r>
          </a:p>
        </p:txBody>
      </p:sp>
      <p:sp>
        <p:nvSpPr>
          <p:cNvPr id="16" name="TextBox 15"/>
          <p:cNvSpPr txBox="1"/>
          <p:nvPr/>
        </p:nvSpPr>
        <p:spPr>
          <a:xfrm>
            <a:off x="8321040" y="3200400"/>
            <a:ext cx="2743200" cy="640080"/>
          </a:xfrm>
          <a:prstGeom prst="rect">
            <a:avLst/>
          </a:prstGeom>
          <a:noFill/>
        </p:spPr>
        <p:txBody>
          <a:bodyPr wrap="square" lIns="0" tIns="0" rIns="0" bIns="0">
            <a:spAutoFit/>
          </a:bodyPr>
          <a:lstStyle/>
          <a:p>
            <a:pPr algn="l">
              <a:lnSpc>
                <a:spcPct val="120000"/>
              </a:lnSpc>
              <a:spcAft>
                <a:spcPts val="600"/>
              </a:spcAft>
            </a:pPr>
            <a:r>
              <a:rPr sz="1350" b="0">
                <a:solidFill>
                  <a:srgbClr val="6E6E6E"/>
                </a:solidFill>
                <a:latin typeface="Helvetica Neue"/>
              </a:rPr>
              <a:t>Uno por frase, adjuntando el personaje</a:t>
            </a:r>
          </a:p>
        </p:txBody>
      </p:sp>
      <p:sp>
        <p:nvSpPr>
          <p:cNvPr id="17" name="Rounded Rectangle 16"/>
          <p:cNvSpPr/>
          <p:nvPr/>
        </p:nvSpPr>
        <p:spPr>
          <a:xfrm>
            <a:off x="82296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97280" y="4370831"/>
            <a:ext cx="731520" cy="640080"/>
          </a:xfrm>
          <a:prstGeom prst="rect">
            <a:avLst/>
          </a:prstGeom>
          <a:noFill/>
        </p:spPr>
        <p:txBody>
          <a:bodyPr wrap="square" lIns="0" tIns="0" rIns="0" bIns="0">
            <a:spAutoFit/>
          </a:bodyPr>
          <a:lstStyle/>
          <a:p>
            <a:pPr algn="l">
              <a:spcAft>
                <a:spcPts val="600"/>
              </a:spcAft>
            </a:pPr>
            <a:r>
              <a:rPr sz="3400" b="1">
                <a:solidFill>
                  <a:srgbClr val="ED7623"/>
                </a:solidFill>
                <a:latin typeface="Helvetica Neue"/>
              </a:rPr>
              <a:t>4</a:t>
            </a:r>
          </a:p>
        </p:txBody>
      </p:sp>
      <p:sp>
        <p:nvSpPr>
          <p:cNvPr id="19" name="TextBox 18"/>
          <p:cNvSpPr txBox="1"/>
          <p:nvPr/>
        </p:nvSpPr>
        <p:spPr>
          <a:xfrm>
            <a:off x="1737360" y="4453127"/>
            <a:ext cx="2286000" cy="457200"/>
          </a:xfrm>
          <a:prstGeom prst="rect">
            <a:avLst/>
          </a:prstGeom>
          <a:noFill/>
        </p:spPr>
        <p:txBody>
          <a:bodyPr wrap="square" lIns="0" tIns="0" rIns="0" bIns="0">
            <a:spAutoFit/>
          </a:bodyPr>
          <a:lstStyle/>
          <a:p>
            <a:pPr algn="l">
              <a:spcAft>
                <a:spcPts val="600"/>
              </a:spcAft>
            </a:pPr>
            <a:r>
              <a:rPr sz="2100" b="1">
                <a:solidFill>
                  <a:srgbClr val="11406E"/>
                </a:solidFill>
                <a:latin typeface="Helvetica Neue"/>
              </a:rPr>
              <a:t>Unirlos</a:t>
            </a:r>
          </a:p>
        </p:txBody>
      </p:sp>
      <p:sp>
        <p:nvSpPr>
          <p:cNvPr id="20" name="TextBox 19"/>
          <p:cNvSpPr txBox="1"/>
          <p:nvPr/>
        </p:nvSpPr>
        <p:spPr>
          <a:xfrm>
            <a:off x="1097280" y="5166359"/>
            <a:ext cx="2743200" cy="640080"/>
          </a:xfrm>
          <a:prstGeom prst="rect">
            <a:avLst/>
          </a:prstGeom>
          <a:noFill/>
        </p:spPr>
        <p:txBody>
          <a:bodyPr wrap="square" lIns="0" tIns="0" rIns="0" bIns="0">
            <a:spAutoFit/>
          </a:bodyPr>
          <a:lstStyle/>
          <a:p>
            <a:pPr algn="l">
              <a:lnSpc>
                <a:spcPct val="120000"/>
              </a:lnSpc>
              <a:spcAft>
                <a:spcPts val="600"/>
              </a:spcAft>
            </a:pPr>
            <a:r>
              <a:rPr sz="1350" b="0">
                <a:solidFill>
                  <a:srgbClr val="6E6E6E"/>
                </a:solidFill>
                <a:latin typeface="Helvetica Neue"/>
              </a:rPr>
              <a:t>En Flow mismo, o en ChatGPT</a:t>
            </a:r>
          </a:p>
        </p:txBody>
      </p:sp>
      <p:sp>
        <p:nvSpPr>
          <p:cNvPr id="21" name="Rounded Rectangle 20"/>
          <p:cNvSpPr/>
          <p:nvPr/>
        </p:nvSpPr>
        <p:spPr>
          <a:xfrm>
            <a:off x="443484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09160" y="4370831"/>
            <a:ext cx="731520" cy="640080"/>
          </a:xfrm>
          <a:prstGeom prst="rect">
            <a:avLst/>
          </a:prstGeom>
          <a:noFill/>
        </p:spPr>
        <p:txBody>
          <a:bodyPr wrap="square" lIns="0" tIns="0" rIns="0" bIns="0">
            <a:spAutoFit/>
          </a:bodyPr>
          <a:lstStyle/>
          <a:p>
            <a:pPr algn="l">
              <a:spcAft>
                <a:spcPts val="600"/>
              </a:spcAft>
            </a:pPr>
            <a:r>
              <a:rPr sz="3400" b="1">
                <a:solidFill>
                  <a:srgbClr val="35789C"/>
                </a:solidFill>
                <a:latin typeface="Helvetica Neue"/>
              </a:rPr>
              <a:t>5</a:t>
            </a:r>
          </a:p>
        </p:txBody>
      </p:sp>
      <p:sp>
        <p:nvSpPr>
          <p:cNvPr id="23" name="TextBox 22"/>
          <p:cNvSpPr txBox="1"/>
          <p:nvPr/>
        </p:nvSpPr>
        <p:spPr>
          <a:xfrm>
            <a:off x="5349240" y="4453127"/>
            <a:ext cx="2286000" cy="457200"/>
          </a:xfrm>
          <a:prstGeom prst="rect">
            <a:avLst/>
          </a:prstGeom>
          <a:noFill/>
        </p:spPr>
        <p:txBody>
          <a:bodyPr wrap="square" lIns="0" tIns="0" rIns="0" bIns="0">
            <a:spAutoFit/>
          </a:bodyPr>
          <a:lstStyle/>
          <a:p>
            <a:pPr algn="l">
              <a:spcAft>
                <a:spcPts val="600"/>
              </a:spcAft>
            </a:pPr>
            <a:r>
              <a:rPr sz="1600" b="1">
                <a:solidFill>
                  <a:srgbClr val="11406E"/>
                </a:solidFill>
                <a:latin typeface="Helvetica Neue"/>
              </a:rPr>
              <a:t>Remates  (opcional)</a:t>
            </a:r>
          </a:p>
        </p:txBody>
      </p:sp>
      <p:sp>
        <p:nvSpPr>
          <p:cNvPr id="24" name="TextBox 23"/>
          <p:cNvSpPr txBox="1"/>
          <p:nvPr/>
        </p:nvSpPr>
        <p:spPr>
          <a:xfrm>
            <a:off x="4709160" y="5166359"/>
            <a:ext cx="2743200" cy="640080"/>
          </a:xfrm>
          <a:prstGeom prst="rect">
            <a:avLst/>
          </a:prstGeom>
          <a:noFill/>
        </p:spPr>
        <p:txBody>
          <a:bodyPr wrap="square" lIns="0" tIns="0" rIns="0" bIns="0">
            <a:spAutoFit/>
          </a:bodyPr>
          <a:lstStyle/>
          <a:p>
            <a:pPr algn="l">
              <a:lnSpc>
                <a:spcPct val="120000"/>
              </a:lnSpc>
              <a:spcAft>
                <a:spcPts val="600"/>
              </a:spcAft>
            </a:pPr>
            <a:r>
              <a:rPr sz="1350" b="0">
                <a:solidFill>
                  <a:srgbClr val="6E6E6E"/>
                </a:solidFill>
                <a:latin typeface="Helvetica Neue"/>
              </a:rPr>
              <a:t>Subtítulos y música en CapCut</a:t>
            </a:r>
          </a:p>
        </p:txBody>
      </p:sp>
      <p:sp>
        <p:nvSpPr>
          <p:cNvPr id="25" name="Rounded Rectangle 24"/>
          <p:cNvSpPr/>
          <p:nvPr/>
        </p:nvSpPr>
        <p:spPr>
          <a:xfrm>
            <a:off x="804672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321040" y="4370831"/>
            <a:ext cx="731520" cy="640080"/>
          </a:xfrm>
          <a:prstGeom prst="rect">
            <a:avLst/>
          </a:prstGeom>
          <a:noFill/>
        </p:spPr>
        <p:txBody>
          <a:bodyPr wrap="square" lIns="0" tIns="0" rIns="0" bIns="0">
            <a:spAutoFit/>
          </a:bodyPr>
          <a:lstStyle/>
          <a:p>
            <a:pPr algn="l">
              <a:spcAft>
                <a:spcPts val="600"/>
              </a:spcAft>
            </a:pPr>
            <a:r>
              <a:rPr sz="3400" b="1">
                <a:solidFill>
                  <a:srgbClr val="35789C"/>
                </a:solidFill>
                <a:latin typeface="Helvetica Neue"/>
              </a:rPr>
              <a:t>6</a:t>
            </a:r>
          </a:p>
        </p:txBody>
      </p:sp>
      <p:sp>
        <p:nvSpPr>
          <p:cNvPr id="27" name="TextBox 26"/>
          <p:cNvSpPr txBox="1"/>
          <p:nvPr/>
        </p:nvSpPr>
        <p:spPr>
          <a:xfrm>
            <a:off x="8961120" y="4453127"/>
            <a:ext cx="2286000" cy="457200"/>
          </a:xfrm>
          <a:prstGeom prst="rect">
            <a:avLst/>
          </a:prstGeom>
          <a:noFill/>
        </p:spPr>
        <p:txBody>
          <a:bodyPr wrap="square" lIns="0" tIns="0" rIns="0" bIns="0">
            <a:spAutoFit/>
          </a:bodyPr>
          <a:lstStyle/>
          <a:p>
            <a:pPr algn="l">
              <a:spcAft>
                <a:spcPts val="600"/>
              </a:spcAft>
            </a:pPr>
            <a:r>
              <a:rPr sz="1600" b="1">
                <a:solidFill>
                  <a:srgbClr val="11406E"/>
                </a:solidFill>
                <a:latin typeface="Helvetica Neue"/>
              </a:rPr>
              <a:t>Ruta B  (opcional)</a:t>
            </a:r>
          </a:p>
        </p:txBody>
      </p:sp>
      <p:sp>
        <p:nvSpPr>
          <p:cNvPr id="28" name="TextBox 27"/>
          <p:cNvSpPr txBox="1"/>
          <p:nvPr/>
        </p:nvSpPr>
        <p:spPr>
          <a:xfrm>
            <a:off x="8321040" y="5166359"/>
            <a:ext cx="2743200" cy="640080"/>
          </a:xfrm>
          <a:prstGeom prst="rect">
            <a:avLst/>
          </a:prstGeom>
          <a:noFill/>
        </p:spPr>
        <p:txBody>
          <a:bodyPr wrap="square" lIns="0" tIns="0" rIns="0" bIns="0">
            <a:spAutoFit/>
          </a:bodyPr>
          <a:lstStyle/>
          <a:p>
            <a:pPr algn="l">
              <a:lnSpc>
                <a:spcPct val="120000"/>
              </a:lnSpc>
              <a:spcAft>
                <a:spcPts val="600"/>
              </a:spcAft>
            </a:pPr>
            <a:r>
              <a:rPr sz="1350" b="0">
                <a:solidFill>
                  <a:srgbClr val="6E6E6E"/>
                </a:solidFill>
                <a:latin typeface="Helvetica Neue"/>
              </a:rPr>
              <a:t>Si no hay créditos ese día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ED7623"/>
                </a:solidFill>
                <a:latin typeface="Helvetica Neue"/>
              </a:rPr>
              <a:t>LAS HERRAMIENTAS</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3600" b="1">
                <a:solidFill>
                  <a:srgbClr val="11406E"/>
                </a:solidFill>
                <a:latin typeface="Helvetica Neue"/>
              </a:rPr>
              <a:t>Tres, y una advertencia</a:t>
            </a:r>
          </a:p>
        </p:txBody>
      </p:sp>
      <p:sp>
        <p:nvSpPr>
          <p:cNvPr id="5" name="Rectangle 4"/>
          <p:cNvSpPr/>
          <p:nvPr/>
        </p:nvSpPr>
        <p:spPr>
          <a:xfrm>
            <a:off x="822960" y="2606040"/>
            <a:ext cx="10607040" cy="20116"/>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103120"/>
            <a:ext cx="4572000" cy="566928"/>
          </a:xfrm>
          <a:prstGeom prst="rect">
            <a:avLst/>
          </a:prstGeom>
          <a:noFill/>
        </p:spPr>
        <p:txBody>
          <a:bodyPr wrap="square" lIns="0" tIns="0" rIns="0" bIns="0">
            <a:spAutoFit/>
          </a:bodyPr>
          <a:lstStyle/>
          <a:p>
            <a:pPr algn="l">
              <a:lnSpc>
                <a:spcPct val="112000"/>
              </a:lnSpc>
              <a:spcAft>
                <a:spcPts val="0"/>
              </a:spcAft>
            </a:pPr>
            <a:r>
              <a:rPr sz="1700" b="1">
                <a:solidFill>
                  <a:srgbClr val="35789C"/>
                </a:solidFill>
                <a:latin typeface="Helvetica Neue"/>
              </a:rPr>
              <a:t>PARA QUÉ</a:t>
            </a:r>
          </a:p>
        </p:txBody>
      </p:sp>
      <p:sp>
        <p:nvSpPr>
          <p:cNvPr id="7" name="TextBox 6"/>
          <p:cNvSpPr txBox="1"/>
          <p:nvPr/>
        </p:nvSpPr>
        <p:spPr>
          <a:xfrm>
            <a:off x="5394960" y="2103120"/>
            <a:ext cx="6035040" cy="566928"/>
          </a:xfrm>
          <a:prstGeom prst="rect">
            <a:avLst/>
          </a:prstGeom>
          <a:noFill/>
        </p:spPr>
        <p:txBody>
          <a:bodyPr wrap="square" lIns="0" tIns="0" rIns="0" bIns="0">
            <a:spAutoFit/>
          </a:bodyPr>
          <a:lstStyle/>
          <a:p>
            <a:pPr algn="l">
              <a:lnSpc>
                <a:spcPct val="112000"/>
              </a:lnSpc>
              <a:spcAft>
                <a:spcPts val="0"/>
              </a:spcAft>
            </a:pPr>
            <a:r>
              <a:rPr sz="1700" b="1">
                <a:solidFill>
                  <a:srgbClr val="35789C"/>
                </a:solidFill>
                <a:latin typeface="Helvetica Neue"/>
              </a:rPr>
              <a:t>HERRAMIENTA</a:t>
            </a:r>
          </a:p>
        </p:txBody>
      </p:sp>
      <p:sp>
        <p:nvSpPr>
          <p:cNvPr id="8" name="TextBox 7"/>
          <p:cNvSpPr txBox="1"/>
          <p:nvPr/>
        </p:nvSpPr>
        <p:spPr>
          <a:xfrm>
            <a:off x="822960" y="2670048"/>
            <a:ext cx="4572000" cy="566928"/>
          </a:xfrm>
          <a:prstGeom prst="rect">
            <a:avLst/>
          </a:prstGeom>
          <a:noFill/>
        </p:spPr>
        <p:txBody>
          <a:bodyPr wrap="square" lIns="0" tIns="0" rIns="0" bIns="0">
            <a:spAutoFit/>
          </a:bodyPr>
          <a:lstStyle/>
          <a:p>
            <a:pPr algn="l">
              <a:lnSpc>
                <a:spcPct val="112000"/>
              </a:lnSpc>
              <a:spcAft>
                <a:spcPts val="0"/>
              </a:spcAft>
            </a:pPr>
            <a:r>
              <a:rPr sz="1700" b="1">
                <a:solidFill>
                  <a:srgbClr val="ED7623"/>
                </a:solidFill>
                <a:latin typeface="Helvetica Neue"/>
              </a:rPr>
              <a:t>Guion</a:t>
            </a:r>
          </a:p>
        </p:txBody>
      </p:sp>
      <p:sp>
        <p:nvSpPr>
          <p:cNvPr id="9" name="TextBox 8"/>
          <p:cNvSpPr txBox="1"/>
          <p:nvPr/>
        </p:nvSpPr>
        <p:spPr>
          <a:xfrm>
            <a:off x="5394960" y="2670048"/>
            <a:ext cx="6035040" cy="566928"/>
          </a:xfrm>
          <a:prstGeom prst="rect">
            <a:avLst/>
          </a:prstGeom>
          <a:noFill/>
        </p:spPr>
        <p:txBody>
          <a:bodyPr wrap="square" lIns="0" tIns="0" rIns="0" bIns="0">
            <a:spAutoFit/>
          </a:bodyPr>
          <a:lstStyle/>
          <a:p>
            <a:pPr algn="l">
              <a:lnSpc>
                <a:spcPct val="112000"/>
              </a:lnSpc>
              <a:spcAft>
                <a:spcPts val="0"/>
              </a:spcAft>
            </a:pPr>
            <a:r>
              <a:rPr sz="1700" b="0">
                <a:solidFill>
                  <a:srgbClr val="6E6E6E"/>
                </a:solidFill>
                <a:latin typeface="Helvetica Neue"/>
              </a:rPr>
              <a:t>Gemini</a:t>
            </a:r>
          </a:p>
        </p:txBody>
      </p:sp>
      <p:sp>
        <p:nvSpPr>
          <p:cNvPr id="10" name="Rectangle 9"/>
          <p:cNvSpPr/>
          <p:nvPr/>
        </p:nvSpPr>
        <p:spPr>
          <a:xfrm>
            <a:off x="822960" y="3172968"/>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3236976"/>
            <a:ext cx="4572000" cy="566928"/>
          </a:xfrm>
          <a:prstGeom prst="rect">
            <a:avLst/>
          </a:prstGeom>
          <a:noFill/>
        </p:spPr>
        <p:txBody>
          <a:bodyPr wrap="square" lIns="0" tIns="0" rIns="0" bIns="0">
            <a:spAutoFit/>
          </a:bodyPr>
          <a:lstStyle/>
          <a:p>
            <a:pPr algn="l">
              <a:lnSpc>
                <a:spcPct val="112000"/>
              </a:lnSpc>
              <a:spcAft>
                <a:spcPts val="0"/>
              </a:spcAft>
            </a:pPr>
            <a:r>
              <a:rPr sz="1700" b="1">
                <a:solidFill>
                  <a:srgbClr val="ED7623"/>
                </a:solidFill>
                <a:latin typeface="Helvetica Neue"/>
              </a:rPr>
              <a:t>Personaje, clips y montaje</a:t>
            </a:r>
          </a:p>
        </p:txBody>
      </p:sp>
      <p:sp>
        <p:nvSpPr>
          <p:cNvPr id="12" name="TextBox 11"/>
          <p:cNvSpPr txBox="1"/>
          <p:nvPr/>
        </p:nvSpPr>
        <p:spPr>
          <a:xfrm>
            <a:off x="5394960" y="3236976"/>
            <a:ext cx="6035040" cy="566928"/>
          </a:xfrm>
          <a:prstGeom prst="rect">
            <a:avLst/>
          </a:prstGeom>
          <a:noFill/>
        </p:spPr>
        <p:txBody>
          <a:bodyPr wrap="square" lIns="0" tIns="0" rIns="0" bIns="0">
            <a:spAutoFit/>
          </a:bodyPr>
          <a:lstStyle/>
          <a:p>
            <a:pPr algn="l">
              <a:lnSpc>
                <a:spcPct val="112000"/>
              </a:lnSpc>
              <a:spcAft>
                <a:spcPts val="0"/>
              </a:spcAft>
            </a:pPr>
            <a:r>
              <a:rPr sz="1700" b="0">
                <a:solidFill>
                  <a:srgbClr val="6E6E6E"/>
                </a:solidFill>
                <a:latin typeface="Helvetica Neue"/>
              </a:rPr>
              <a:t>Google Flow · 50 créditos gratis al día</a:t>
            </a:r>
          </a:p>
        </p:txBody>
      </p:sp>
      <p:sp>
        <p:nvSpPr>
          <p:cNvPr id="13" name="Rectangle 12"/>
          <p:cNvSpPr/>
          <p:nvPr/>
        </p:nvSpPr>
        <p:spPr>
          <a:xfrm>
            <a:off x="822960" y="3739896"/>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3803904"/>
            <a:ext cx="4572000" cy="566928"/>
          </a:xfrm>
          <a:prstGeom prst="rect">
            <a:avLst/>
          </a:prstGeom>
          <a:noFill/>
        </p:spPr>
        <p:txBody>
          <a:bodyPr wrap="square" lIns="0" tIns="0" rIns="0" bIns="0">
            <a:spAutoFit/>
          </a:bodyPr>
          <a:lstStyle/>
          <a:p>
            <a:pPr algn="l">
              <a:lnSpc>
                <a:spcPct val="112000"/>
              </a:lnSpc>
              <a:spcAft>
                <a:spcPts val="0"/>
              </a:spcAft>
            </a:pPr>
            <a:r>
              <a:rPr sz="1700" b="1">
                <a:solidFill>
                  <a:srgbClr val="ED7623"/>
                </a:solidFill>
                <a:latin typeface="Helvetica Neue"/>
              </a:rPr>
              <a:t>Unirlos, si Flow falla</a:t>
            </a:r>
          </a:p>
        </p:txBody>
      </p:sp>
      <p:sp>
        <p:nvSpPr>
          <p:cNvPr id="15" name="TextBox 14"/>
          <p:cNvSpPr txBox="1"/>
          <p:nvPr/>
        </p:nvSpPr>
        <p:spPr>
          <a:xfrm>
            <a:off x="5394960" y="3803904"/>
            <a:ext cx="6035040" cy="566928"/>
          </a:xfrm>
          <a:prstGeom prst="rect">
            <a:avLst/>
          </a:prstGeom>
          <a:noFill/>
        </p:spPr>
        <p:txBody>
          <a:bodyPr wrap="square" lIns="0" tIns="0" rIns="0" bIns="0">
            <a:spAutoFit/>
          </a:bodyPr>
          <a:lstStyle/>
          <a:p>
            <a:pPr algn="l">
              <a:lnSpc>
                <a:spcPct val="112000"/>
              </a:lnSpc>
              <a:spcAft>
                <a:spcPts val="0"/>
              </a:spcAft>
            </a:pPr>
            <a:r>
              <a:rPr sz="1700" b="0">
                <a:solidFill>
                  <a:srgbClr val="6E6E6E"/>
                </a:solidFill>
                <a:latin typeface="Helvetica Neue"/>
              </a:rPr>
              <a:t>ChatGPT</a:t>
            </a:r>
          </a:p>
        </p:txBody>
      </p:sp>
      <p:sp>
        <p:nvSpPr>
          <p:cNvPr id="16" name="Rectangle 15"/>
          <p:cNvSpPr/>
          <p:nvPr/>
        </p:nvSpPr>
        <p:spPr>
          <a:xfrm>
            <a:off x="822960" y="4306824"/>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 y="4370832"/>
            <a:ext cx="4572000" cy="566928"/>
          </a:xfrm>
          <a:prstGeom prst="rect">
            <a:avLst/>
          </a:prstGeom>
          <a:noFill/>
        </p:spPr>
        <p:txBody>
          <a:bodyPr wrap="square" lIns="0" tIns="0" rIns="0" bIns="0">
            <a:spAutoFit/>
          </a:bodyPr>
          <a:lstStyle/>
          <a:p>
            <a:pPr algn="l">
              <a:lnSpc>
                <a:spcPct val="112000"/>
              </a:lnSpc>
              <a:spcAft>
                <a:spcPts val="0"/>
              </a:spcAft>
            </a:pPr>
            <a:r>
              <a:rPr sz="1700" b="1">
                <a:solidFill>
                  <a:srgbClr val="ED7623"/>
                </a:solidFill>
                <a:latin typeface="Helvetica Neue"/>
              </a:rPr>
              <a:t>Subtítulos y música (opcional)</a:t>
            </a:r>
          </a:p>
        </p:txBody>
      </p:sp>
      <p:sp>
        <p:nvSpPr>
          <p:cNvPr id="18" name="TextBox 17"/>
          <p:cNvSpPr txBox="1"/>
          <p:nvPr/>
        </p:nvSpPr>
        <p:spPr>
          <a:xfrm>
            <a:off x="5394960" y="4370832"/>
            <a:ext cx="6035040" cy="566928"/>
          </a:xfrm>
          <a:prstGeom prst="rect">
            <a:avLst/>
          </a:prstGeom>
          <a:noFill/>
        </p:spPr>
        <p:txBody>
          <a:bodyPr wrap="square" lIns="0" tIns="0" rIns="0" bIns="0">
            <a:spAutoFit/>
          </a:bodyPr>
          <a:lstStyle/>
          <a:p>
            <a:pPr algn="l">
              <a:lnSpc>
                <a:spcPct val="112000"/>
              </a:lnSpc>
              <a:spcAft>
                <a:spcPts val="0"/>
              </a:spcAft>
            </a:pPr>
            <a:r>
              <a:rPr sz="1700" b="0">
                <a:solidFill>
                  <a:srgbClr val="6E6E6E"/>
                </a:solidFill>
                <a:latin typeface="Helvetica Neue"/>
              </a:rPr>
              <a:t>CapCut</a:t>
            </a:r>
          </a:p>
        </p:txBody>
      </p:sp>
      <p:sp>
        <p:nvSpPr>
          <p:cNvPr id="19" name="Rounded Rectangle 18"/>
          <p:cNvSpPr/>
          <p:nvPr/>
        </p:nvSpPr>
        <p:spPr>
          <a:xfrm>
            <a:off x="822960" y="5532120"/>
            <a:ext cx="10607040" cy="100584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234440" y="5760720"/>
            <a:ext cx="9875520" cy="640080"/>
          </a:xfrm>
          <a:prstGeom prst="rect">
            <a:avLst/>
          </a:prstGeom>
          <a:noFill/>
        </p:spPr>
        <p:txBody>
          <a:bodyPr wrap="square" lIns="0" tIns="0" rIns="0" bIns="0">
            <a:spAutoFit/>
          </a:bodyPr>
          <a:lstStyle/>
          <a:p>
            <a:pPr algn="l">
              <a:lnSpc>
                <a:spcPct val="125000"/>
              </a:lnSpc>
              <a:spcAft>
                <a:spcPts val="200"/>
              </a:spcAft>
            </a:pPr>
            <a:r>
              <a:rPr sz="1700" b="1">
                <a:solidFill>
                  <a:srgbClr val="ED7623"/>
                </a:solidFill>
                <a:latin typeface="Helvetica Neue"/>
              </a:rPr>
              <a:t>Flow: 50 créditos al día, 10 por clip. Cuatro clips y uno de repuesto.</a:t>
            </a:r>
          </a:p>
          <a:p>
            <a:pPr algn="l">
              <a:lnSpc>
                <a:spcPct val="125000"/>
              </a:lnSpc>
              <a:spcAft>
                <a:spcPts val="200"/>
              </a:spcAft>
            </a:pPr>
            <a:r>
              <a:rPr sz="1500" b="0">
                <a:solidFill>
                  <a:srgbClr val="6E6E6E"/>
                </a:solidFill>
                <a:latin typeface="Helvetica Neue"/>
              </a:rPr>
              <a:t>Crear el personaje no gasta nada. La cuenta de la Universidad no sirve.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ED7623"/>
                </a:solidFill>
                <a:latin typeface="Helvetica Neue"/>
              </a:rPr>
              <a:t>ANTES DE PRODUCIR NADA</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4000" b="1">
                <a:solidFill>
                  <a:srgbClr val="11406E"/>
                </a:solidFill>
                <a:latin typeface="Helvetica Neue"/>
              </a:rPr>
              <a:t>Tres reglas que no se negocian</a:t>
            </a:r>
          </a:p>
        </p:txBody>
      </p:sp>
      <p:sp>
        <p:nvSpPr>
          <p:cNvPr id="5" name="Rounded Rectangle 4"/>
          <p:cNvSpPr/>
          <p:nvPr/>
        </p:nvSpPr>
        <p:spPr>
          <a:xfrm>
            <a:off x="822960" y="2377440"/>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2560320"/>
            <a:ext cx="3108960" cy="548640"/>
          </a:xfrm>
          <a:prstGeom prst="rect">
            <a:avLst/>
          </a:prstGeom>
          <a:noFill/>
        </p:spPr>
        <p:txBody>
          <a:bodyPr wrap="square" lIns="0" tIns="0" rIns="0" bIns="0">
            <a:spAutoFit/>
          </a:bodyPr>
          <a:lstStyle/>
          <a:p>
            <a:pPr algn="l">
              <a:lnSpc>
                <a:spcPct val="110000"/>
              </a:lnSpc>
              <a:spcAft>
                <a:spcPts val="600"/>
              </a:spcAft>
            </a:pPr>
            <a:r>
              <a:rPr sz="2100" b="1">
                <a:solidFill>
                  <a:srgbClr val="ED7623"/>
                </a:solidFill>
                <a:latin typeface="Helvetica Neue"/>
              </a:rPr>
              <a:t>Tu cara y tu voz</a:t>
            </a:r>
          </a:p>
        </p:txBody>
      </p:sp>
      <p:sp>
        <p:nvSpPr>
          <p:cNvPr id="7" name="TextBox 6"/>
          <p:cNvSpPr txBox="1"/>
          <p:nvPr/>
        </p:nvSpPr>
        <p:spPr>
          <a:xfrm>
            <a:off x="4480560" y="2633472"/>
            <a:ext cx="6675120" cy="731520"/>
          </a:xfrm>
          <a:prstGeom prst="rect">
            <a:avLst/>
          </a:prstGeom>
          <a:noFill/>
        </p:spPr>
        <p:txBody>
          <a:bodyPr wrap="square" lIns="0" tIns="0" rIns="0" bIns="0">
            <a:spAutoFit/>
          </a:bodyPr>
          <a:lstStyle/>
          <a:p>
            <a:pPr algn="l">
              <a:lnSpc>
                <a:spcPct val="125000"/>
              </a:lnSpc>
              <a:spcAft>
                <a:spcPts val="600"/>
              </a:spcAft>
            </a:pPr>
            <a:r>
              <a:rPr sz="1600" b="0">
                <a:solidFill>
                  <a:srgbClr val="6E6E6E"/>
                </a:solidFill>
                <a:latin typeface="Helvetica Neue"/>
              </a:rPr>
              <a:t>Solo las tuyas. Adjuntar la foto de otro es hacer un deepfake de esa persona.</a:t>
            </a:r>
          </a:p>
        </p:txBody>
      </p:sp>
      <p:sp>
        <p:nvSpPr>
          <p:cNvPr id="8" name="Rounded Rectangle 7"/>
          <p:cNvSpPr/>
          <p:nvPr/>
        </p:nvSpPr>
        <p:spPr>
          <a:xfrm>
            <a:off x="822960" y="3749039"/>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88720" y="3931920"/>
            <a:ext cx="3108960" cy="548640"/>
          </a:xfrm>
          <a:prstGeom prst="rect">
            <a:avLst/>
          </a:prstGeom>
          <a:noFill/>
        </p:spPr>
        <p:txBody>
          <a:bodyPr wrap="square" lIns="0" tIns="0" rIns="0" bIns="0">
            <a:spAutoFit/>
          </a:bodyPr>
          <a:lstStyle/>
          <a:p>
            <a:pPr algn="l">
              <a:lnSpc>
                <a:spcPct val="110000"/>
              </a:lnSpc>
              <a:spcAft>
                <a:spcPts val="600"/>
              </a:spcAft>
            </a:pPr>
            <a:r>
              <a:rPr sz="2100" b="1">
                <a:solidFill>
                  <a:srgbClr val="ED7623"/>
                </a:solidFill>
                <a:latin typeface="Helvetica Neue"/>
              </a:rPr>
              <a:t>Se declara</a:t>
            </a:r>
          </a:p>
        </p:txBody>
      </p:sp>
      <p:sp>
        <p:nvSpPr>
          <p:cNvPr id="10" name="TextBox 9"/>
          <p:cNvSpPr txBox="1"/>
          <p:nvPr/>
        </p:nvSpPr>
        <p:spPr>
          <a:xfrm>
            <a:off x="4480560" y="4005072"/>
            <a:ext cx="6675120" cy="731520"/>
          </a:xfrm>
          <a:prstGeom prst="rect">
            <a:avLst/>
          </a:prstGeom>
          <a:noFill/>
        </p:spPr>
        <p:txBody>
          <a:bodyPr wrap="square" lIns="0" tIns="0" rIns="0" bIns="0">
            <a:spAutoFit/>
          </a:bodyPr>
          <a:lstStyle/>
          <a:p>
            <a:pPr algn="l">
              <a:lnSpc>
                <a:spcPct val="125000"/>
              </a:lnSpc>
              <a:spcAft>
                <a:spcPts val="600"/>
              </a:spcAft>
            </a:pPr>
            <a:r>
              <a:rPr sz="1600" b="0">
                <a:solidFill>
                  <a:srgbClr val="6E6E6E"/>
                </a:solidFill>
                <a:latin typeface="Helvetica Neue"/>
              </a:rPr>
              <a:t>En el video o en la descripción: qué parte se hizo con IA y con qué herramienta.</a:t>
            </a:r>
          </a:p>
        </p:txBody>
      </p:sp>
      <p:sp>
        <p:nvSpPr>
          <p:cNvPr id="11" name="Rounded Rectangle 10"/>
          <p:cNvSpPr/>
          <p:nvPr/>
        </p:nvSpPr>
        <p:spPr>
          <a:xfrm>
            <a:off x="822960" y="5120640"/>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88720" y="5303520"/>
            <a:ext cx="3108960" cy="548640"/>
          </a:xfrm>
          <a:prstGeom prst="rect">
            <a:avLst/>
          </a:prstGeom>
          <a:noFill/>
        </p:spPr>
        <p:txBody>
          <a:bodyPr wrap="square" lIns="0" tIns="0" rIns="0" bIns="0">
            <a:spAutoFit/>
          </a:bodyPr>
          <a:lstStyle/>
          <a:p>
            <a:pPr algn="l">
              <a:lnSpc>
                <a:spcPct val="110000"/>
              </a:lnSpc>
              <a:spcAft>
                <a:spcPts val="600"/>
              </a:spcAft>
            </a:pPr>
            <a:r>
              <a:rPr sz="2100" b="1">
                <a:solidFill>
                  <a:srgbClr val="ED7623"/>
                </a:solidFill>
                <a:latin typeface="Helvetica Neue"/>
              </a:rPr>
              <a:t>Nada confidencial</a:t>
            </a:r>
          </a:p>
        </p:txBody>
      </p:sp>
      <p:sp>
        <p:nvSpPr>
          <p:cNvPr id="13" name="TextBox 12"/>
          <p:cNvSpPr txBox="1"/>
          <p:nvPr/>
        </p:nvSpPr>
        <p:spPr>
          <a:xfrm>
            <a:off x="4480560" y="5376672"/>
            <a:ext cx="6675120" cy="731520"/>
          </a:xfrm>
          <a:prstGeom prst="rect">
            <a:avLst/>
          </a:prstGeom>
          <a:noFill/>
        </p:spPr>
        <p:txBody>
          <a:bodyPr wrap="square" lIns="0" tIns="0" rIns="0" bIns="0">
            <a:spAutoFit/>
          </a:bodyPr>
          <a:lstStyle/>
          <a:p>
            <a:pPr algn="l">
              <a:lnSpc>
                <a:spcPct val="125000"/>
              </a:lnSpc>
              <a:spcAft>
                <a:spcPts val="600"/>
              </a:spcAft>
            </a:pPr>
            <a:r>
              <a:rPr sz="1600" b="0">
                <a:solidFill>
                  <a:srgbClr val="6E6E6E"/>
                </a:solidFill>
                <a:latin typeface="Helvetica Neue"/>
              </a:rPr>
              <a:t>Ni datos de pacientes, ni de clientes, ni de menores, ni expedientes.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914400"/>
            <a:ext cx="1828800" cy="1463040"/>
          </a:xfrm>
          <a:prstGeom prst="rect">
            <a:avLst/>
          </a:prstGeom>
          <a:noFill/>
        </p:spPr>
        <p:txBody>
          <a:bodyPr wrap="square" lIns="0" tIns="0" rIns="0" bIns="0">
            <a:spAutoFit/>
          </a:bodyPr>
          <a:lstStyle/>
          <a:p>
            <a:pPr algn="l">
              <a:spcAft>
                <a:spcPts val="600"/>
              </a:spcAft>
            </a:pPr>
            <a:r>
              <a:rPr sz="9600" b="1">
                <a:solidFill>
                  <a:srgbClr val="ED7623"/>
                </a:solidFill>
                <a:latin typeface="Helvetica Neue"/>
              </a:rPr>
              <a:t>1</a:t>
            </a:r>
          </a:p>
        </p:txBody>
      </p:sp>
      <p:sp>
        <p:nvSpPr>
          <p:cNvPr id="4" name="TextBox 3"/>
          <p:cNvSpPr txBox="1"/>
          <p:nvPr/>
        </p:nvSpPr>
        <p:spPr>
          <a:xfrm>
            <a:off x="2103120" y="1051560"/>
            <a:ext cx="8686800" cy="822960"/>
          </a:xfrm>
          <a:prstGeom prst="rect">
            <a:avLst/>
          </a:prstGeom>
          <a:noFill/>
        </p:spPr>
        <p:txBody>
          <a:bodyPr wrap="square" lIns="0" tIns="0" rIns="0" bIns="0">
            <a:spAutoFit/>
          </a:bodyPr>
          <a:lstStyle/>
          <a:p>
            <a:pPr algn="l">
              <a:spcAft>
                <a:spcPts val="600"/>
              </a:spcAft>
            </a:pPr>
            <a:r>
              <a:rPr sz="4400" b="1">
                <a:solidFill>
                  <a:srgbClr val="11406E"/>
                </a:solidFill>
                <a:latin typeface="Helvetica Neue"/>
              </a:rPr>
              <a:t>El guion</a:t>
            </a:r>
          </a:p>
        </p:txBody>
      </p:sp>
      <p:sp>
        <p:nvSpPr>
          <p:cNvPr id="5" name="TextBox 4"/>
          <p:cNvSpPr txBox="1"/>
          <p:nvPr/>
        </p:nvSpPr>
        <p:spPr>
          <a:xfrm>
            <a:off x="2103120" y="1965960"/>
            <a:ext cx="8686800" cy="548640"/>
          </a:xfrm>
          <a:prstGeom prst="rect">
            <a:avLst/>
          </a:prstGeom>
          <a:noFill/>
        </p:spPr>
        <p:txBody>
          <a:bodyPr wrap="square" lIns="0" tIns="0" rIns="0" bIns="0">
            <a:spAutoFit/>
          </a:bodyPr>
          <a:lstStyle/>
          <a:p>
            <a:pPr algn="l">
              <a:spcAft>
                <a:spcPts val="600"/>
              </a:spcAft>
            </a:pPr>
            <a:r>
              <a:rPr sz="2000" b="0">
                <a:solidFill>
                  <a:srgbClr val="35789C"/>
                </a:solidFill>
                <a:latin typeface="Helvetica Neue"/>
              </a:rPr>
              <a:t>Y enseguida, partirlo en cuatro</a:t>
            </a:r>
          </a:p>
        </p:txBody>
      </p:sp>
      <p:sp>
        <p:nvSpPr>
          <p:cNvPr id="6" name="Rounded Rectangle 5"/>
          <p:cNvSpPr/>
          <p:nvPr/>
        </p:nvSpPr>
        <p:spPr>
          <a:xfrm>
            <a:off x="2103120" y="2697480"/>
            <a:ext cx="877824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60320" y="3017520"/>
            <a:ext cx="8046720" cy="1645920"/>
          </a:xfrm>
          <a:prstGeom prst="rect">
            <a:avLst/>
          </a:prstGeom>
          <a:noFill/>
        </p:spPr>
        <p:txBody>
          <a:bodyPr wrap="square" lIns="0" tIns="0" rIns="0" bIns="0">
            <a:spAutoFit/>
          </a:bodyPr>
          <a:lstStyle/>
          <a:p>
            <a:pPr algn="l">
              <a:lnSpc>
                <a:spcPct val="135000"/>
              </a:lnSpc>
              <a:spcAft>
                <a:spcPts val="400"/>
              </a:spcAft>
            </a:pPr>
            <a:r>
              <a:rPr sz="2400" b="1">
                <a:solidFill>
                  <a:srgbClr val="11406E"/>
                </a:solidFill>
                <a:latin typeface="Helvetica Neue"/>
              </a:rPr>
              <a:t>Se habla a 150 palabras por minuto</a:t>
            </a:r>
          </a:p>
          <a:p>
            <a:pPr algn="l">
              <a:lnSpc>
                <a:spcPct val="135000"/>
              </a:lnSpc>
              <a:spcAft>
                <a:spcPts val="400"/>
              </a:spcAft>
            </a:pPr>
            <a:r>
              <a:rPr sz="2400" b="1">
                <a:solidFill>
                  <a:srgbClr val="ED7623"/>
                </a:solidFill>
                <a:latin typeface="Helvetica Neue"/>
              </a:rPr>
              <a:t>4 clips × 8 segundos  =  80 palabras</a:t>
            </a:r>
          </a:p>
          <a:p>
            <a:pPr algn="l">
              <a:lnSpc>
                <a:spcPct val="135000"/>
              </a:lnSpc>
              <a:spcAft>
                <a:spcPts val="400"/>
              </a:spcAft>
            </a:pPr>
            <a:endParaRPr sz="2400" b="1">
              <a:solidFill>
                <a:srgbClr val="ED7623"/>
              </a:solidFill>
              <a:latin typeface="Helvetica Neue"/>
            </a:endParaRPr>
          </a:p>
          <a:p>
            <a:pPr algn="l">
              <a:lnSpc>
                <a:spcPct val="135000"/>
              </a:lnSpc>
              <a:spcAft>
                <a:spcPts val="400"/>
              </a:spcAft>
            </a:pPr>
            <a:r>
              <a:rPr sz="1600" b="0">
                <a:solidFill>
                  <a:srgbClr val="6E6E6E"/>
                </a:solidFill>
                <a:latin typeface="Helvetica Neue"/>
              </a:rPr>
              <a:t>Cada frase tiene que entenderse sola, sin la anterior.</a:t>
            </a:r>
          </a:p>
        </p:txBody>
      </p:sp>
      <p:sp>
        <p:nvSpPr>
          <p:cNvPr id="8" name="Rounded Rectangle 7"/>
          <p:cNvSpPr/>
          <p:nvPr/>
        </p:nvSpPr>
        <p:spPr>
          <a:xfrm>
            <a:off x="2103120" y="5074920"/>
            <a:ext cx="8778240" cy="100584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60320" y="5303520"/>
            <a:ext cx="8046720" cy="640080"/>
          </a:xfrm>
          <a:prstGeom prst="rect">
            <a:avLst/>
          </a:prstGeom>
          <a:noFill/>
        </p:spPr>
        <p:txBody>
          <a:bodyPr wrap="square" lIns="0" tIns="0" rIns="0" bIns="0">
            <a:spAutoFit/>
          </a:bodyPr>
          <a:lstStyle/>
          <a:p>
            <a:pPr algn="l">
              <a:lnSpc>
                <a:spcPct val="125000"/>
              </a:lnSpc>
              <a:spcAft>
                <a:spcPts val="200"/>
              </a:spcAft>
            </a:pPr>
            <a:r>
              <a:rPr sz="1700" b="1">
                <a:solidFill>
                  <a:srgbClr val="ED7623"/>
                </a:solidFill>
                <a:latin typeface="Helvetica Neue"/>
              </a:rPr>
              <a:t>Lee cada frase en voz alta y cronométrala.</a:t>
            </a:r>
          </a:p>
          <a:p>
            <a:pPr algn="l">
              <a:lnSpc>
                <a:spcPct val="125000"/>
              </a:lnSpc>
              <a:spcAft>
                <a:spcPts val="200"/>
              </a:spcAft>
            </a:pPr>
            <a:r>
              <a:rPr sz="1500" b="0">
                <a:solidFill>
                  <a:srgbClr val="6E6E6E"/>
                </a:solidFill>
                <a:latin typeface="Helvetica Neue"/>
              </a:rPr>
              <a:t>Si no cabe en diez segundos, pártela.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ED7623"/>
                </a:solidFill>
                <a:latin typeface="Helvetica Neue"/>
              </a:rPr>
              <a:t>TRUCO</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3800" b="1">
                <a:solidFill>
                  <a:srgbClr val="11406E"/>
                </a:solidFill>
                <a:latin typeface="Helvetica Neue"/>
              </a:rPr>
              <a:t>Dicta el guion en vez de escribirlo</a:t>
            </a:r>
          </a:p>
        </p:txBody>
      </p:sp>
      <p:sp>
        <p:nvSpPr>
          <p:cNvPr id="5" name="TextBox 4"/>
          <p:cNvSpPr txBox="1"/>
          <p:nvPr/>
        </p:nvSpPr>
        <p:spPr>
          <a:xfrm>
            <a:off x="822960" y="2103120"/>
            <a:ext cx="10424160" cy="731520"/>
          </a:xfrm>
          <a:prstGeom prst="rect">
            <a:avLst/>
          </a:prstGeom>
          <a:noFill/>
        </p:spPr>
        <p:txBody>
          <a:bodyPr wrap="square" lIns="0" tIns="0" rIns="0" bIns="0">
            <a:spAutoFit/>
          </a:bodyPr>
          <a:lstStyle/>
          <a:p>
            <a:pPr algn="l">
              <a:lnSpc>
                <a:spcPct val="130000"/>
              </a:lnSpc>
              <a:spcAft>
                <a:spcPts val="600"/>
              </a:spcAft>
            </a:pPr>
            <a:r>
              <a:rPr sz="2000" b="0">
                <a:solidFill>
                  <a:srgbClr val="6E6E6E"/>
                </a:solidFill>
                <a:latin typeface="Helvetica Neue"/>
              </a:rPr>
              <a:t>Un texto dictado suena a persona hablando. Uno escrito suena a texto escrito.</a:t>
            </a:r>
          </a:p>
        </p:txBody>
      </p:sp>
      <p:sp>
        <p:nvSpPr>
          <p:cNvPr id="6" name="Rounded Rectangle 5"/>
          <p:cNvSpPr/>
          <p:nvPr/>
        </p:nvSpPr>
        <p:spPr>
          <a:xfrm>
            <a:off x="822960" y="3108960"/>
            <a:ext cx="502920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34440" y="3429000"/>
            <a:ext cx="4206240" cy="548640"/>
          </a:xfrm>
          <a:prstGeom prst="rect">
            <a:avLst/>
          </a:prstGeom>
          <a:noFill/>
        </p:spPr>
        <p:txBody>
          <a:bodyPr wrap="square" lIns="0" tIns="0" rIns="0" bIns="0">
            <a:spAutoFit/>
          </a:bodyPr>
          <a:lstStyle/>
          <a:p>
            <a:pPr algn="l">
              <a:spcAft>
                <a:spcPts val="600"/>
              </a:spcAft>
            </a:pPr>
            <a:r>
              <a:rPr sz="2400" b="1">
                <a:solidFill>
                  <a:srgbClr val="35789C"/>
                </a:solidFill>
                <a:latin typeface="Helvetica Neue"/>
              </a:rPr>
              <a:t>Google Docs</a:t>
            </a:r>
          </a:p>
        </p:txBody>
      </p:sp>
      <p:sp>
        <p:nvSpPr>
          <p:cNvPr id="8" name="TextBox 7"/>
          <p:cNvSpPr txBox="1"/>
          <p:nvPr/>
        </p:nvSpPr>
        <p:spPr>
          <a:xfrm>
            <a:off x="1234440" y="4160520"/>
            <a:ext cx="4206240" cy="1188720"/>
          </a:xfrm>
          <a:prstGeom prst="rect">
            <a:avLst/>
          </a:prstGeom>
          <a:noFill/>
        </p:spPr>
        <p:txBody>
          <a:bodyPr wrap="square" lIns="0" tIns="0" rIns="0" bIns="0">
            <a:spAutoFit/>
          </a:bodyPr>
          <a:lstStyle/>
          <a:p>
            <a:pPr algn="l">
              <a:lnSpc>
                <a:spcPct val="130000"/>
              </a:lnSpc>
              <a:spcAft>
                <a:spcPts val="600"/>
              </a:spcAft>
            </a:pPr>
            <a:r>
              <a:rPr sz="1600" b="0">
                <a:solidFill>
                  <a:srgbClr val="6E6E6E"/>
                </a:solidFill>
                <a:latin typeface="Helvetica Neue"/>
              </a:rPr>
              <a:t>Herramientas → Dictado por voz. Hablas, aparece escrito.</a:t>
            </a:r>
          </a:p>
        </p:txBody>
      </p:sp>
      <p:sp>
        <p:nvSpPr>
          <p:cNvPr id="9" name="Rounded Rectangle 8"/>
          <p:cNvSpPr/>
          <p:nvPr/>
        </p:nvSpPr>
        <p:spPr>
          <a:xfrm>
            <a:off x="6217920" y="3108960"/>
            <a:ext cx="502920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29400" y="3429000"/>
            <a:ext cx="4206240" cy="548640"/>
          </a:xfrm>
          <a:prstGeom prst="rect">
            <a:avLst/>
          </a:prstGeom>
          <a:noFill/>
        </p:spPr>
        <p:txBody>
          <a:bodyPr wrap="square" lIns="0" tIns="0" rIns="0" bIns="0">
            <a:spAutoFit/>
          </a:bodyPr>
          <a:lstStyle/>
          <a:p>
            <a:pPr algn="l">
              <a:spcAft>
                <a:spcPts val="600"/>
              </a:spcAft>
            </a:pPr>
            <a:r>
              <a:rPr sz="2400" b="1">
                <a:solidFill>
                  <a:srgbClr val="35789C"/>
                </a:solidFill>
                <a:latin typeface="Helvetica Neue"/>
              </a:rPr>
              <a:t>Gemini</a:t>
            </a:r>
          </a:p>
        </p:txBody>
      </p:sp>
      <p:sp>
        <p:nvSpPr>
          <p:cNvPr id="11" name="TextBox 10"/>
          <p:cNvSpPr txBox="1"/>
          <p:nvPr/>
        </p:nvSpPr>
        <p:spPr>
          <a:xfrm>
            <a:off x="6629400" y="4160520"/>
            <a:ext cx="4206240" cy="1188720"/>
          </a:xfrm>
          <a:prstGeom prst="rect">
            <a:avLst/>
          </a:prstGeom>
          <a:noFill/>
        </p:spPr>
        <p:txBody>
          <a:bodyPr wrap="square" lIns="0" tIns="0" rIns="0" bIns="0">
            <a:spAutoFit/>
          </a:bodyPr>
          <a:lstStyle/>
          <a:p>
            <a:pPr algn="l">
              <a:lnSpc>
                <a:spcPct val="130000"/>
              </a:lnSpc>
              <a:spcAft>
                <a:spcPts val="600"/>
              </a:spcAft>
            </a:pPr>
            <a:r>
              <a:rPr sz="1600" b="0">
                <a:solidFill>
                  <a:srgbClr val="6E6E6E"/>
                </a:solidFill>
                <a:latin typeface="Helvetica Neue"/>
              </a:rPr>
              <a:t>Grabas una nota de voz en el celular, la subes y le pides la transcripción limpia.</a:t>
            </a:r>
          </a:p>
        </p:txBody>
      </p:sp>
      <p:sp>
        <p:nvSpPr>
          <p:cNvPr id="12" name="TextBox 11"/>
          <p:cNvSpPr txBox="1"/>
          <p:nvPr/>
        </p:nvSpPr>
        <p:spPr>
          <a:xfrm>
            <a:off x="822960" y="5577840"/>
            <a:ext cx="10424160" cy="548640"/>
          </a:xfrm>
          <a:prstGeom prst="rect">
            <a:avLst/>
          </a:prstGeom>
          <a:noFill/>
        </p:spPr>
        <p:txBody>
          <a:bodyPr wrap="square" lIns="0" tIns="0" rIns="0" bIns="0">
            <a:spAutoFit/>
          </a:bodyPr>
          <a:lstStyle/>
          <a:p>
            <a:pPr algn="l">
              <a:spcAft>
                <a:spcPts val="600"/>
              </a:spcAft>
            </a:pPr>
            <a:r>
              <a:rPr sz="1600" b="0">
                <a:solidFill>
                  <a:srgbClr val="ED7623"/>
                </a:solidFill>
                <a:latin typeface="Helvetica Neue"/>
              </a:rPr>
              <a:t>Después lo pules: «Limpia este dictado, quita las muletillas y déjalo en 80 palabras».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914400"/>
            <a:ext cx="1828800" cy="1463040"/>
          </a:xfrm>
          <a:prstGeom prst="rect">
            <a:avLst/>
          </a:prstGeom>
          <a:noFill/>
        </p:spPr>
        <p:txBody>
          <a:bodyPr wrap="square" lIns="0" tIns="0" rIns="0" bIns="0">
            <a:spAutoFit/>
          </a:bodyPr>
          <a:lstStyle/>
          <a:p>
            <a:pPr algn="l">
              <a:spcAft>
                <a:spcPts val="600"/>
              </a:spcAft>
            </a:pPr>
            <a:r>
              <a:rPr sz="9600" b="1">
                <a:solidFill>
                  <a:srgbClr val="ED7623"/>
                </a:solidFill>
                <a:latin typeface="Helvetica Neue"/>
              </a:rPr>
              <a:t>2</a:t>
            </a:r>
          </a:p>
        </p:txBody>
      </p:sp>
      <p:sp>
        <p:nvSpPr>
          <p:cNvPr id="4" name="TextBox 3"/>
          <p:cNvSpPr txBox="1"/>
          <p:nvPr/>
        </p:nvSpPr>
        <p:spPr>
          <a:xfrm>
            <a:off x="2103120" y="1051560"/>
            <a:ext cx="8686800" cy="822960"/>
          </a:xfrm>
          <a:prstGeom prst="rect">
            <a:avLst/>
          </a:prstGeom>
          <a:noFill/>
        </p:spPr>
        <p:txBody>
          <a:bodyPr wrap="square" lIns="0" tIns="0" rIns="0" bIns="0">
            <a:spAutoFit/>
          </a:bodyPr>
          <a:lstStyle/>
          <a:p>
            <a:pPr algn="l">
              <a:spcAft>
                <a:spcPts val="600"/>
              </a:spcAft>
            </a:pPr>
            <a:r>
              <a:rPr sz="4400" b="1">
                <a:solidFill>
                  <a:srgbClr val="11406E"/>
                </a:solidFill>
                <a:latin typeface="Helvetica Neue"/>
              </a:rPr>
              <a:t>Tu personaje</a:t>
            </a:r>
          </a:p>
        </p:txBody>
      </p:sp>
      <p:sp>
        <p:nvSpPr>
          <p:cNvPr id="5" name="TextBox 4"/>
          <p:cNvSpPr txBox="1"/>
          <p:nvPr/>
        </p:nvSpPr>
        <p:spPr>
          <a:xfrm>
            <a:off x="2103120" y="1965960"/>
            <a:ext cx="8686800" cy="548640"/>
          </a:xfrm>
          <a:prstGeom prst="rect">
            <a:avLst/>
          </a:prstGeom>
          <a:noFill/>
        </p:spPr>
        <p:txBody>
          <a:bodyPr wrap="square" lIns="0" tIns="0" rIns="0" bIns="0">
            <a:spAutoFit/>
          </a:bodyPr>
          <a:lstStyle/>
          <a:p>
            <a:pPr algn="l">
              <a:spcAft>
                <a:spcPts val="600"/>
              </a:spcAft>
            </a:pPr>
            <a:r>
              <a:rPr sz="2000" b="0">
                <a:solidFill>
                  <a:srgbClr val="35789C"/>
                </a:solidFill>
                <a:latin typeface="Helvetica Neue"/>
              </a:rPr>
              <a:t>Se crea una vez, no gasta créditos, y lleva voz propia</a:t>
            </a:r>
          </a:p>
        </p:txBody>
      </p:sp>
      <p:sp>
        <p:nvSpPr>
          <p:cNvPr id="6" name="Rounded Rectangle 5"/>
          <p:cNvSpPr/>
          <p:nvPr/>
        </p:nvSpPr>
        <p:spPr>
          <a:xfrm>
            <a:off x="2103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468880" y="2971800"/>
            <a:ext cx="3566160" cy="1828800"/>
          </a:xfrm>
          <a:prstGeom prst="rect">
            <a:avLst/>
          </a:prstGeom>
          <a:noFill/>
        </p:spPr>
        <p:txBody>
          <a:bodyPr wrap="square" lIns="0" tIns="0" rIns="0" bIns="0">
            <a:spAutoFit/>
          </a:bodyPr>
          <a:lstStyle/>
          <a:p>
            <a:pPr algn="l">
              <a:lnSpc>
                <a:spcPct val="130000"/>
              </a:lnSpc>
              <a:spcAft>
                <a:spcPts val="300"/>
              </a:spcAft>
            </a:pPr>
            <a:r>
              <a:rPr sz="2200" b="1">
                <a:solidFill>
                  <a:srgbClr val="ED7623"/>
                </a:solidFill>
                <a:latin typeface="Helvetica Neue"/>
              </a:rPr>
              <a:t>Con tu foto</a:t>
            </a:r>
          </a:p>
          <a:p>
            <a:pPr algn="l">
              <a:lnSpc>
                <a:spcPct val="130000"/>
              </a:lnSpc>
              <a:spcAft>
                <a:spcPts val="300"/>
              </a:spcAft>
            </a:pPr>
            <a:endParaRPr sz="2200" b="1">
              <a:solidFill>
                <a:srgbClr val="ED7623"/>
              </a:solidFill>
              <a:latin typeface="Helvetica Neue"/>
            </a:endParaRPr>
          </a:p>
          <a:p>
            <a:pPr algn="l">
              <a:lnSpc>
                <a:spcPct val="130000"/>
              </a:lnSpc>
              <a:spcAft>
                <a:spcPts val="300"/>
              </a:spcAft>
            </a:pPr>
            <a:r>
              <a:rPr sz="1500" b="0">
                <a:solidFill>
                  <a:srgbClr val="6E6E6E"/>
                </a:solidFill>
                <a:latin typeface="Helvetica Neue"/>
              </a:rPr>
              <a:t>Botón Subir y eliges una foto tuya de frente, bien iluminada.</a:t>
            </a:r>
          </a:p>
        </p:txBody>
      </p:sp>
      <p:sp>
        <p:nvSpPr>
          <p:cNvPr id="8" name="Rounded Rectangle 7"/>
          <p:cNvSpPr/>
          <p:nvPr/>
        </p:nvSpPr>
        <p:spPr>
          <a:xfrm>
            <a:off x="6675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040880" y="2971800"/>
            <a:ext cx="3566160" cy="1828800"/>
          </a:xfrm>
          <a:prstGeom prst="rect">
            <a:avLst/>
          </a:prstGeom>
          <a:noFill/>
        </p:spPr>
        <p:txBody>
          <a:bodyPr wrap="square" lIns="0" tIns="0" rIns="0" bIns="0">
            <a:spAutoFit/>
          </a:bodyPr>
          <a:lstStyle/>
          <a:p>
            <a:pPr algn="l">
              <a:lnSpc>
                <a:spcPct val="130000"/>
              </a:lnSpc>
              <a:spcAft>
                <a:spcPts val="300"/>
              </a:spcAft>
            </a:pPr>
            <a:r>
              <a:rPr sz="2200" b="1">
                <a:solidFill>
                  <a:srgbClr val="35789C"/>
                </a:solidFill>
                <a:latin typeface="Helvetica Neue"/>
              </a:rPr>
              <a:t>Descrito</a:t>
            </a:r>
          </a:p>
          <a:p>
            <a:pPr algn="l">
              <a:lnSpc>
                <a:spcPct val="130000"/>
              </a:lnSpc>
              <a:spcAft>
                <a:spcPts val="300"/>
              </a:spcAft>
            </a:pPr>
            <a:endParaRPr sz="2200" b="1">
              <a:solidFill>
                <a:srgbClr val="35789C"/>
              </a:solidFill>
              <a:latin typeface="Helvetica Neue"/>
            </a:endParaRPr>
          </a:p>
          <a:p>
            <a:pPr algn="l">
              <a:lnSpc>
                <a:spcPct val="130000"/>
              </a:lnSpc>
              <a:spcAft>
                <a:spcPts val="300"/>
              </a:spcAft>
            </a:pPr>
            <a:r>
              <a:rPr sz="1500" b="0">
                <a:solidFill>
                  <a:srgbClr val="6E6E6E"/>
                </a:solidFill>
                <a:latin typeface="Helvetica Neue"/>
              </a:rPr>
              <a:t>Escribes cómo es y Flow lo dibuja. Queda igual de consistente.</a:t>
            </a:r>
          </a:p>
        </p:txBody>
      </p:sp>
      <p:sp>
        <p:nvSpPr>
          <p:cNvPr id="10" name="Rounded Rectangle 9"/>
          <p:cNvSpPr/>
          <p:nvPr/>
        </p:nvSpPr>
        <p:spPr>
          <a:xfrm>
            <a:off x="2103120" y="5166360"/>
            <a:ext cx="8778240" cy="123444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60320" y="5394960"/>
            <a:ext cx="8046720" cy="914400"/>
          </a:xfrm>
          <a:prstGeom prst="rect">
            <a:avLst/>
          </a:prstGeom>
          <a:noFill/>
        </p:spPr>
        <p:txBody>
          <a:bodyPr wrap="square" lIns="0" tIns="0" rIns="0" bIns="0">
            <a:spAutoFit/>
          </a:bodyPr>
          <a:lstStyle/>
          <a:p>
            <a:pPr algn="l">
              <a:lnSpc>
                <a:spcPct val="130000"/>
              </a:lnSpc>
              <a:spcAft>
                <a:spcPts val="200"/>
              </a:spcAft>
            </a:pPr>
            <a:r>
              <a:rPr sz="1700" b="1">
                <a:solidFill>
                  <a:srgbClr val="ED7623"/>
                </a:solidFill>
                <a:latin typeface="Helvetica Neue"/>
              </a:rPr>
              <a:t>Asígnale una voz antes de generar nada: así suena igual en los cuatro clips.</a:t>
            </a:r>
          </a:p>
          <a:p>
            <a:pPr algn="l">
              <a:lnSpc>
                <a:spcPct val="130000"/>
              </a:lnSpc>
              <a:spcAft>
                <a:spcPts val="200"/>
              </a:spcAft>
            </a:pPr>
            <a:r>
              <a:rPr sz="1500" b="0">
                <a:solidFill>
                  <a:srgbClr val="6E6E6E"/>
                </a:solidFill>
                <a:latin typeface="Helvetica Neue"/>
              </a:rPr>
              <a:t>Y créalo en el lugar del video: el personaje se trae consigo su escenario.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914400"/>
            <a:ext cx="1828800" cy="1463040"/>
          </a:xfrm>
          <a:prstGeom prst="rect">
            <a:avLst/>
          </a:prstGeom>
          <a:noFill/>
        </p:spPr>
        <p:txBody>
          <a:bodyPr wrap="square" lIns="0" tIns="0" rIns="0" bIns="0">
            <a:spAutoFit/>
          </a:bodyPr>
          <a:lstStyle/>
          <a:p>
            <a:pPr algn="l">
              <a:spcAft>
                <a:spcPts val="600"/>
              </a:spcAft>
            </a:pPr>
            <a:r>
              <a:rPr sz="9600" b="1">
                <a:solidFill>
                  <a:srgbClr val="ED7623"/>
                </a:solidFill>
                <a:latin typeface="Helvetica Neue"/>
              </a:rPr>
              <a:t>3</a:t>
            </a:r>
          </a:p>
        </p:txBody>
      </p:sp>
      <p:sp>
        <p:nvSpPr>
          <p:cNvPr id="4" name="TextBox 3"/>
          <p:cNvSpPr txBox="1"/>
          <p:nvPr/>
        </p:nvSpPr>
        <p:spPr>
          <a:xfrm>
            <a:off x="2103120" y="1051560"/>
            <a:ext cx="8686800" cy="822960"/>
          </a:xfrm>
          <a:prstGeom prst="rect">
            <a:avLst/>
          </a:prstGeom>
          <a:noFill/>
        </p:spPr>
        <p:txBody>
          <a:bodyPr wrap="square" lIns="0" tIns="0" rIns="0" bIns="0">
            <a:spAutoFit/>
          </a:bodyPr>
          <a:lstStyle/>
          <a:p>
            <a:pPr algn="l">
              <a:spcAft>
                <a:spcPts val="600"/>
              </a:spcAft>
            </a:pPr>
            <a:r>
              <a:rPr sz="4400" b="1">
                <a:solidFill>
                  <a:srgbClr val="11406E"/>
                </a:solidFill>
                <a:latin typeface="Helvetica Neue"/>
              </a:rPr>
              <a:t>Los clips</a:t>
            </a:r>
          </a:p>
        </p:txBody>
      </p:sp>
      <p:sp>
        <p:nvSpPr>
          <p:cNvPr id="5" name="TextBox 4"/>
          <p:cNvSpPr txBox="1"/>
          <p:nvPr/>
        </p:nvSpPr>
        <p:spPr>
          <a:xfrm>
            <a:off x="2103120" y="1965960"/>
            <a:ext cx="8686800" cy="548640"/>
          </a:xfrm>
          <a:prstGeom prst="rect">
            <a:avLst/>
          </a:prstGeom>
          <a:noFill/>
        </p:spPr>
        <p:txBody>
          <a:bodyPr wrap="square" lIns="0" tIns="0" rIns="0" bIns="0">
            <a:spAutoFit/>
          </a:bodyPr>
          <a:lstStyle/>
          <a:p>
            <a:pPr algn="l">
              <a:spcAft>
                <a:spcPts val="600"/>
              </a:spcAft>
            </a:pPr>
            <a:r>
              <a:rPr sz="2000" b="0">
                <a:solidFill>
                  <a:srgbClr val="35789C"/>
                </a:solidFill>
                <a:latin typeface="Helvetica Neue"/>
              </a:rPr>
              <a:t>Cuatro, uno por frase. Ocho segundos cada uno, con voz</a:t>
            </a:r>
          </a:p>
        </p:txBody>
      </p:sp>
      <p:sp>
        <p:nvSpPr>
          <p:cNvPr id="6" name="Rounded Rectangle 5"/>
          <p:cNvSpPr/>
          <p:nvPr/>
        </p:nvSpPr>
        <p:spPr>
          <a:xfrm>
            <a:off x="2103120" y="2697480"/>
            <a:ext cx="87782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60320" y="2971800"/>
            <a:ext cx="8046720" cy="1371600"/>
          </a:xfrm>
          <a:prstGeom prst="rect">
            <a:avLst/>
          </a:prstGeom>
          <a:noFill/>
        </p:spPr>
        <p:txBody>
          <a:bodyPr wrap="square" lIns="0" tIns="0" rIns="0" bIns="0">
            <a:spAutoFit/>
          </a:bodyPr>
          <a:lstStyle/>
          <a:p>
            <a:pPr algn="l">
              <a:lnSpc>
                <a:spcPct val="135000"/>
              </a:lnSpc>
              <a:spcAft>
                <a:spcPts val="400"/>
              </a:spcAft>
            </a:pPr>
            <a:r>
              <a:rPr sz="1900" b="1">
                <a:solidFill>
                  <a:srgbClr val="11406E"/>
                </a:solidFill>
                <a:latin typeface="Helvetica Neue"/>
              </a:rPr>
              <a:t>Botón +  →  eliges tu personaje  →  Agregar a la instrucción</a:t>
            </a:r>
          </a:p>
          <a:p>
            <a:pPr algn="l">
              <a:lnSpc>
                <a:spcPct val="135000"/>
              </a:lnSpc>
              <a:spcAft>
                <a:spcPts val="400"/>
              </a:spcAft>
            </a:pPr>
            <a:endParaRPr sz="1900" b="1">
              <a:solidFill>
                <a:srgbClr val="11406E"/>
              </a:solidFill>
              <a:latin typeface="Helvetica Neue"/>
            </a:endParaRPr>
          </a:p>
          <a:p>
            <a:pPr algn="l">
              <a:lnSpc>
                <a:spcPct val="135000"/>
              </a:lnSpc>
              <a:spcAft>
                <a:spcPts val="400"/>
              </a:spcAft>
            </a:pPr>
            <a:r>
              <a:rPr sz="1500" b="0">
                <a:solidFill>
                  <a:srgbClr val="6E6E6E"/>
                </a:solidFill>
                <a:latin typeface="Helvetica Neue"/>
              </a:rPr>
              <a:t>10 créditos por clip. Cuatro clips, y te queda uno de repuesto.</a:t>
            </a:r>
          </a:p>
        </p:txBody>
      </p:sp>
      <p:sp>
        <p:nvSpPr>
          <p:cNvPr id="8" name="Rounded Rectangle 7"/>
          <p:cNvSpPr/>
          <p:nvPr/>
        </p:nvSpPr>
        <p:spPr>
          <a:xfrm>
            <a:off x="2103120" y="4800600"/>
            <a:ext cx="8778240" cy="132588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60320" y="5029200"/>
            <a:ext cx="8046720" cy="1005840"/>
          </a:xfrm>
          <a:prstGeom prst="rect">
            <a:avLst/>
          </a:prstGeom>
          <a:noFill/>
        </p:spPr>
        <p:txBody>
          <a:bodyPr wrap="square" lIns="0" tIns="0" rIns="0" bIns="0">
            <a:spAutoFit/>
          </a:bodyPr>
          <a:lstStyle/>
          <a:p>
            <a:pPr algn="l">
              <a:lnSpc>
                <a:spcPct val="130000"/>
              </a:lnSpc>
              <a:spcAft>
                <a:spcPts val="200"/>
              </a:spcAft>
            </a:pPr>
            <a:r>
              <a:rPr sz="1700" b="1">
                <a:solidFill>
                  <a:srgbClr val="ED7623"/>
                </a:solidFill>
                <a:latin typeface="Helvetica Neue"/>
              </a:rPr>
              <a:t>Adjunta el personaje, no lo menciones por escrito.</a:t>
            </a:r>
          </a:p>
          <a:p>
            <a:pPr algn="l">
              <a:lnSpc>
                <a:spcPct val="130000"/>
              </a:lnSpc>
              <a:spcAft>
                <a:spcPts val="200"/>
              </a:spcAft>
            </a:pPr>
            <a:r>
              <a:rPr sz="1500" b="0">
                <a:solidFill>
                  <a:srgbClr val="6E6E6E"/>
                </a:solidFill>
                <a:latin typeface="Helvetica Neue"/>
              </a:rPr>
              <a:t>Si solo lo mencionas, Flow genera otra persona distinta.</a:t>
            </a:r>
          </a:p>
          <a:p>
            <a:pPr algn="l">
              <a:lnSpc>
                <a:spcPct val="130000"/>
              </a:lnSpc>
              <a:spcAft>
                <a:spcPts val="200"/>
              </a:spcAft>
            </a:pPr>
            <a:r>
              <a:rPr sz="1500" b="0">
                <a:solidFill>
                  <a:srgbClr val="6E6E6E"/>
                </a:solidFill>
                <a:latin typeface="Helvetica Neue"/>
              </a:rPr>
              <a:t>Debe responderte que usa «la entidad del personaje referenciada».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914400"/>
            <a:ext cx="1828800" cy="1463040"/>
          </a:xfrm>
          <a:prstGeom prst="rect">
            <a:avLst/>
          </a:prstGeom>
          <a:noFill/>
        </p:spPr>
        <p:txBody>
          <a:bodyPr wrap="square" lIns="0" tIns="0" rIns="0" bIns="0">
            <a:spAutoFit/>
          </a:bodyPr>
          <a:lstStyle/>
          <a:p>
            <a:pPr algn="l">
              <a:spcAft>
                <a:spcPts val="600"/>
              </a:spcAft>
            </a:pPr>
            <a:r>
              <a:rPr sz="9600" b="1">
                <a:solidFill>
                  <a:srgbClr val="ED7623"/>
                </a:solidFill>
                <a:latin typeface="Helvetica Neue"/>
              </a:rPr>
              <a:t>4</a:t>
            </a:r>
          </a:p>
        </p:txBody>
      </p:sp>
      <p:sp>
        <p:nvSpPr>
          <p:cNvPr id="4" name="TextBox 3"/>
          <p:cNvSpPr txBox="1"/>
          <p:nvPr/>
        </p:nvSpPr>
        <p:spPr>
          <a:xfrm>
            <a:off x="2103120" y="1051560"/>
            <a:ext cx="8686800" cy="822960"/>
          </a:xfrm>
          <a:prstGeom prst="rect">
            <a:avLst/>
          </a:prstGeom>
          <a:noFill/>
        </p:spPr>
        <p:txBody>
          <a:bodyPr wrap="square" lIns="0" tIns="0" rIns="0" bIns="0">
            <a:spAutoFit/>
          </a:bodyPr>
          <a:lstStyle/>
          <a:p>
            <a:pPr algn="l">
              <a:spcAft>
                <a:spcPts val="600"/>
              </a:spcAft>
            </a:pPr>
            <a:r>
              <a:rPr sz="4400" b="1">
                <a:solidFill>
                  <a:srgbClr val="11406E"/>
                </a:solidFill>
                <a:latin typeface="Helvetica Neue"/>
              </a:rPr>
              <a:t>Unirlos</a:t>
            </a:r>
          </a:p>
        </p:txBody>
      </p:sp>
      <p:sp>
        <p:nvSpPr>
          <p:cNvPr id="5" name="TextBox 4"/>
          <p:cNvSpPr txBox="1"/>
          <p:nvPr/>
        </p:nvSpPr>
        <p:spPr>
          <a:xfrm>
            <a:off x="2103120" y="1965960"/>
            <a:ext cx="8686800" cy="548640"/>
          </a:xfrm>
          <a:prstGeom prst="rect">
            <a:avLst/>
          </a:prstGeom>
          <a:noFill/>
        </p:spPr>
        <p:txBody>
          <a:bodyPr wrap="square" lIns="0" tIns="0" rIns="0" bIns="0">
            <a:spAutoFit/>
          </a:bodyPr>
          <a:lstStyle/>
          <a:p>
            <a:pPr algn="l">
              <a:spcAft>
                <a:spcPts val="600"/>
              </a:spcAft>
            </a:pPr>
            <a:r>
              <a:rPr sz="2000" b="0">
                <a:solidFill>
                  <a:srgbClr val="35789C"/>
                </a:solidFill>
                <a:latin typeface="Helvetica Neue"/>
              </a:rPr>
              <a:t>Los cuatro en un solo archivo</a:t>
            </a:r>
          </a:p>
        </p:txBody>
      </p:sp>
      <p:sp>
        <p:nvSpPr>
          <p:cNvPr id="6" name="Rounded Rectangle 5"/>
          <p:cNvSpPr/>
          <p:nvPr/>
        </p:nvSpPr>
        <p:spPr>
          <a:xfrm>
            <a:off x="2103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468880" y="2971800"/>
            <a:ext cx="3566160" cy="1828800"/>
          </a:xfrm>
          <a:prstGeom prst="rect">
            <a:avLst/>
          </a:prstGeom>
          <a:noFill/>
        </p:spPr>
        <p:txBody>
          <a:bodyPr wrap="square" lIns="0" tIns="0" rIns="0" bIns="0">
            <a:spAutoFit/>
          </a:bodyPr>
          <a:lstStyle/>
          <a:p>
            <a:pPr algn="l">
              <a:lnSpc>
                <a:spcPct val="130000"/>
              </a:lnSpc>
              <a:spcAft>
                <a:spcPts val="300"/>
              </a:spcAft>
            </a:pPr>
            <a:r>
              <a:rPr sz="2200" b="1">
                <a:solidFill>
                  <a:srgbClr val="ED7623"/>
                </a:solidFill>
                <a:latin typeface="Helvetica Neue"/>
              </a:rPr>
              <a:t>En Flow</a:t>
            </a:r>
          </a:p>
          <a:p>
            <a:pPr algn="l">
              <a:lnSpc>
                <a:spcPct val="130000"/>
              </a:lnSpc>
              <a:spcAft>
                <a:spcPts val="300"/>
              </a:spcAft>
            </a:pPr>
            <a:endParaRPr sz="2200" b="1">
              <a:solidFill>
                <a:srgbClr val="ED7623"/>
              </a:solidFill>
              <a:latin typeface="Helvetica Neue"/>
            </a:endParaRPr>
          </a:p>
          <a:p>
            <a:pPr algn="l">
              <a:lnSpc>
                <a:spcPct val="130000"/>
              </a:lnSpc>
              <a:spcAft>
                <a:spcPts val="300"/>
              </a:spcAft>
            </a:pPr>
            <a:r>
              <a:rPr sz="1500" b="0">
                <a:solidFill>
                  <a:srgbClr val="6E6E6E"/>
                </a:solidFill>
                <a:latin typeface="Helvetica Neue"/>
              </a:rPr>
              <a:t>Abres un clip, y en la línea de tiempo: + → Agregar clip. Sin salir de la herramienta.</a:t>
            </a:r>
          </a:p>
        </p:txBody>
      </p:sp>
      <p:sp>
        <p:nvSpPr>
          <p:cNvPr id="8" name="Rounded Rectangle 7"/>
          <p:cNvSpPr/>
          <p:nvPr/>
        </p:nvSpPr>
        <p:spPr>
          <a:xfrm>
            <a:off x="6675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040880" y="2971800"/>
            <a:ext cx="3566160" cy="1828800"/>
          </a:xfrm>
          <a:prstGeom prst="rect">
            <a:avLst/>
          </a:prstGeom>
          <a:noFill/>
        </p:spPr>
        <p:txBody>
          <a:bodyPr wrap="square" lIns="0" tIns="0" rIns="0" bIns="0">
            <a:spAutoFit/>
          </a:bodyPr>
          <a:lstStyle/>
          <a:p>
            <a:pPr algn="l">
              <a:lnSpc>
                <a:spcPct val="130000"/>
              </a:lnSpc>
              <a:spcAft>
                <a:spcPts val="300"/>
              </a:spcAft>
            </a:pPr>
            <a:r>
              <a:rPr sz="2200" b="1">
                <a:solidFill>
                  <a:srgbClr val="35789C"/>
                </a:solidFill>
                <a:latin typeface="Helvetica Neue"/>
              </a:rPr>
              <a:t>En ChatGPT</a:t>
            </a:r>
          </a:p>
          <a:p>
            <a:pPr algn="l">
              <a:lnSpc>
                <a:spcPct val="130000"/>
              </a:lnSpc>
              <a:spcAft>
                <a:spcPts val="300"/>
              </a:spcAft>
            </a:pPr>
            <a:endParaRPr sz="2200" b="1">
              <a:solidFill>
                <a:srgbClr val="35789C"/>
              </a:solidFill>
              <a:latin typeface="Helvetica Neue"/>
            </a:endParaRPr>
          </a:p>
          <a:p>
            <a:pPr algn="l">
              <a:lnSpc>
                <a:spcPct val="130000"/>
              </a:lnSpc>
              <a:spcAft>
                <a:spcPts val="300"/>
              </a:spcAft>
            </a:pPr>
            <a:r>
              <a:rPr sz="1500" b="0">
                <a:solidFill>
                  <a:srgbClr val="6E6E6E"/>
                </a:solidFill>
                <a:latin typeface="Helvetica Neue"/>
              </a:rPr>
              <a:t>Si lo de Flow falla: subes los clips y le pides que los una. Quince segundos.</a:t>
            </a:r>
          </a:p>
        </p:txBody>
      </p:sp>
      <p:sp>
        <p:nvSpPr>
          <p:cNvPr id="10" name="Rounded Rectangle 9"/>
          <p:cNvSpPr/>
          <p:nvPr/>
        </p:nvSpPr>
        <p:spPr>
          <a:xfrm>
            <a:off x="2103120" y="5166360"/>
            <a:ext cx="8778240" cy="914400"/>
          </a:xfrm>
          <a:prstGeom prst="roundRect">
            <a:avLst>
              <a:gd name="adj" fmla="val 5000"/>
            </a:avLst>
          </a:prstGeom>
          <a:solidFill>
            <a:srgbClr val="EC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60320" y="5413248"/>
            <a:ext cx="8046720" cy="548640"/>
          </a:xfrm>
          <a:prstGeom prst="rect">
            <a:avLst/>
          </a:prstGeom>
          <a:noFill/>
        </p:spPr>
        <p:txBody>
          <a:bodyPr wrap="square" lIns="0" tIns="0" rIns="0" bIns="0">
            <a:spAutoFit/>
          </a:bodyPr>
          <a:lstStyle/>
          <a:p>
            <a:pPr algn="l">
              <a:spcAft>
                <a:spcPts val="600"/>
              </a:spcAft>
            </a:pPr>
            <a:r>
              <a:rPr sz="1500" b="1">
                <a:solidFill>
                  <a:srgbClr val="35789C"/>
                </a:solidFill>
                <a:latin typeface="Helvetica Neue"/>
              </a:rPr>
              <a:t>Gemini no puede unir videos y ChatGPT sí. No es inteligencia: son las herramientas que le conectaron.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914400"/>
            <a:ext cx="1828800" cy="1463040"/>
          </a:xfrm>
          <a:prstGeom prst="rect">
            <a:avLst/>
          </a:prstGeom>
          <a:noFill/>
        </p:spPr>
        <p:txBody>
          <a:bodyPr wrap="square" lIns="0" tIns="0" rIns="0" bIns="0">
            <a:spAutoFit/>
          </a:bodyPr>
          <a:lstStyle/>
          <a:p>
            <a:pPr algn="l">
              <a:spcAft>
                <a:spcPts val="600"/>
              </a:spcAft>
            </a:pPr>
            <a:r>
              <a:rPr sz="9600" b="1">
                <a:solidFill>
                  <a:srgbClr val="ED7623"/>
                </a:solidFill>
                <a:latin typeface="Helvetica Neue"/>
              </a:rPr>
              <a:t>5</a:t>
            </a:r>
          </a:p>
        </p:txBody>
      </p:sp>
      <p:sp>
        <p:nvSpPr>
          <p:cNvPr id="4" name="TextBox 3"/>
          <p:cNvSpPr txBox="1"/>
          <p:nvPr/>
        </p:nvSpPr>
        <p:spPr>
          <a:xfrm>
            <a:off x="2103120" y="1051560"/>
            <a:ext cx="8686800" cy="822960"/>
          </a:xfrm>
          <a:prstGeom prst="rect">
            <a:avLst/>
          </a:prstGeom>
          <a:noFill/>
        </p:spPr>
        <p:txBody>
          <a:bodyPr wrap="square" lIns="0" tIns="0" rIns="0" bIns="0">
            <a:spAutoFit/>
          </a:bodyPr>
          <a:lstStyle/>
          <a:p>
            <a:pPr algn="l">
              <a:spcAft>
                <a:spcPts val="600"/>
              </a:spcAft>
            </a:pPr>
            <a:r>
              <a:rPr sz="4400" b="1">
                <a:solidFill>
                  <a:srgbClr val="11406E"/>
                </a:solidFill>
                <a:latin typeface="Helvetica Neue"/>
              </a:rPr>
              <a:t>Los remates</a:t>
            </a:r>
          </a:p>
        </p:txBody>
      </p:sp>
      <p:sp>
        <p:nvSpPr>
          <p:cNvPr id="5" name="TextBox 4"/>
          <p:cNvSpPr txBox="1"/>
          <p:nvPr/>
        </p:nvSpPr>
        <p:spPr>
          <a:xfrm>
            <a:off x="2103120" y="1965960"/>
            <a:ext cx="8686800" cy="548640"/>
          </a:xfrm>
          <a:prstGeom prst="rect">
            <a:avLst/>
          </a:prstGeom>
          <a:noFill/>
        </p:spPr>
        <p:txBody>
          <a:bodyPr wrap="square" lIns="0" tIns="0" rIns="0" bIns="0">
            <a:spAutoFit/>
          </a:bodyPr>
          <a:lstStyle/>
          <a:p>
            <a:pPr algn="l">
              <a:spcAft>
                <a:spcPts val="600"/>
              </a:spcAft>
            </a:pPr>
            <a:r>
              <a:rPr sz="2000" b="0">
                <a:solidFill>
                  <a:srgbClr val="35789C"/>
                </a:solidFill>
                <a:latin typeface="Helvetica Neue"/>
              </a:rPr>
              <a:t>En CapCut, sobre el video ya unido</a:t>
            </a:r>
          </a:p>
        </p:txBody>
      </p:sp>
      <p:sp>
        <p:nvSpPr>
          <p:cNvPr id="6" name="Rounded Rectangle 5"/>
          <p:cNvSpPr/>
          <p:nvPr/>
        </p:nvSpPr>
        <p:spPr>
          <a:xfrm>
            <a:off x="2103120" y="2697480"/>
            <a:ext cx="8778240" cy="82296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468880" y="2825496"/>
            <a:ext cx="457200" cy="548640"/>
          </a:xfrm>
          <a:prstGeom prst="rect">
            <a:avLst/>
          </a:prstGeom>
          <a:noFill/>
        </p:spPr>
        <p:txBody>
          <a:bodyPr wrap="square" lIns="0" tIns="0" rIns="0" bIns="0">
            <a:spAutoFit/>
          </a:bodyPr>
          <a:lstStyle/>
          <a:p>
            <a:pPr algn="l">
              <a:spcAft>
                <a:spcPts val="600"/>
              </a:spcAft>
            </a:pPr>
            <a:r>
              <a:rPr sz="2400" b="1">
                <a:solidFill>
                  <a:srgbClr val="ED7623"/>
                </a:solidFill>
                <a:latin typeface="Helvetica Neue"/>
              </a:rPr>
              <a:t>1</a:t>
            </a:r>
          </a:p>
        </p:txBody>
      </p:sp>
      <p:sp>
        <p:nvSpPr>
          <p:cNvPr id="8" name="TextBox 7"/>
          <p:cNvSpPr txBox="1"/>
          <p:nvPr/>
        </p:nvSpPr>
        <p:spPr>
          <a:xfrm>
            <a:off x="3108960" y="2880360"/>
            <a:ext cx="7498079" cy="548640"/>
          </a:xfrm>
          <a:prstGeom prst="rect">
            <a:avLst/>
          </a:prstGeom>
          <a:noFill/>
        </p:spPr>
        <p:txBody>
          <a:bodyPr wrap="square" lIns="0" tIns="0" rIns="0" bIns="0">
            <a:spAutoFit/>
          </a:bodyPr>
          <a:lstStyle/>
          <a:p>
            <a:pPr algn="l">
              <a:lnSpc>
                <a:spcPct val="115000"/>
              </a:lnSpc>
              <a:spcAft>
                <a:spcPts val="600"/>
              </a:spcAft>
            </a:pPr>
            <a:r>
              <a:rPr sz="1800" b="0">
                <a:solidFill>
                  <a:srgbClr val="11406E"/>
                </a:solidFill>
                <a:latin typeface="Helvetica Neue"/>
              </a:rPr>
              <a:t>Subtítulos automáticos — y revisarlos</a:t>
            </a:r>
          </a:p>
        </p:txBody>
      </p:sp>
      <p:sp>
        <p:nvSpPr>
          <p:cNvPr id="9" name="Rounded Rectangle 8"/>
          <p:cNvSpPr/>
          <p:nvPr/>
        </p:nvSpPr>
        <p:spPr>
          <a:xfrm>
            <a:off x="2103120" y="3703320"/>
            <a:ext cx="8778240" cy="82296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468880" y="3831336"/>
            <a:ext cx="457200" cy="548640"/>
          </a:xfrm>
          <a:prstGeom prst="rect">
            <a:avLst/>
          </a:prstGeom>
          <a:noFill/>
        </p:spPr>
        <p:txBody>
          <a:bodyPr wrap="square" lIns="0" tIns="0" rIns="0" bIns="0">
            <a:spAutoFit/>
          </a:bodyPr>
          <a:lstStyle/>
          <a:p>
            <a:pPr algn="l">
              <a:spcAft>
                <a:spcPts val="600"/>
              </a:spcAft>
            </a:pPr>
            <a:r>
              <a:rPr sz="2400" b="1">
                <a:solidFill>
                  <a:srgbClr val="ED7623"/>
                </a:solidFill>
                <a:latin typeface="Helvetica Neue"/>
              </a:rPr>
              <a:t>2</a:t>
            </a:r>
          </a:p>
        </p:txBody>
      </p:sp>
      <p:sp>
        <p:nvSpPr>
          <p:cNvPr id="11" name="TextBox 10"/>
          <p:cNvSpPr txBox="1"/>
          <p:nvPr/>
        </p:nvSpPr>
        <p:spPr>
          <a:xfrm>
            <a:off x="3108960" y="3886200"/>
            <a:ext cx="7498079" cy="548640"/>
          </a:xfrm>
          <a:prstGeom prst="rect">
            <a:avLst/>
          </a:prstGeom>
          <a:noFill/>
        </p:spPr>
        <p:txBody>
          <a:bodyPr wrap="square" lIns="0" tIns="0" rIns="0" bIns="0">
            <a:spAutoFit/>
          </a:bodyPr>
          <a:lstStyle/>
          <a:p>
            <a:pPr algn="l">
              <a:lnSpc>
                <a:spcPct val="115000"/>
              </a:lnSpc>
              <a:spcAft>
                <a:spcPts val="600"/>
              </a:spcAft>
            </a:pPr>
            <a:r>
              <a:rPr sz="1800" b="0">
                <a:solidFill>
                  <a:srgbClr val="11406E"/>
                </a:solidFill>
                <a:latin typeface="Helvetica Neue"/>
              </a:rPr>
              <a:t>Música de fondo al 10 o 15 % del volumen</a:t>
            </a:r>
          </a:p>
        </p:txBody>
      </p:sp>
      <p:sp>
        <p:nvSpPr>
          <p:cNvPr id="12" name="Rounded Rectangle 11"/>
          <p:cNvSpPr/>
          <p:nvPr/>
        </p:nvSpPr>
        <p:spPr>
          <a:xfrm>
            <a:off x="2103120" y="4709160"/>
            <a:ext cx="8778240" cy="82296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468880" y="4837176"/>
            <a:ext cx="457200" cy="548640"/>
          </a:xfrm>
          <a:prstGeom prst="rect">
            <a:avLst/>
          </a:prstGeom>
          <a:noFill/>
        </p:spPr>
        <p:txBody>
          <a:bodyPr wrap="square" lIns="0" tIns="0" rIns="0" bIns="0">
            <a:spAutoFit/>
          </a:bodyPr>
          <a:lstStyle/>
          <a:p>
            <a:pPr algn="l">
              <a:spcAft>
                <a:spcPts val="600"/>
              </a:spcAft>
            </a:pPr>
            <a:r>
              <a:rPr sz="2400" b="1">
                <a:solidFill>
                  <a:srgbClr val="ED7623"/>
                </a:solidFill>
                <a:latin typeface="Helvetica Neue"/>
              </a:rPr>
              <a:t>3</a:t>
            </a:r>
          </a:p>
        </p:txBody>
      </p:sp>
      <p:sp>
        <p:nvSpPr>
          <p:cNvPr id="14" name="TextBox 13"/>
          <p:cNvSpPr txBox="1"/>
          <p:nvPr/>
        </p:nvSpPr>
        <p:spPr>
          <a:xfrm>
            <a:off x="3108960" y="4892040"/>
            <a:ext cx="7498079" cy="548640"/>
          </a:xfrm>
          <a:prstGeom prst="rect">
            <a:avLst/>
          </a:prstGeom>
          <a:noFill/>
        </p:spPr>
        <p:txBody>
          <a:bodyPr wrap="square" lIns="0" tIns="0" rIns="0" bIns="0">
            <a:spAutoFit/>
          </a:bodyPr>
          <a:lstStyle/>
          <a:p>
            <a:pPr algn="l">
              <a:lnSpc>
                <a:spcPct val="115000"/>
              </a:lnSpc>
              <a:spcAft>
                <a:spcPts val="600"/>
              </a:spcAft>
            </a:pPr>
            <a:r>
              <a:rPr sz="1800" b="0">
                <a:solidFill>
                  <a:srgbClr val="11406E"/>
                </a:solidFill>
                <a:latin typeface="Helvetica Neue"/>
              </a:rPr>
              <a:t>Cortar el silencio entre clip y clip</a:t>
            </a:r>
          </a:p>
        </p:txBody>
      </p:sp>
      <p:sp>
        <p:nvSpPr>
          <p:cNvPr id="15" name="Rounded Rectangle 14"/>
          <p:cNvSpPr/>
          <p:nvPr/>
        </p:nvSpPr>
        <p:spPr>
          <a:xfrm>
            <a:off x="2103120" y="5806440"/>
            <a:ext cx="8778240" cy="777240"/>
          </a:xfrm>
          <a:prstGeom prst="roundRect">
            <a:avLst>
              <a:gd name="adj" fmla="val 5000"/>
            </a:avLst>
          </a:prstGeom>
          <a:solidFill>
            <a:srgbClr val="EC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4600" y="6007608"/>
            <a:ext cx="8138160" cy="457200"/>
          </a:xfrm>
          <a:prstGeom prst="rect">
            <a:avLst/>
          </a:prstGeom>
          <a:noFill/>
        </p:spPr>
        <p:txBody>
          <a:bodyPr wrap="square" lIns="0" tIns="0" rIns="0" bIns="0">
            <a:spAutoFit/>
          </a:bodyPr>
          <a:lstStyle/>
          <a:p>
            <a:pPr algn="l">
              <a:spcAft>
                <a:spcPts val="600"/>
              </a:spcAft>
            </a:pPr>
            <a:r>
              <a:rPr sz="1600" b="1">
                <a:solidFill>
                  <a:srgbClr val="35789C"/>
                </a:solidFill>
                <a:latin typeface="Helvetica Neue"/>
              </a:rPr>
              <a:t>Música muy alta y subtítulos sin revisar: las dos marcas de un video amateur.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35789C"/>
                </a:solidFill>
                <a:latin typeface="Helvetica Neue"/>
              </a:rPr>
              <a:t>LO QUE VAN A VER Y VAN A PREGUNTAR</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3600" b="1">
                <a:solidFill>
                  <a:srgbClr val="11406E"/>
                </a:solidFill>
                <a:latin typeface="Helvetica Neue"/>
              </a:rPr>
              <a:t>Los avatares de Flow: todavía no</a:t>
            </a:r>
          </a:p>
        </p:txBody>
      </p:sp>
      <p:sp>
        <p:nvSpPr>
          <p:cNvPr id="5" name="TextBox 4"/>
          <p:cNvSpPr txBox="1"/>
          <p:nvPr/>
        </p:nvSpPr>
        <p:spPr>
          <a:xfrm>
            <a:off x="822960" y="2103120"/>
            <a:ext cx="10515600" cy="731520"/>
          </a:xfrm>
          <a:prstGeom prst="rect">
            <a:avLst/>
          </a:prstGeom>
          <a:noFill/>
        </p:spPr>
        <p:txBody>
          <a:bodyPr wrap="square" lIns="0" tIns="0" rIns="0" bIns="0">
            <a:spAutoFit/>
          </a:bodyPr>
          <a:lstStyle/>
          <a:p>
            <a:pPr algn="l">
              <a:lnSpc>
                <a:spcPct val="130000"/>
              </a:lnSpc>
              <a:spcAft>
                <a:spcPts val="200"/>
              </a:spcAft>
            </a:pPr>
            <a:r>
              <a:rPr sz="2000" b="0">
                <a:solidFill>
                  <a:srgbClr val="6E6E6E"/>
                </a:solidFill>
                <a:latin typeface="Helvetica Neue"/>
              </a:rPr>
              <a:t>Graba tu cara y tu voz con una videoselfie y te pone a ti en el video.</a:t>
            </a:r>
          </a:p>
          <a:p>
            <a:pPr algn="l">
              <a:lnSpc>
                <a:spcPct val="130000"/>
              </a:lnSpc>
              <a:spcAft>
                <a:spcPts val="200"/>
              </a:spcAft>
            </a:pPr>
            <a:r>
              <a:rPr sz="2000" b="0">
                <a:solidFill>
                  <a:srgbClr val="6E6E6E"/>
                </a:solidFill>
                <a:latin typeface="Helvetica Neue"/>
              </a:rPr>
              <a:t>Suena perfecto. Pero la herramienta misma avisa que:</a:t>
            </a:r>
          </a:p>
        </p:txBody>
      </p:sp>
      <p:sp>
        <p:nvSpPr>
          <p:cNvPr id="6" name="Rounded Rectangle 5"/>
          <p:cNvSpPr/>
          <p:nvPr/>
        </p:nvSpPr>
        <p:spPr>
          <a:xfrm>
            <a:off x="822960" y="342900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3575304"/>
            <a:ext cx="2743200" cy="457200"/>
          </a:xfrm>
          <a:prstGeom prst="rect">
            <a:avLst/>
          </a:prstGeom>
          <a:noFill/>
        </p:spPr>
        <p:txBody>
          <a:bodyPr wrap="square" lIns="0" tIns="0" rIns="0" bIns="0">
            <a:spAutoFit/>
          </a:bodyPr>
          <a:lstStyle/>
          <a:p>
            <a:pPr algn="l">
              <a:spcAft>
                <a:spcPts val="600"/>
              </a:spcAft>
            </a:pPr>
            <a:r>
              <a:rPr sz="1900" b="1">
                <a:solidFill>
                  <a:srgbClr val="ED7623"/>
                </a:solidFill>
                <a:latin typeface="Helvetica Neue"/>
              </a:rPr>
              <a:t>Experimental</a:t>
            </a:r>
          </a:p>
        </p:txBody>
      </p:sp>
      <p:sp>
        <p:nvSpPr>
          <p:cNvPr id="8" name="TextBox 7"/>
          <p:cNvSpPr txBox="1"/>
          <p:nvPr/>
        </p:nvSpPr>
        <p:spPr>
          <a:xfrm>
            <a:off x="4114800" y="3602736"/>
            <a:ext cx="6949440" cy="457200"/>
          </a:xfrm>
          <a:prstGeom prst="rect">
            <a:avLst/>
          </a:prstGeom>
          <a:noFill/>
        </p:spPr>
        <p:txBody>
          <a:bodyPr wrap="square" lIns="0" tIns="0" rIns="0" bIns="0">
            <a:spAutoFit/>
          </a:bodyPr>
          <a:lstStyle/>
          <a:p>
            <a:pPr algn="l">
              <a:spcAft>
                <a:spcPts val="600"/>
              </a:spcAft>
            </a:pPr>
            <a:r>
              <a:rPr sz="1600" b="0">
                <a:solidFill>
                  <a:srgbClr val="6E6E6E"/>
                </a:solidFill>
                <a:latin typeface="Helvetica Neue"/>
              </a:rPr>
              <a:t>La propia pantalla lo dice</a:t>
            </a:r>
          </a:p>
        </p:txBody>
      </p:sp>
      <p:sp>
        <p:nvSpPr>
          <p:cNvPr id="9" name="Rounded Rectangle 8"/>
          <p:cNvSpPr/>
          <p:nvPr/>
        </p:nvSpPr>
        <p:spPr>
          <a:xfrm>
            <a:off x="822960" y="42976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88720" y="4443984"/>
            <a:ext cx="2743200" cy="457200"/>
          </a:xfrm>
          <a:prstGeom prst="rect">
            <a:avLst/>
          </a:prstGeom>
          <a:noFill/>
        </p:spPr>
        <p:txBody>
          <a:bodyPr wrap="square" lIns="0" tIns="0" rIns="0" bIns="0">
            <a:spAutoFit/>
          </a:bodyPr>
          <a:lstStyle/>
          <a:p>
            <a:pPr algn="l">
              <a:spcAft>
                <a:spcPts val="600"/>
              </a:spcAft>
            </a:pPr>
            <a:r>
              <a:rPr sz="1900" b="1">
                <a:solidFill>
                  <a:srgbClr val="ED7623"/>
                </a:solidFill>
                <a:latin typeface="Helvetica Neue"/>
              </a:rPr>
              <a:t>Solo en inglés</a:t>
            </a:r>
          </a:p>
        </p:txBody>
      </p:sp>
      <p:sp>
        <p:nvSpPr>
          <p:cNvPr id="11" name="TextBox 10"/>
          <p:cNvSpPr txBox="1"/>
          <p:nvPr/>
        </p:nvSpPr>
        <p:spPr>
          <a:xfrm>
            <a:off x="4114800" y="4471416"/>
            <a:ext cx="6949440" cy="457200"/>
          </a:xfrm>
          <a:prstGeom prst="rect">
            <a:avLst/>
          </a:prstGeom>
          <a:noFill/>
        </p:spPr>
        <p:txBody>
          <a:bodyPr wrap="square" lIns="0" tIns="0" rIns="0" bIns="0">
            <a:spAutoFit/>
          </a:bodyPr>
          <a:lstStyle/>
          <a:p>
            <a:pPr algn="l">
              <a:spcAft>
                <a:spcPts val="600"/>
              </a:spcAft>
            </a:pPr>
            <a:r>
              <a:rPr sz="1600" b="0">
                <a:solidFill>
                  <a:srgbClr val="6E6E6E"/>
                </a:solidFill>
                <a:latin typeface="Helvetica Neue"/>
              </a:rPr>
              <a:t>El registro no está disponible en español</a:t>
            </a:r>
          </a:p>
        </p:txBody>
      </p:sp>
      <p:sp>
        <p:nvSpPr>
          <p:cNvPr id="12" name="Rounded Rectangle 11"/>
          <p:cNvSpPr/>
          <p:nvPr/>
        </p:nvSpPr>
        <p:spPr>
          <a:xfrm>
            <a:off x="822960" y="51663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88720" y="5312664"/>
            <a:ext cx="2743200" cy="457200"/>
          </a:xfrm>
          <a:prstGeom prst="rect">
            <a:avLst/>
          </a:prstGeom>
          <a:noFill/>
        </p:spPr>
        <p:txBody>
          <a:bodyPr wrap="square" lIns="0" tIns="0" rIns="0" bIns="0">
            <a:spAutoFit/>
          </a:bodyPr>
          <a:lstStyle/>
          <a:p>
            <a:pPr algn="l">
              <a:spcAft>
                <a:spcPts val="600"/>
              </a:spcAft>
            </a:pPr>
            <a:r>
              <a:rPr sz="1900" b="1">
                <a:solidFill>
                  <a:srgbClr val="ED7623"/>
                </a:solidFill>
                <a:latin typeface="Helvetica Neue"/>
              </a:rPr>
              <a:t>Varios intentos</a:t>
            </a:r>
          </a:p>
        </p:txBody>
      </p:sp>
      <p:sp>
        <p:nvSpPr>
          <p:cNvPr id="14" name="TextBox 13"/>
          <p:cNvSpPr txBox="1"/>
          <p:nvPr/>
        </p:nvSpPr>
        <p:spPr>
          <a:xfrm>
            <a:off x="4114800" y="5340096"/>
            <a:ext cx="6949440" cy="457200"/>
          </a:xfrm>
          <a:prstGeom prst="rect">
            <a:avLst/>
          </a:prstGeom>
          <a:noFill/>
        </p:spPr>
        <p:txBody>
          <a:bodyPr wrap="square" lIns="0" tIns="0" rIns="0" bIns="0">
            <a:spAutoFit/>
          </a:bodyPr>
          <a:lstStyle/>
          <a:p>
            <a:pPr algn="l">
              <a:spcAft>
                <a:spcPts val="600"/>
              </a:spcAft>
            </a:pPr>
            <a:r>
              <a:rPr sz="1600" b="0">
                <a:solidFill>
                  <a:srgbClr val="6E6E6E"/>
                </a:solidFill>
                <a:latin typeface="Helvetica Neue"/>
              </a:rPr>
              <a:t>«Es posible que requiera varios intentos»</a:t>
            </a:r>
          </a:p>
        </p:txBody>
      </p:sp>
      <p:sp>
        <p:nvSpPr>
          <p:cNvPr id="15" name="Rounded Rectangle 14"/>
          <p:cNvSpPr/>
          <p:nvPr/>
        </p:nvSpPr>
        <p:spPr>
          <a:xfrm>
            <a:off x="822960" y="6126480"/>
            <a:ext cx="10515600" cy="68580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34440" y="6291072"/>
            <a:ext cx="9692640" cy="457200"/>
          </a:xfrm>
          <a:prstGeom prst="rect">
            <a:avLst/>
          </a:prstGeom>
          <a:noFill/>
        </p:spPr>
        <p:txBody>
          <a:bodyPr wrap="square" lIns="0" tIns="0" rIns="0" bIns="0">
            <a:spAutoFit/>
          </a:bodyPr>
          <a:lstStyle/>
          <a:p>
            <a:pPr algn="l">
              <a:spcAft>
                <a:spcPts val="600"/>
              </a:spcAft>
            </a:pPr>
            <a:r>
              <a:rPr sz="1600" b="1">
                <a:solidFill>
                  <a:srgbClr val="ED7623"/>
                </a:solidFill>
                <a:latin typeface="Helvetica Neue"/>
              </a:rPr>
              <a:t>Personajes hace el trabajo, es gratis, y funciona en español.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35789C"/>
                </a:solidFill>
                <a:latin typeface="Helvetica Neue"/>
              </a:rPr>
              <a:t>SI NO TIENES CUPO DE VIDEO</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3600" b="1">
                <a:solidFill>
                  <a:srgbClr val="11406E"/>
                </a:solidFill>
                <a:latin typeface="Helvetica Neue"/>
              </a:rPr>
              <a:t>Ruta B: funciona en cualquier cuenta</a:t>
            </a:r>
          </a:p>
        </p:txBody>
      </p:sp>
      <p:sp>
        <p:nvSpPr>
          <p:cNvPr id="5" name="TextBox 4"/>
          <p:cNvSpPr txBox="1"/>
          <p:nvPr/>
        </p:nvSpPr>
        <p:spPr>
          <a:xfrm>
            <a:off x="822960" y="2103120"/>
            <a:ext cx="10515600" cy="640080"/>
          </a:xfrm>
          <a:prstGeom prst="rect">
            <a:avLst/>
          </a:prstGeom>
          <a:noFill/>
        </p:spPr>
        <p:txBody>
          <a:bodyPr wrap="square" lIns="0" tIns="0" rIns="0" bIns="0">
            <a:spAutoFit/>
          </a:bodyPr>
          <a:lstStyle/>
          <a:p>
            <a:pPr algn="l">
              <a:spcAft>
                <a:spcPts val="600"/>
              </a:spcAft>
            </a:pPr>
            <a:r>
              <a:rPr sz="1900" b="0">
                <a:solidFill>
                  <a:srgbClr val="6E6E6E"/>
                </a:solidFill>
                <a:latin typeface="Helvetica Neue"/>
              </a:rPr>
              <a:t>Sale un video quieto pero bien contado. Y lo bien contado pesa más que el movimiento.</a:t>
            </a:r>
          </a:p>
        </p:txBody>
      </p:sp>
      <p:sp>
        <p:nvSpPr>
          <p:cNvPr id="6" name="Rounded Rectangle 5"/>
          <p:cNvSpPr/>
          <p:nvPr/>
        </p:nvSpPr>
        <p:spPr>
          <a:xfrm>
            <a:off x="822960" y="29260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3054096"/>
            <a:ext cx="457200" cy="548640"/>
          </a:xfrm>
          <a:prstGeom prst="rect">
            <a:avLst/>
          </a:prstGeom>
          <a:noFill/>
        </p:spPr>
        <p:txBody>
          <a:bodyPr wrap="square" lIns="0" tIns="0" rIns="0" bIns="0">
            <a:spAutoFit/>
          </a:bodyPr>
          <a:lstStyle/>
          <a:p>
            <a:pPr algn="l">
              <a:spcAft>
                <a:spcPts val="600"/>
              </a:spcAft>
            </a:pPr>
            <a:r>
              <a:rPr sz="2200" b="1">
                <a:solidFill>
                  <a:srgbClr val="ED7623"/>
                </a:solidFill>
                <a:latin typeface="Helvetica Neue"/>
              </a:rPr>
              <a:t>1</a:t>
            </a:r>
          </a:p>
        </p:txBody>
      </p:sp>
      <p:sp>
        <p:nvSpPr>
          <p:cNvPr id="8" name="TextBox 7"/>
          <p:cNvSpPr txBox="1"/>
          <p:nvPr/>
        </p:nvSpPr>
        <p:spPr>
          <a:xfrm>
            <a:off x="1828800" y="3099816"/>
            <a:ext cx="2011680" cy="457200"/>
          </a:xfrm>
          <a:prstGeom prst="rect">
            <a:avLst/>
          </a:prstGeom>
          <a:noFill/>
        </p:spPr>
        <p:txBody>
          <a:bodyPr wrap="square" lIns="0" tIns="0" rIns="0" bIns="0">
            <a:spAutoFit/>
          </a:bodyPr>
          <a:lstStyle/>
          <a:p>
            <a:pPr algn="l">
              <a:spcAft>
                <a:spcPts val="600"/>
              </a:spcAft>
            </a:pPr>
            <a:r>
              <a:rPr sz="1800" b="1">
                <a:solidFill>
                  <a:srgbClr val="11406E"/>
                </a:solidFill>
                <a:latin typeface="Helvetica Neue"/>
              </a:rPr>
              <a:t>Ambiente</a:t>
            </a:r>
          </a:p>
        </p:txBody>
      </p:sp>
      <p:sp>
        <p:nvSpPr>
          <p:cNvPr id="9" name="TextBox 8"/>
          <p:cNvSpPr txBox="1"/>
          <p:nvPr/>
        </p:nvSpPr>
        <p:spPr>
          <a:xfrm>
            <a:off x="3931920" y="3118104"/>
            <a:ext cx="7132320" cy="457200"/>
          </a:xfrm>
          <a:prstGeom prst="rect">
            <a:avLst/>
          </a:prstGeom>
          <a:noFill/>
        </p:spPr>
        <p:txBody>
          <a:bodyPr wrap="square" lIns="0" tIns="0" rIns="0" bIns="0">
            <a:spAutoFit/>
          </a:bodyPr>
          <a:lstStyle/>
          <a:p>
            <a:pPr algn="l">
              <a:spcAft>
                <a:spcPts val="600"/>
              </a:spcAft>
            </a:pPr>
            <a:r>
              <a:rPr sz="1500" b="0">
                <a:solidFill>
                  <a:srgbClr val="6E6E6E"/>
                </a:solidFill>
                <a:latin typeface="Helvetica Neue"/>
              </a:rPr>
              <a:t>Una imagen 16:9 del lugar, sin personas y con espacio libre a un lado</a:t>
            </a:r>
          </a:p>
        </p:txBody>
      </p:sp>
      <p:sp>
        <p:nvSpPr>
          <p:cNvPr id="10" name="Rounded Rectangle 9"/>
          <p:cNvSpPr/>
          <p:nvPr/>
        </p:nvSpPr>
        <p:spPr>
          <a:xfrm>
            <a:off x="822960" y="37947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88720" y="3922776"/>
            <a:ext cx="457200" cy="548640"/>
          </a:xfrm>
          <a:prstGeom prst="rect">
            <a:avLst/>
          </a:prstGeom>
          <a:noFill/>
        </p:spPr>
        <p:txBody>
          <a:bodyPr wrap="square" lIns="0" tIns="0" rIns="0" bIns="0">
            <a:spAutoFit/>
          </a:bodyPr>
          <a:lstStyle/>
          <a:p>
            <a:pPr algn="l">
              <a:spcAft>
                <a:spcPts val="600"/>
              </a:spcAft>
            </a:pPr>
            <a:r>
              <a:rPr sz="2200" b="1">
                <a:solidFill>
                  <a:srgbClr val="ED7623"/>
                </a:solidFill>
                <a:latin typeface="Helvetica Neue"/>
              </a:rPr>
              <a:t>2</a:t>
            </a:r>
          </a:p>
        </p:txBody>
      </p:sp>
      <p:sp>
        <p:nvSpPr>
          <p:cNvPr id="12" name="TextBox 11"/>
          <p:cNvSpPr txBox="1"/>
          <p:nvPr/>
        </p:nvSpPr>
        <p:spPr>
          <a:xfrm>
            <a:off x="1828800" y="3968496"/>
            <a:ext cx="2011680" cy="457200"/>
          </a:xfrm>
          <a:prstGeom prst="rect">
            <a:avLst/>
          </a:prstGeom>
          <a:noFill/>
        </p:spPr>
        <p:txBody>
          <a:bodyPr wrap="square" lIns="0" tIns="0" rIns="0" bIns="0">
            <a:spAutoFit/>
          </a:bodyPr>
          <a:lstStyle/>
          <a:p>
            <a:pPr algn="l">
              <a:spcAft>
                <a:spcPts val="600"/>
              </a:spcAft>
            </a:pPr>
            <a:r>
              <a:rPr sz="1800" b="1">
                <a:solidFill>
                  <a:srgbClr val="11406E"/>
                </a:solidFill>
                <a:latin typeface="Helvetica Neue"/>
              </a:rPr>
              <a:t>Personaje</a:t>
            </a:r>
          </a:p>
        </p:txBody>
      </p:sp>
      <p:sp>
        <p:nvSpPr>
          <p:cNvPr id="13" name="TextBox 12"/>
          <p:cNvSpPr txBox="1"/>
          <p:nvPr/>
        </p:nvSpPr>
        <p:spPr>
          <a:xfrm>
            <a:off x="3931920" y="3986784"/>
            <a:ext cx="7132320" cy="457200"/>
          </a:xfrm>
          <a:prstGeom prst="rect">
            <a:avLst/>
          </a:prstGeom>
          <a:noFill/>
        </p:spPr>
        <p:txBody>
          <a:bodyPr wrap="square" lIns="0" tIns="0" rIns="0" bIns="0">
            <a:spAutoFit/>
          </a:bodyPr>
          <a:lstStyle/>
          <a:p>
            <a:pPr algn="l">
              <a:spcAft>
                <a:spcPts val="600"/>
              </a:spcAft>
            </a:pPr>
            <a:r>
              <a:rPr sz="1500" b="0">
                <a:solidFill>
                  <a:srgbClr val="6E6E6E"/>
                </a:solidFill>
                <a:latin typeface="Helvetica Neue"/>
              </a:rPr>
              <a:t>Tu foto → retrato con fondo gris liso, para poder recortarlo</a:t>
            </a:r>
          </a:p>
        </p:txBody>
      </p:sp>
      <p:sp>
        <p:nvSpPr>
          <p:cNvPr id="14" name="Rounded Rectangle 13"/>
          <p:cNvSpPr/>
          <p:nvPr/>
        </p:nvSpPr>
        <p:spPr>
          <a:xfrm>
            <a:off x="822960" y="466344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88720" y="4791455"/>
            <a:ext cx="457200" cy="548640"/>
          </a:xfrm>
          <a:prstGeom prst="rect">
            <a:avLst/>
          </a:prstGeom>
          <a:noFill/>
        </p:spPr>
        <p:txBody>
          <a:bodyPr wrap="square" lIns="0" tIns="0" rIns="0" bIns="0">
            <a:spAutoFit/>
          </a:bodyPr>
          <a:lstStyle/>
          <a:p>
            <a:pPr algn="l">
              <a:spcAft>
                <a:spcPts val="600"/>
              </a:spcAft>
            </a:pPr>
            <a:r>
              <a:rPr sz="2200" b="1">
                <a:solidFill>
                  <a:srgbClr val="ED7623"/>
                </a:solidFill>
                <a:latin typeface="Helvetica Neue"/>
              </a:rPr>
              <a:t>3</a:t>
            </a:r>
          </a:p>
        </p:txBody>
      </p:sp>
      <p:sp>
        <p:nvSpPr>
          <p:cNvPr id="16" name="TextBox 15"/>
          <p:cNvSpPr txBox="1"/>
          <p:nvPr/>
        </p:nvSpPr>
        <p:spPr>
          <a:xfrm>
            <a:off x="1828800" y="4837176"/>
            <a:ext cx="2011680" cy="457200"/>
          </a:xfrm>
          <a:prstGeom prst="rect">
            <a:avLst/>
          </a:prstGeom>
          <a:noFill/>
        </p:spPr>
        <p:txBody>
          <a:bodyPr wrap="square" lIns="0" tIns="0" rIns="0" bIns="0">
            <a:spAutoFit/>
          </a:bodyPr>
          <a:lstStyle/>
          <a:p>
            <a:pPr algn="l">
              <a:spcAft>
                <a:spcPts val="600"/>
              </a:spcAft>
            </a:pPr>
            <a:r>
              <a:rPr sz="1800" b="1">
                <a:solidFill>
                  <a:srgbClr val="11406E"/>
                </a:solidFill>
                <a:latin typeface="Helvetica Neue"/>
              </a:rPr>
              <a:t>Voz</a:t>
            </a:r>
          </a:p>
        </p:txBody>
      </p:sp>
      <p:sp>
        <p:nvSpPr>
          <p:cNvPr id="17" name="TextBox 16"/>
          <p:cNvSpPr txBox="1"/>
          <p:nvPr/>
        </p:nvSpPr>
        <p:spPr>
          <a:xfrm>
            <a:off x="3931920" y="4855464"/>
            <a:ext cx="7132320" cy="457200"/>
          </a:xfrm>
          <a:prstGeom prst="rect">
            <a:avLst/>
          </a:prstGeom>
          <a:noFill/>
        </p:spPr>
        <p:txBody>
          <a:bodyPr wrap="square" lIns="0" tIns="0" rIns="0" bIns="0">
            <a:spAutoFit/>
          </a:bodyPr>
          <a:lstStyle/>
          <a:p>
            <a:pPr algn="l">
              <a:spcAft>
                <a:spcPts val="600"/>
              </a:spcAft>
            </a:pPr>
            <a:r>
              <a:rPr sz="1500" b="0">
                <a:solidFill>
                  <a:srgbClr val="6E6E6E"/>
                </a:solidFill>
                <a:latin typeface="Helvetica Neue"/>
              </a:rPr>
              <a:t>ElevenLabs, con el guion completo</a:t>
            </a:r>
          </a:p>
        </p:txBody>
      </p:sp>
      <p:sp>
        <p:nvSpPr>
          <p:cNvPr id="18" name="Rounded Rectangle 17"/>
          <p:cNvSpPr/>
          <p:nvPr/>
        </p:nvSpPr>
        <p:spPr>
          <a:xfrm>
            <a:off x="822960" y="553212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188720" y="5660136"/>
            <a:ext cx="457200" cy="548640"/>
          </a:xfrm>
          <a:prstGeom prst="rect">
            <a:avLst/>
          </a:prstGeom>
          <a:noFill/>
        </p:spPr>
        <p:txBody>
          <a:bodyPr wrap="square" lIns="0" tIns="0" rIns="0" bIns="0">
            <a:spAutoFit/>
          </a:bodyPr>
          <a:lstStyle/>
          <a:p>
            <a:pPr algn="l">
              <a:spcAft>
                <a:spcPts val="600"/>
              </a:spcAft>
            </a:pPr>
            <a:r>
              <a:rPr sz="2200" b="1">
                <a:solidFill>
                  <a:srgbClr val="ED7623"/>
                </a:solidFill>
                <a:latin typeface="Helvetica Neue"/>
              </a:rPr>
              <a:t>4</a:t>
            </a:r>
          </a:p>
        </p:txBody>
      </p:sp>
      <p:sp>
        <p:nvSpPr>
          <p:cNvPr id="20" name="TextBox 19"/>
          <p:cNvSpPr txBox="1"/>
          <p:nvPr/>
        </p:nvSpPr>
        <p:spPr>
          <a:xfrm>
            <a:off x="1828800" y="5705856"/>
            <a:ext cx="2011680" cy="457200"/>
          </a:xfrm>
          <a:prstGeom prst="rect">
            <a:avLst/>
          </a:prstGeom>
          <a:noFill/>
        </p:spPr>
        <p:txBody>
          <a:bodyPr wrap="square" lIns="0" tIns="0" rIns="0" bIns="0">
            <a:spAutoFit/>
          </a:bodyPr>
          <a:lstStyle/>
          <a:p>
            <a:pPr algn="l">
              <a:spcAft>
                <a:spcPts val="600"/>
              </a:spcAft>
            </a:pPr>
            <a:r>
              <a:rPr sz="1800" b="1">
                <a:solidFill>
                  <a:srgbClr val="11406E"/>
                </a:solidFill>
                <a:latin typeface="Helvetica Neue"/>
              </a:rPr>
              <a:t>Montaje</a:t>
            </a:r>
          </a:p>
        </p:txBody>
      </p:sp>
      <p:sp>
        <p:nvSpPr>
          <p:cNvPr id="21" name="TextBox 20"/>
          <p:cNvSpPr txBox="1"/>
          <p:nvPr/>
        </p:nvSpPr>
        <p:spPr>
          <a:xfrm>
            <a:off x="3931920" y="5724144"/>
            <a:ext cx="7132320" cy="457200"/>
          </a:xfrm>
          <a:prstGeom prst="rect">
            <a:avLst/>
          </a:prstGeom>
          <a:noFill/>
        </p:spPr>
        <p:txBody>
          <a:bodyPr wrap="square" lIns="0" tIns="0" rIns="0" bIns="0">
            <a:spAutoFit/>
          </a:bodyPr>
          <a:lstStyle/>
          <a:p>
            <a:pPr algn="l">
              <a:spcAft>
                <a:spcPts val="600"/>
              </a:spcAft>
            </a:pPr>
            <a:r>
              <a:rPr sz="1500" b="0">
                <a:solidFill>
                  <a:srgbClr val="6E6E6E"/>
                </a:solidFill>
                <a:latin typeface="Helvetica Neue"/>
              </a:rPr>
              <a:t>CapCut: fondo, avatar sin fondo, voz, subtítulos y zoom lento</a:t>
            </a:r>
          </a:p>
        </p:txBody>
      </p:sp>
      <p:sp>
        <p:nvSpPr>
          <p:cNvPr id="22" name="TextBox 21"/>
          <p:cNvSpPr txBox="1"/>
          <p:nvPr/>
        </p:nvSpPr>
        <p:spPr>
          <a:xfrm>
            <a:off x="822960" y="6446520"/>
            <a:ext cx="10515600" cy="365760"/>
          </a:xfrm>
          <a:prstGeom prst="rect">
            <a:avLst/>
          </a:prstGeom>
          <a:noFill/>
        </p:spPr>
        <p:txBody>
          <a:bodyPr wrap="square" lIns="0" tIns="0" rIns="0" bIns="0">
            <a:spAutoFit/>
          </a:bodyPr>
          <a:lstStyle/>
          <a:p>
            <a:pPr algn="l">
              <a:spcAft>
                <a:spcPts val="600"/>
              </a:spcAft>
            </a:pPr>
            <a:r>
              <a:rPr sz="1400" b="0">
                <a:solidFill>
                  <a:srgbClr val="6E6E6E"/>
                </a:solidFill>
                <a:latin typeface="Helvetica Neue"/>
              </a:rPr>
              <a:t>Los prompts completos están en las notas.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ED7623"/>
                </a:solidFill>
                <a:latin typeface="Helvetica Neue"/>
              </a:rPr>
              <a:t>EL EJEMPLO</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3600" b="1">
                <a:solidFill>
                  <a:srgbClr val="11406E"/>
                </a:solidFill>
                <a:latin typeface="Helvetica Neue"/>
              </a:rPr>
              <a:t>Dos clips, el mismo personaje</a:t>
            </a:r>
          </a:p>
        </p:txBody>
      </p:sp>
      <p:sp>
        <p:nvSpPr>
          <p:cNvPr id="5" name="TextBox 4"/>
          <p:cNvSpPr txBox="1"/>
          <p:nvPr/>
        </p:nvSpPr>
        <p:spPr>
          <a:xfrm>
            <a:off x="822960" y="2103120"/>
            <a:ext cx="10515600" cy="640080"/>
          </a:xfrm>
          <a:prstGeom prst="rect">
            <a:avLst/>
          </a:prstGeom>
          <a:noFill/>
        </p:spPr>
        <p:txBody>
          <a:bodyPr wrap="square" lIns="0" tIns="0" rIns="0" bIns="0">
            <a:spAutoFit/>
          </a:bodyPr>
          <a:lstStyle/>
          <a:p>
            <a:pPr algn="l">
              <a:spcAft>
                <a:spcPts val="600"/>
              </a:spcAft>
            </a:pPr>
            <a:r>
              <a:rPr sz="1900" b="0">
                <a:solidFill>
                  <a:srgbClr val="6E6E6E"/>
                </a:solidFill>
                <a:latin typeface="Helvetica Neue"/>
              </a:rPr>
              <a:t>Misma cara, misma camisa, mismo salón. Lo único que lo logra es adjuntar la misma foto.</a:t>
            </a:r>
          </a:p>
        </p:txBody>
      </p:sp>
      <p:sp>
        <p:nvSpPr>
          <p:cNvPr id="6" name="Rounded Rectangle 5"/>
          <p:cNvSpPr/>
          <p:nvPr/>
        </p:nvSpPr>
        <p:spPr>
          <a:xfrm>
            <a:off x="822960" y="297180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3118104"/>
            <a:ext cx="2194560" cy="457200"/>
          </a:xfrm>
          <a:prstGeom prst="rect">
            <a:avLst/>
          </a:prstGeom>
          <a:noFill/>
        </p:spPr>
        <p:txBody>
          <a:bodyPr wrap="square" lIns="0" tIns="0" rIns="0" bIns="0">
            <a:spAutoFit/>
          </a:bodyPr>
          <a:lstStyle/>
          <a:p>
            <a:pPr algn="l">
              <a:spcAft>
                <a:spcPts val="600"/>
              </a:spcAft>
            </a:pPr>
            <a:r>
              <a:rPr sz="1900" b="1">
                <a:solidFill>
                  <a:srgbClr val="ED7623"/>
                </a:solidFill>
                <a:latin typeface="Helvetica Neue"/>
              </a:rPr>
              <a:t>Clip 1</a:t>
            </a:r>
          </a:p>
        </p:txBody>
      </p:sp>
      <p:sp>
        <p:nvSpPr>
          <p:cNvPr id="8" name="TextBox 7"/>
          <p:cNvSpPr txBox="1"/>
          <p:nvPr/>
        </p:nvSpPr>
        <p:spPr>
          <a:xfrm>
            <a:off x="3566160" y="3145536"/>
            <a:ext cx="7498079" cy="457200"/>
          </a:xfrm>
          <a:prstGeom prst="rect">
            <a:avLst/>
          </a:prstGeom>
          <a:noFill/>
        </p:spPr>
        <p:txBody>
          <a:bodyPr wrap="square" lIns="0" tIns="0" rIns="0" bIns="0">
            <a:spAutoFit/>
          </a:bodyPr>
          <a:lstStyle/>
          <a:p>
            <a:pPr algn="l">
              <a:spcAft>
                <a:spcPts val="600"/>
              </a:spcAft>
            </a:pPr>
            <a:r>
              <a:rPr sz="1550" b="0">
                <a:solidFill>
                  <a:srgbClr val="6E6E6E"/>
                </a:solidFill>
                <a:latin typeface="Helvetica Neue"/>
              </a:rPr>
              <a:t>«¿Alguna vez le enseñaste algo a un niño mostrándole ejemplos?»</a:t>
            </a:r>
          </a:p>
        </p:txBody>
      </p:sp>
      <p:sp>
        <p:nvSpPr>
          <p:cNvPr id="9" name="Rounded Rectangle 8"/>
          <p:cNvSpPr/>
          <p:nvPr/>
        </p:nvSpPr>
        <p:spPr>
          <a:xfrm>
            <a:off x="822960" y="38404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88720" y="3986784"/>
            <a:ext cx="2194560" cy="457200"/>
          </a:xfrm>
          <a:prstGeom prst="rect">
            <a:avLst/>
          </a:prstGeom>
          <a:noFill/>
        </p:spPr>
        <p:txBody>
          <a:bodyPr wrap="square" lIns="0" tIns="0" rIns="0" bIns="0">
            <a:spAutoFit/>
          </a:bodyPr>
          <a:lstStyle/>
          <a:p>
            <a:pPr algn="l">
              <a:spcAft>
                <a:spcPts val="600"/>
              </a:spcAft>
            </a:pPr>
            <a:r>
              <a:rPr sz="1900" b="1">
                <a:solidFill>
                  <a:srgbClr val="ED7623"/>
                </a:solidFill>
                <a:latin typeface="Helvetica Neue"/>
              </a:rPr>
              <a:t>Clip 2</a:t>
            </a:r>
          </a:p>
        </p:txBody>
      </p:sp>
      <p:sp>
        <p:nvSpPr>
          <p:cNvPr id="11" name="TextBox 10"/>
          <p:cNvSpPr txBox="1"/>
          <p:nvPr/>
        </p:nvSpPr>
        <p:spPr>
          <a:xfrm>
            <a:off x="3566160" y="4014216"/>
            <a:ext cx="7498079" cy="457200"/>
          </a:xfrm>
          <a:prstGeom prst="rect">
            <a:avLst/>
          </a:prstGeom>
          <a:noFill/>
        </p:spPr>
        <p:txBody>
          <a:bodyPr wrap="square" lIns="0" tIns="0" rIns="0" bIns="0">
            <a:spAutoFit/>
          </a:bodyPr>
          <a:lstStyle/>
          <a:p>
            <a:pPr algn="l">
              <a:spcAft>
                <a:spcPts val="600"/>
              </a:spcAft>
            </a:pPr>
            <a:r>
              <a:rPr sz="1550" b="0">
                <a:solidFill>
                  <a:srgbClr val="6E6E6E"/>
                </a:solidFill>
                <a:latin typeface="Helvetica Neue"/>
              </a:rPr>
              <a:t>«Nadie le explica las reglas. Le muestran miles de fotos de perros...»</a:t>
            </a:r>
          </a:p>
        </p:txBody>
      </p:sp>
      <p:sp>
        <p:nvSpPr>
          <p:cNvPr id="12" name="Rounded Rectangle 11"/>
          <p:cNvSpPr/>
          <p:nvPr/>
        </p:nvSpPr>
        <p:spPr>
          <a:xfrm>
            <a:off x="822960" y="47091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88720" y="4855464"/>
            <a:ext cx="2194560" cy="457200"/>
          </a:xfrm>
          <a:prstGeom prst="rect">
            <a:avLst/>
          </a:prstGeom>
          <a:noFill/>
        </p:spPr>
        <p:txBody>
          <a:bodyPr wrap="square" lIns="0" tIns="0" rIns="0" bIns="0">
            <a:spAutoFit/>
          </a:bodyPr>
          <a:lstStyle/>
          <a:p>
            <a:pPr algn="l">
              <a:spcAft>
                <a:spcPts val="600"/>
              </a:spcAft>
            </a:pPr>
            <a:r>
              <a:rPr sz="1900" b="1">
                <a:solidFill>
                  <a:srgbClr val="ED7623"/>
                </a:solidFill>
                <a:latin typeface="Helvetica Neue"/>
              </a:rPr>
              <a:t>Lo que cambia</a:t>
            </a:r>
          </a:p>
        </p:txBody>
      </p:sp>
      <p:sp>
        <p:nvSpPr>
          <p:cNvPr id="14" name="TextBox 13"/>
          <p:cNvSpPr txBox="1"/>
          <p:nvPr/>
        </p:nvSpPr>
        <p:spPr>
          <a:xfrm>
            <a:off x="3566160" y="4882896"/>
            <a:ext cx="7498079" cy="457200"/>
          </a:xfrm>
          <a:prstGeom prst="rect">
            <a:avLst/>
          </a:prstGeom>
          <a:noFill/>
        </p:spPr>
        <p:txBody>
          <a:bodyPr wrap="square" lIns="0" tIns="0" rIns="0" bIns="0">
            <a:spAutoFit/>
          </a:bodyPr>
          <a:lstStyle/>
          <a:p>
            <a:pPr algn="l">
              <a:spcAft>
                <a:spcPts val="600"/>
              </a:spcAft>
            </a:pPr>
            <a:r>
              <a:rPr sz="1550" b="0">
                <a:solidFill>
                  <a:srgbClr val="6E6E6E"/>
                </a:solidFill>
                <a:latin typeface="Helvetica Neue"/>
              </a:rPr>
              <a:t>Solo la frase del prompt. Todo lo demás, idéntico.</a:t>
            </a:r>
          </a:p>
        </p:txBody>
      </p:sp>
      <p:sp>
        <p:nvSpPr>
          <p:cNvPr id="15" name="Rounded Rectangle 14"/>
          <p:cNvSpPr/>
          <p:nvPr/>
        </p:nvSpPr>
        <p:spPr>
          <a:xfrm>
            <a:off x="822960" y="557784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88720" y="5724144"/>
            <a:ext cx="2194560" cy="457200"/>
          </a:xfrm>
          <a:prstGeom prst="rect">
            <a:avLst/>
          </a:prstGeom>
          <a:noFill/>
        </p:spPr>
        <p:txBody>
          <a:bodyPr wrap="square" lIns="0" tIns="0" rIns="0" bIns="0">
            <a:spAutoFit/>
          </a:bodyPr>
          <a:lstStyle/>
          <a:p>
            <a:pPr algn="l">
              <a:spcAft>
                <a:spcPts val="600"/>
              </a:spcAft>
            </a:pPr>
            <a:r>
              <a:rPr sz="1900" b="1">
                <a:solidFill>
                  <a:srgbClr val="ED7623"/>
                </a:solidFill>
                <a:latin typeface="Helvetica Neue"/>
              </a:rPr>
              <a:t>Lo que los une</a:t>
            </a:r>
          </a:p>
        </p:txBody>
      </p:sp>
      <p:sp>
        <p:nvSpPr>
          <p:cNvPr id="17" name="TextBox 16"/>
          <p:cNvSpPr txBox="1"/>
          <p:nvPr/>
        </p:nvSpPr>
        <p:spPr>
          <a:xfrm>
            <a:off x="3566160" y="5751576"/>
            <a:ext cx="7498079" cy="457200"/>
          </a:xfrm>
          <a:prstGeom prst="rect">
            <a:avLst/>
          </a:prstGeom>
          <a:noFill/>
        </p:spPr>
        <p:txBody>
          <a:bodyPr wrap="square" lIns="0" tIns="0" rIns="0" bIns="0">
            <a:spAutoFit/>
          </a:bodyPr>
          <a:lstStyle/>
          <a:p>
            <a:pPr algn="l">
              <a:spcAft>
                <a:spcPts val="600"/>
              </a:spcAft>
            </a:pPr>
            <a:r>
              <a:rPr sz="1550" b="0">
                <a:solidFill>
                  <a:srgbClr val="6E6E6E"/>
                </a:solidFill>
                <a:latin typeface="Helvetica Neue"/>
              </a:rPr>
              <a:t>ChatGPT, en quince segundos.</a:t>
            </a:r>
          </a:p>
        </p:txBody>
      </p:sp>
      <p:sp>
        <p:nvSpPr>
          <p:cNvPr id="18" name="TextBox 17"/>
          <p:cNvSpPr txBox="1"/>
          <p:nvPr/>
        </p:nvSpPr>
        <p:spPr>
          <a:xfrm>
            <a:off x="822960" y="6400800"/>
            <a:ext cx="10515600" cy="365760"/>
          </a:xfrm>
          <a:prstGeom prst="rect">
            <a:avLst/>
          </a:prstGeom>
          <a:noFill/>
        </p:spPr>
        <p:txBody>
          <a:bodyPr wrap="square" lIns="0" tIns="0" rIns="0" bIns="0">
            <a:spAutoFit/>
          </a:bodyPr>
          <a:lstStyle/>
          <a:p>
            <a:pPr algn="l">
              <a:spcAft>
                <a:spcPts val="600"/>
              </a:spcAft>
            </a:pPr>
            <a:r>
              <a:rPr sz="1400" b="0">
                <a:solidFill>
                  <a:srgbClr val="6E6E6E"/>
                </a:solidFill>
                <a:latin typeface="Helvetica Neue"/>
              </a:rPr>
              <a:t>El guion completo está en las notas. A ti te piden cuatro frases.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spAutoFit/>
          </a:bodyPr>
          <a:lstStyle/>
          <a:p>
            <a:pPr algn="l">
              <a:spcAft>
                <a:spcPts val="600"/>
              </a:spcAft>
            </a:pPr>
            <a:r>
              <a:rPr sz="1200" b="1">
                <a:solidFill>
                  <a:srgbClr val="ED7623"/>
                </a:solidFill>
                <a:latin typeface="Helvetica Neue"/>
              </a:rPr>
              <a:t>TU TURNO</a:t>
            </a:r>
          </a:p>
        </p:txBody>
      </p:sp>
      <p:sp>
        <p:nvSpPr>
          <p:cNvPr id="4" name="TextBox 3"/>
          <p:cNvSpPr txBox="1"/>
          <p:nvPr/>
        </p:nvSpPr>
        <p:spPr>
          <a:xfrm>
            <a:off x="822960" y="960120"/>
            <a:ext cx="10607040" cy="1188720"/>
          </a:xfrm>
          <a:prstGeom prst="rect">
            <a:avLst/>
          </a:prstGeom>
          <a:noFill/>
        </p:spPr>
        <p:txBody>
          <a:bodyPr wrap="square" lIns="0" tIns="0" rIns="0" bIns="0">
            <a:spAutoFit/>
          </a:bodyPr>
          <a:lstStyle/>
          <a:p>
            <a:pPr algn="l">
              <a:lnSpc>
                <a:spcPct val="105000"/>
              </a:lnSpc>
              <a:spcAft>
                <a:spcPts val="600"/>
              </a:spcAft>
            </a:pPr>
            <a:r>
              <a:rPr sz="4000" b="1">
                <a:solidFill>
                  <a:srgbClr val="11406E"/>
                </a:solidFill>
                <a:latin typeface="Helvetica Neue"/>
              </a:rPr>
              <a:t>Elige uno de los dos</a:t>
            </a:r>
          </a:p>
        </p:txBody>
      </p:sp>
      <p:sp>
        <p:nvSpPr>
          <p:cNvPr id="5" name="Rounded Rectangle 4"/>
          <p:cNvSpPr/>
          <p:nvPr/>
        </p:nvSpPr>
        <p:spPr>
          <a:xfrm>
            <a:off x="822960" y="2377440"/>
            <a:ext cx="5029200" cy="23774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34440" y="2697480"/>
            <a:ext cx="4206240" cy="822960"/>
          </a:xfrm>
          <a:prstGeom prst="rect">
            <a:avLst/>
          </a:prstGeom>
          <a:noFill/>
        </p:spPr>
        <p:txBody>
          <a:bodyPr wrap="square" lIns="0" tIns="0" rIns="0" bIns="0">
            <a:spAutoFit/>
          </a:bodyPr>
          <a:lstStyle/>
          <a:p>
            <a:pPr algn="l">
              <a:lnSpc>
                <a:spcPct val="110000"/>
              </a:lnSpc>
              <a:spcAft>
                <a:spcPts val="600"/>
              </a:spcAft>
            </a:pPr>
            <a:r>
              <a:rPr sz="2300" b="1">
                <a:solidFill>
                  <a:srgbClr val="35789C"/>
                </a:solidFill>
                <a:latin typeface="Helvetica Neue"/>
              </a:rPr>
              <a:t>Qué hago en mi carrera</a:t>
            </a:r>
          </a:p>
        </p:txBody>
      </p:sp>
      <p:sp>
        <p:nvSpPr>
          <p:cNvPr id="7" name="TextBox 6"/>
          <p:cNvSpPr txBox="1"/>
          <p:nvPr/>
        </p:nvSpPr>
        <p:spPr>
          <a:xfrm>
            <a:off x="1234440" y="3657600"/>
            <a:ext cx="4206240" cy="1188720"/>
          </a:xfrm>
          <a:prstGeom prst="rect">
            <a:avLst/>
          </a:prstGeom>
          <a:noFill/>
        </p:spPr>
        <p:txBody>
          <a:bodyPr wrap="square" lIns="0" tIns="0" rIns="0" bIns="0">
            <a:spAutoFit/>
          </a:bodyPr>
          <a:lstStyle/>
          <a:p>
            <a:pPr algn="l">
              <a:lnSpc>
                <a:spcPct val="130000"/>
              </a:lnSpc>
              <a:spcAft>
                <a:spcPts val="600"/>
              </a:spcAft>
            </a:pPr>
            <a:r>
              <a:rPr sz="1600" b="0" dirty="0">
                <a:solidFill>
                  <a:srgbClr val="6E6E6E"/>
                </a:solidFill>
                <a:latin typeface="Helvetica Neue"/>
              </a:rPr>
              <a:t>Un día normal de </a:t>
            </a:r>
            <a:r>
              <a:rPr sz="1600" b="0" dirty="0" err="1">
                <a:solidFill>
                  <a:srgbClr val="6E6E6E"/>
                </a:solidFill>
                <a:latin typeface="Helvetica Neue"/>
              </a:rPr>
              <a:t>trabajo</a:t>
            </a:r>
            <a:r>
              <a:rPr sz="1600" b="0" dirty="0">
                <a:solidFill>
                  <a:srgbClr val="6E6E6E"/>
                </a:solidFill>
                <a:latin typeface="Helvetica Neue"/>
              </a:rPr>
              <a:t> de </a:t>
            </a:r>
            <a:r>
              <a:rPr sz="1600" b="0">
                <a:solidFill>
                  <a:srgbClr val="6E6E6E"/>
                </a:solidFill>
                <a:latin typeface="Helvetica Neue"/>
              </a:rPr>
              <a:t>alguien</a:t>
            </a:r>
            <a:r>
              <a:rPr sz="1600" b="0" dirty="0">
                <a:solidFill>
                  <a:srgbClr val="6E6E6E"/>
                </a:solidFill>
                <a:latin typeface="Helvetica Neue"/>
              </a:rPr>
              <a:t> de </a:t>
            </a:r>
            <a:r>
              <a:rPr sz="1600" b="0" dirty="0" err="1">
                <a:solidFill>
                  <a:srgbClr val="6E6E6E"/>
                </a:solidFill>
                <a:latin typeface="Helvetica Neue"/>
              </a:rPr>
              <a:t>tu</a:t>
            </a:r>
            <a:r>
              <a:rPr sz="1600" b="0" dirty="0">
                <a:solidFill>
                  <a:srgbClr val="6E6E6E"/>
                </a:solidFill>
                <a:latin typeface="Helvetica Neue"/>
              </a:rPr>
              <a:t> </a:t>
            </a:r>
            <a:r>
              <a:rPr sz="1600" b="0" dirty="0" err="1">
                <a:solidFill>
                  <a:srgbClr val="6E6E6E"/>
                </a:solidFill>
                <a:latin typeface="Helvetica Neue"/>
              </a:rPr>
              <a:t>programa</a:t>
            </a:r>
            <a:r>
              <a:rPr sz="1600" b="0" dirty="0">
                <a:solidFill>
                  <a:srgbClr val="6E6E6E"/>
                </a:solidFill>
                <a:latin typeface="Helvetica Neue"/>
              </a:rPr>
              <a:t>. Lo </a:t>
            </a:r>
            <a:r>
              <a:rPr sz="1600" b="0" dirty="0" err="1">
                <a:solidFill>
                  <a:srgbClr val="6E6E6E"/>
                </a:solidFill>
                <a:latin typeface="Helvetica Neue"/>
              </a:rPr>
              <a:t>que</a:t>
            </a:r>
            <a:r>
              <a:rPr sz="1600" b="0" dirty="0">
                <a:solidFill>
                  <a:srgbClr val="6E6E6E"/>
                </a:solidFill>
                <a:latin typeface="Helvetica Neue"/>
              </a:rPr>
              <a:t> </a:t>
            </a:r>
            <a:r>
              <a:rPr sz="1600" b="0" dirty="0" err="1">
                <a:solidFill>
                  <a:srgbClr val="6E6E6E"/>
                </a:solidFill>
                <a:latin typeface="Helvetica Neue"/>
              </a:rPr>
              <a:t>nadie</a:t>
            </a:r>
            <a:r>
              <a:rPr sz="1600" b="0" dirty="0">
                <a:solidFill>
                  <a:srgbClr val="6E6E6E"/>
                </a:solidFill>
                <a:latin typeface="Helvetica Neue"/>
              </a:rPr>
              <a:t> se </a:t>
            </a:r>
            <a:r>
              <a:rPr sz="1600" b="0" dirty="0" err="1">
                <a:solidFill>
                  <a:srgbClr val="6E6E6E"/>
                </a:solidFill>
                <a:latin typeface="Helvetica Neue"/>
              </a:rPr>
              <a:t>imagina</a:t>
            </a:r>
            <a:r>
              <a:rPr sz="1600" b="0" dirty="0">
                <a:solidFill>
                  <a:srgbClr val="6E6E6E"/>
                </a:solidFill>
                <a:latin typeface="Helvetica Neue"/>
              </a:rPr>
              <a:t> </a:t>
            </a:r>
            <a:r>
              <a:rPr sz="1600" b="0" dirty="0" err="1">
                <a:solidFill>
                  <a:srgbClr val="6E6E6E"/>
                </a:solidFill>
                <a:latin typeface="Helvetica Neue"/>
              </a:rPr>
              <a:t>que</a:t>
            </a:r>
            <a:r>
              <a:rPr sz="1600" b="0" dirty="0">
                <a:solidFill>
                  <a:srgbClr val="6E6E6E"/>
                </a:solidFill>
                <a:latin typeface="Helvetica Neue"/>
              </a:rPr>
              <a:t> </a:t>
            </a:r>
            <a:r>
              <a:rPr sz="1600" b="0" dirty="0" err="1">
                <a:solidFill>
                  <a:srgbClr val="6E6E6E"/>
                </a:solidFill>
                <a:latin typeface="Helvetica Neue"/>
              </a:rPr>
              <a:t>haces</a:t>
            </a:r>
            <a:r>
              <a:rPr sz="1600" b="0" dirty="0">
                <a:solidFill>
                  <a:srgbClr val="6E6E6E"/>
                </a:solidFill>
                <a:latin typeface="Helvetica Neue"/>
              </a:rPr>
              <a:t>.</a:t>
            </a:r>
          </a:p>
        </p:txBody>
      </p:sp>
      <p:sp>
        <p:nvSpPr>
          <p:cNvPr id="8" name="Rounded Rectangle 7"/>
          <p:cNvSpPr/>
          <p:nvPr/>
        </p:nvSpPr>
        <p:spPr>
          <a:xfrm>
            <a:off x="6217920" y="2377440"/>
            <a:ext cx="5029200" cy="23774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29400" y="2697480"/>
            <a:ext cx="4206240" cy="822960"/>
          </a:xfrm>
          <a:prstGeom prst="rect">
            <a:avLst/>
          </a:prstGeom>
          <a:noFill/>
        </p:spPr>
        <p:txBody>
          <a:bodyPr wrap="square" lIns="0" tIns="0" rIns="0" bIns="0">
            <a:spAutoFit/>
          </a:bodyPr>
          <a:lstStyle/>
          <a:p>
            <a:pPr algn="l">
              <a:lnSpc>
                <a:spcPct val="110000"/>
              </a:lnSpc>
              <a:spcAft>
                <a:spcPts val="600"/>
              </a:spcAft>
            </a:pPr>
            <a:r>
              <a:rPr sz="2300" b="1">
                <a:solidFill>
                  <a:srgbClr val="35789C"/>
                </a:solidFill>
                <a:latin typeface="Helvetica Neue"/>
              </a:rPr>
              <a:t>Lo que me costó entender</a:t>
            </a:r>
          </a:p>
        </p:txBody>
      </p:sp>
      <p:sp>
        <p:nvSpPr>
          <p:cNvPr id="10" name="TextBox 9"/>
          <p:cNvSpPr txBox="1"/>
          <p:nvPr/>
        </p:nvSpPr>
        <p:spPr>
          <a:xfrm>
            <a:off x="6629400" y="3657600"/>
            <a:ext cx="4206240" cy="1188720"/>
          </a:xfrm>
          <a:prstGeom prst="rect">
            <a:avLst/>
          </a:prstGeom>
          <a:noFill/>
        </p:spPr>
        <p:txBody>
          <a:bodyPr wrap="square" lIns="0" tIns="0" rIns="0" bIns="0">
            <a:spAutoFit/>
          </a:bodyPr>
          <a:lstStyle/>
          <a:p>
            <a:pPr algn="l">
              <a:lnSpc>
                <a:spcPct val="130000"/>
              </a:lnSpc>
              <a:spcAft>
                <a:spcPts val="600"/>
              </a:spcAft>
            </a:pPr>
            <a:r>
              <a:rPr sz="1600" b="0">
                <a:solidFill>
                  <a:srgbClr val="6E6E6E"/>
                </a:solidFill>
                <a:latin typeface="Helvetica Neue"/>
              </a:rPr>
              <a:t>Un concepto que te costó, explicado como te hubiera gustado que te lo explicaran.</a:t>
            </a:r>
          </a:p>
        </p:txBody>
      </p:sp>
      <p:sp>
        <p:nvSpPr>
          <p:cNvPr id="11" name="Rounded Rectangle 10"/>
          <p:cNvSpPr/>
          <p:nvPr/>
        </p:nvSpPr>
        <p:spPr>
          <a:xfrm>
            <a:off x="822960" y="5029200"/>
            <a:ext cx="10515600" cy="109728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34440" y="5257800"/>
            <a:ext cx="9692640" cy="822960"/>
          </a:xfrm>
          <a:prstGeom prst="rect">
            <a:avLst/>
          </a:prstGeom>
          <a:noFill/>
        </p:spPr>
        <p:txBody>
          <a:bodyPr wrap="square" lIns="0" tIns="0" rIns="0" bIns="0">
            <a:spAutoFit/>
          </a:bodyPr>
          <a:lstStyle/>
          <a:p>
            <a:pPr algn="l">
              <a:lnSpc>
                <a:spcPct val="125000"/>
              </a:lnSpc>
              <a:spcAft>
                <a:spcPts val="200"/>
              </a:spcAft>
            </a:pPr>
            <a:r>
              <a:rPr sz="2000" b="1">
                <a:solidFill>
                  <a:srgbClr val="ED7623"/>
                </a:solidFill>
                <a:latin typeface="Helvetica Neue"/>
              </a:rPr>
              <a:t>Medio minuto: cuatro frases, cuatro clips, un archivo.</a:t>
            </a:r>
          </a:p>
          <a:p>
            <a:pPr algn="l">
              <a:lnSpc>
                <a:spcPct val="125000"/>
              </a:lnSpc>
              <a:spcAft>
                <a:spcPts val="200"/>
              </a:spcAft>
            </a:pPr>
            <a:r>
              <a:rPr sz="1600" b="0">
                <a:solidFill>
                  <a:srgbClr val="6E6E6E"/>
                </a:solidFill>
                <a:latin typeface="Helvetica Neue"/>
              </a:rPr>
              <a:t>Y una línea diciendo qué hiciste con IA.</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22960" y="1600200"/>
            <a:ext cx="10607040" cy="32004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2103120"/>
            <a:ext cx="9509760" cy="1554480"/>
          </a:xfrm>
          <a:prstGeom prst="rect">
            <a:avLst/>
          </a:prstGeom>
          <a:noFill/>
        </p:spPr>
        <p:txBody>
          <a:bodyPr wrap="square" lIns="0" tIns="0" rIns="0" bIns="0">
            <a:spAutoFit/>
          </a:bodyPr>
          <a:lstStyle/>
          <a:p>
            <a:pPr algn="l">
              <a:lnSpc>
                <a:spcPct val="100000"/>
              </a:lnSpc>
              <a:spcAft>
                <a:spcPts val="0"/>
              </a:spcAft>
            </a:pPr>
            <a:r>
              <a:rPr sz="4000" b="1">
                <a:solidFill>
                  <a:srgbClr val="11406E"/>
                </a:solidFill>
                <a:latin typeface="Helvetica Neue"/>
              </a:rPr>
              <a:t>Lo difícil nunca</a:t>
            </a:r>
          </a:p>
          <a:p>
            <a:pPr algn="l">
              <a:lnSpc>
                <a:spcPct val="100000"/>
              </a:lnSpc>
              <a:spcAft>
                <a:spcPts val="0"/>
              </a:spcAft>
            </a:pPr>
            <a:r>
              <a:rPr sz="4000" b="1">
                <a:solidFill>
                  <a:srgbClr val="ED7623"/>
                </a:solidFill>
                <a:latin typeface="Helvetica Neue"/>
              </a:rPr>
              <a:t>fue la tecnología</a:t>
            </a:r>
          </a:p>
        </p:txBody>
      </p:sp>
      <p:sp>
        <p:nvSpPr>
          <p:cNvPr id="5" name="TextBox 4"/>
          <p:cNvSpPr txBox="1"/>
          <p:nvPr/>
        </p:nvSpPr>
        <p:spPr>
          <a:xfrm>
            <a:off x="1371600" y="3886200"/>
            <a:ext cx="9509760" cy="822960"/>
          </a:xfrm>
          <a:prstGeom prst="rect">
            <a:avLst/>
          </a:prstGeom>
          <a:noFill/>
        </p:spPr>
        <p:txBody>
          <a:bodyPr wrap="square" lIns="0" tIns="0" rIns="0" bIns="0">
            <a:spAutoFit/>
          </a:bodyPr>
          <a:lstStyle/>
          <a:p>
            <a:pPr algn="l">
              <a:lnSpc>
                <a:spcPct val="125000"/>
              </a:lnSpc>
              <a:spcAft>
                <a:spcPts val="600"/>
              </a:spcAft>
            </a:pPr>
            <a:r>
              <a:rPr sz="2100" b="0">
                <a:solidFill>
                  <a:srgbClr val="6E6E6E"/>
                </a:solidFill>
                <a:latin typeface="Helvetica Neue"/>
              </a:rPr>
              <a:t>Fue decidir qué valía la pena contar, y decirlo en cuatro frases.</a:t>
            </a:r>
          </a:p>
        </p:txBody>
      </p:sp>
      <p:pic>
        <p:nvPicPr>
          <p:cNvPr id="6" name="Picture 5" descr="logo_ucaldas.png"/>
          <p:cNvPicPr>
            <a:picLocks noChangeAspect="1"/>
          </p:cNvPicPr>
          <p:nvPr/>
        </p:nvPicPr>
        <p:blipFill>
          <a:blip r:embed="rId3"/>
          <a:stretch>
            <a:fillRect/>
          </a:stretch>
        </p:blipFill>
        <p:spPr>
          <a:xfrm>
            <a:off x="822960" y="5349240"/>
            <a:ext cx="1721725" cy="420624"/>
          </a:xfrm>
          <a:prstGeom prst="rect">
            <a:avLst/>
          </a:prstGeom>
        </p:spPr>
      </p:pic>
      <p:sp>
        <p:nvSpPr>
          <p:cNvPr id="7" name="TextBox 6"/>
          <p:cNvSpPr txBox="1"/>
          <p:nvPr/>
        </p:nvSpPr>
        <p:spPr>
          <a:xfrm>
            <a:off x="850392" y="5861303"/>
            <a:ext cx="6400800" cy="274320"/>
          </a:xfrm>
          <a:prstGeom prst="rect">
            <a:avLst/>
          </a:prstGeom>
          <a:noFill/>
        </p:spPr>
        <p:txBody>
          <a:bodyPr wrap="square" lIns="0" tIns="0" rIns="0" bIns="0">
            <a:spAutoFit/>
          </a:bodyPr>
          <a:lstStyle/>
          <a:p>
            <a:pPr algn="l">
              <a:spcAft>
                <a:spcPts val="600"/>
              </a:spcAft>
            </a:pPr>
            <a:r>
              <a:rPr sz="1000" b="1">
                <a:solidFill>
                  <a:srgbClr val="ED7623"/>
                </a:solidFill>
                <a:latin typeface="Helvetica Neue"/>
              </a:rPr>
              <a:t>FACULTAD DE INTELIGENCIA ARTIFICIAL E INGENIERÍAS</a:t>
            </a:r>
          </a:p>
        </p:txBody>
      </p:sp>
      <p:sp>
        <p:nvSpPr>
          <p:cNvPr id="8" name="TextBox 7"/>
          <p:cNvSpPr txBox="1"/>
          <p:nvPr/>
        </p:nvSpPr>
        <p:spPr>
          <a:xfrm>
            <a:off x="822960" y="6355080"/>
            <a:ext cx="10515600" cy="365760"/>
          </a:xfrm>
          <a:prstGeom prst="rect">
            <a:avLst/>
          </a:prstGeom>
          <a:noFill/>
        </p:spPr>
        <p:txBody>
          <a:bodyPr wrap="square" lIns="0" tIns="0" rIns="0" bIns="0">
            <a:spAutoFit/>
          </a:bodyPr>
          <a:lstStyle/>
          <a:p>
            <a:pPr algn="l">
              <a:spcAft>
                <a:spcPts val="600"/>
              </a:spcAft>
            </a:pPr>
            <a:r>
              <a:rPr sz="1300" b="0">
                <a:solidFill>
                  <a:srgbClr val="6E6E6E"/>
                </a:solidFill>
                <a:latin typeface="Helvetica Neue"/>
              </a:rPr>
              <a:t>Universidad de Caldas · 2026-2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5435</Words>
  <Application>Microsoft Macintosh PowerPoint</Application>
  <PresentationFormat>Panorámica</PresentationFormat>
  <Paragraphs>437</Paragraphs>
  <Slides>19</Slides>
  <Notes>19</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19</vt:i4>
      </vt:variant>
    </vt:vector>
  </HeadingPairs>
  <TitlesOfParts>
    <vt:vector size="23" baseType="lpstr">
      <vt:lpstr>Arial</vt:lpstr>
      <vt:lpstr>Calibri</vt:lpstr>
      <vt:lpstr>Helvetica Neue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johan piña duran</cp:lastModifiedBy>
  <cp:revision>1</cp:revision>
  <dcterms:created xsi:type="dcterms:W3CDTF">2013-01-27T09:14:16Z</dcterms:created>
  <dcterms:modified xsi:type="dcterms:W3CDTF">2026-10-23T18:41:13Z</dcterms:modified>
  <cp:category/>
</cp:coreProperties>
</file>