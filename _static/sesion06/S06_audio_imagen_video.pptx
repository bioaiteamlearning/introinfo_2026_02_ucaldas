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Bienvenida corta. Hoy es un taller de producción: cada persona sale con un video de un minuto en el que ella misma, con su cara y su voz, explica algo de su carrera.</a:t>
            </a:r>
          </a:p>
          <a:p/>
          <a:p>
            <a:r>
              <a:t>Mostrar primero el ejemplo terminado y después desarmarlo. Que vean el resultado antes del procedimiento.</a:t>
            </a:r>
          </a:p>
          <a:p/>
          <a:p>
            <a:r>
              <a:t>AVISO QUE HAY QUE DAR DE ENTRADA: esto necesita cuenta de Google personal; la institucional no sirve para generar video (comprobado en UCaldas y en la UAM).</a:t>
            </a:r>
          </a:p>
          <a:p/>
          <a:p>
            <a:r>
              <a:t>Y OJO CON DÓNDE: en la app de Gemini, Crear video solo aparece con plan de pago; en cuenta gratuita NO está. La herramienta de la clase es GOOGLE FLOW (flow.google.com): probado en cuenta gratuita, 50 créditos diarios. Flow hace las tres cosas: el personaje, los clips y el montaje.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Este es el entregable. Mostrarlo, no explicarlo.</a:t>
            </a:r>
          </a:p>
          <a:p/>
          <a:p>
            <a:r>
              <a:t>Reproducir el ejemplo. Preguntar después: ¿cuántos videos distintos creen que hay aquí? La respuesta —son clips pegados— es la agenda de la clase.</a:t>
            </a:r>
          </a:p>
          <a:p/>
          <a:p>
            <a:r>
              <a:t>El punto pedagógico: no se hace un video de corrido. Se hacen pedazos de diez segundos y se pegan. Eso es lo que lo vuelve alcanzable.</a:t>
            </a:r>
          </a:p>
          <a:p/>
          <a:p>
            <a:r>
              <a:t>POR QUÉ CUATRO DE OCHO: es aritmética. Flow da 50 créditos gratis al día y un clip de 8 segundos cuesta 10. Cuatro clips son 40 y queda uno de repuesto, que se va a necesitar porque la herramienta falla seguido.</a:t>
            </a:r>
          </a:p>
          <a:p/>
          <a:p>
            <a:r>
              <a:t>APROVECHA ESO: el repuesto es para los errores, no para ensayar guiones. Como no hay créditos para probar a ver qué sale, el guion TIENE que estar bien antes de generar. Es el mejor argumento que vas a tener para que no se salten el paso 1.</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El camino completo. Cuatro pasos obligatorios y dos opcionales.</a:t>
            </a:r>
          </a:p>
          <a:p/>
          <a:p>
            <a:r>
              <a:t>Insistir en el orden: el guion primero, siempre. El error más común es empezar por la imagen bonita y después no saber qué decir.</a:t>
            </a:r>
          </a:p>
          <a:p/>
          <a:p>
            <a:r>
              <a:t>Los pasos 5 y 6 son mejoras, no requisitos. Un video con los cuatro primeros ya está terminado.</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Tres herramientas, nada más. Y una advertencia que hay que dar en voz alta.</a:t>
            </a:r>
          </a:p>
          <a:p/>
          <a:p>
            <a:r>
              <a:t>COMPROBADO al preparar la clase, cuenta por cuenta:</a:t>
            </a:r>
          </a:p>
          <a:p>
            <a:r>
              <a:t>· Institucional (UCaldas y UAM): NO tiene Crear video. El menú llega hasta Deep Research.</a:t>
            </a:r>
          </a:p>
          <a:p>
            <a:r>
              <a:t>· Gmail personal GRATUITA: tampoco. Crear video no aparece en el menú. Esto fue una sorpresa y cambió el diseño de la clase.</a:t>
            </a:r>
          </a:p>
          <a:p>
            <a:r>
              <a:t>· Gmail personal con plan PRO: sí lo tiene, unos 3 videos al día.</a:t>
            </a:r>
          </a:p>
          <a:p>
            <a:r>
              <a:t>· GOOGLE FLOW (flow.google.com): PROBADO de punta a punta en una cuenta de Google gratuita. 50 créditos diarios, se renuevan pasada la medianoche. Costos reales medidos: Veo 3.1 Lite (8 s) = 10 créditos; Omni 1.1 Flash (10 s) = 15. CREAR UN PERSONAJE NO GASTA NADA. Salida 720p con audio; 1080p y 4K piden plan.</a:t>
            </a:r>
          </a:p>
          <a:p>
            <a:r>
              <a:t>· POR ESO EL ENCARGO ES DE CUATRO CLIPS DE OCHO: 40 créditos y queda uno de repuesto.</a:t>
            </a:r>
          </a:p>
          <a:p>
            <a:r>
              <a:t>· VEO 3.1 LITE FALLA SEGUIDO: me dio «Se produjo un error» cuatro veces. Se le da Reintentar y suele salir. Si se pone imposible, escribir «usa omni» cambia a Omni 1.1 Flash, más confiable pero a 15 créditos (solo alcanzan tres clips).</a:t>
            </a:r>
          </a:p>
          <a:p>
            <a:r>
              <a:t>· FLOW UNE LOS CLIPS SOLO: al abrir un clip hay una línea de tiempo con «+ → Agregar clip». Por eso ChatGPT queda de respaldo, no de paso obligatorio.</a:t>
            </a:r>
          </a:p>
          <a:p>
            <a:r>
              <a:t>· Gemini NO une videos: ejecuta código pero sin herramientas de video, y devuelve un comando de terminal. ChatGPT sí, en unos quince segundos.</a:t>
            </a:r>
          </a:p>
          <a:p/>
          <a:p>
            <a:r>
              <a:t>Por eso la Ruta B de la diapositiva 13 no es un adorno.</a:t>
            </a:r>
          </a:p>
          <a:p/>
          <a:p>
            <a:r>
              <a:t>SI ALGUIEN PREGUNTA POR OTRAS RUTAS, las dos obvias están descartadas y lo comprobé:</a:t>
            </a:r>
          </a:p>
          <a:p>
            <a:r>
              <a:t>· SORA (OpenAI) ya no existe. Lo descontinuaron el 26 de abril de 2026, web y app; la API se apaga el 24 de septiembre de 2026. Está en el centro de ayuda de OpenAI.</a:t>
            </a:r>
          </a:p>
          <a:p>
            <a:r>
              <a:t>· GOOGLE AI STUDIO sí tiene generación de video, pero es de pago: el único modelo de la categoría Video está marcado "Paid" y cuesta unos 7,50 dólares por salida. El nivel gratuito de AI Studio cubre texto y audio —por eso la voz sí funciona ahí— pero no video.</a:t>
            </a:r>
          </a:p>
          <a:p/>
          <a:p>
            <a:r>
              <a:t>O sea: para video gratis, la app de Gemini con cuenta personal es la única puerta. No hay plan C.</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Este bloque va antes de producir nada.</a:t>
            </a:r>
          </a:p>
          <a:p/>
          <a:p>
            <a:r>
              <a:t>Tres reglas:</a:t>
            </a:r>
          </a:p>
          <a:p>
            <a:r>
              <a:t>1. Solo tu propia cara y tu propia voz. Nunca la de un compañero sin que lo sepa, nunca la de alguien famoso, nunca la de un profesor.</a:t>
            </a:r>
          </a:p>
          <a:p>
            <a:r>
              <a:t>2. Se declara. En el video o en la descripción: qué se hizo con IA.</a:t>
            </a:r>
          </a:p>
          <a:p>
            <a:r>
              <a:t>3. Nada confidencial en las herramientas.</a:t>
            </a:r>
          </a:p>
          <a:p/>
          <a:p>
            <a:r>
              <a:t>Esta sesión lo hace más urgente que antes: ahora adjuntan una foto y sale esa persona hablando. Es exactamente la mecánica de un deepfake. Por eso la regla 1 deja de ser abstracta.</a:t>
            </a:r>
          </a:p>
          <a:p/>
          <a:p>
            <a:r>
              <a:t>Conectar con la sesión de ética: hacerlo con la cara de otro sin su consentimiento puede ser delito en Colombia.</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PROMPT PARA EL GUION:</a:t>
            </a:r>
          </a:p>
          <a:p/>
          <a:p>
            <a:r>
              <a:t>«Eres guionista de videos educativos cortos. Escríbeme un guion de 80 palabras para un video de 32 segundos.</a:t>
            </a:r>
          </a:p>
          <a:p>
            <a:r>
              <a:t>Tema: [lo que haces en tu carrera, o un concepto que te costó entender].</a:t>
            </a:r>
          </a:p>
          <a:p>
            <a:r>
              <a:t>Para: alguien que no sabe nada del tema y no es de tu área.</a:t>
            </a:r>
          </a:p>
          <a:p>
            <a:r>
              <a:t>Estructura: una primera frase que enganche, una idea central explicada con una comparación cotidiana, y un cierre que deje una pregunta.</a:t>
            </a:r>
          </a:p>
          <a:p>
            <a:r>
              <a:t>Reglas: frases cortas, para decir en voz alta. Sin tecnicismos sin explicar. Nada de "en el mundo actual" ni "hoy en día". Al final, dime cuántas palabras tiene.»</a:t>
            </a:r>
          </a:p>
          <a:p/>
          <a:p>
            <a:r>
              <a:t>Y ENSEGUIDA, EL QUE DE VERDAD IMPORTA HOY:</a:t>
            </a:r>
          </a:p>
          <a:p/>
          <a:p>
            <a:r>
              <a:t>«Parte este guion en 4 frases de unas 20 palabras cada una. Cada frase tiene que poder decirse sola en 8 segundos y entenderse sin la anterior. Numéralas.»</a:t>
            </a:r>
          </a:p>
          <a:p/>
          <a:p>
            <a:r>
              <a:t>LA CUENTA: se habla a unas 150 palabras por minuto, o sea 20 palabras cada 8 segundos. Cuatro clips = 80 palabras = 32 segundos. Hacer la cuenta en el tablero con ellos; es lo que vuelve el encargo concreto.</a:t>
            </a:r>
          </a:p>
          <a:p/>
          <a:p>
            <a:r>
              <a:t>Que lean cada frase en voz alta y la cronometren. Si una no cabe en 10 segundos, hay que partirla.</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Esto es el "voz a texto" del título y funciona mejor como truco que como tema.</a:t>
            </a:r>
          </a:p>
          <a:p/>
          <a:p>
            <a:r>
              <a:t>Demostración: abrir un Google Doc, Herramientas → Dictado por voz, hablar treinta segundos explicando algo y ver el texto aparecer.</a:t>
            </a:r>
          </a:p>
          <a:p/>
          <a:p>
            <a:r>
              <a:t>Para quien habla mejor de lo que escribe, esto cambia la vida. Y el texto dictado suena natural al decirlo en voz alta, que es justo lo que necesita un guion.</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EL PERSONAJE. Este paso es nuevo y es el que más mejora el resultado.</a:t>
            </a:r>
          </a:p>
          <a:p/>
          <a:p>
            <a:r>
              <a:t>En Flow, menú lateral → Personajes. CREARLO NO GASTA CRÉDITOS, así que pueden ensayar hasta que les guste. Decirlo en voz alta: es la única parte de la clase donde pueden experimentar sin costo.</a:t>
            </a:r>
          </a:p>
          <a:p/>
          <a:p>
            <a:r>
              <a:t>DOS FORMAS:</a:t>
            </a:r>
          </a:p>
          <a:p>
            <a:r>
              <a:t>· Con su foto: botón Subir, una foto de frente, bien iluminada, sin gafas de sol.</a:t>
            </a:r>
          </a:p>
          <a:p>
            <a:r>
              <a:t>· Describiéndolo: escriben cómo es y Flow lo dibuja. Para quien no quiera poner su cara, y queda igual de consistente.</a:t>
            </a:r>
          </a:p>
          <a:p/>
          <a:p>
            <a:r>
              <a:t>DOS COSAS QUE HAY QUE HACER ANTES DE GASTAR UN CRÉDITO:</a:t>
            </a:r>
          </a:p>
          <a:p>
            <a:r>
              <a:t>1. ASIGNARLE UNA VOZ. El botón «Selecciona una voz» deja elegir voz y escribir cómo debe sonar: «español latinoamericano, tono cercano y pausado, como quien le explica algo a un amigo». Así suena igual en los cuatro clips, que era justo el problema de la versión anterior.</a:t>
            </a:r>
          </a:p>
          <a:p>
            <a:r>
              <a:t>2. CREARLO EN EL LUGAR CORRECTO. COMPROBADO: el personaje arrastra consigo el escenario donde se creó. Lo creé en una oficina, pedí un salón de clase, y salió en la oficina. Si quieren un laboratorio, el personaje hay que crearlo en el laboratorio.</a:t>
            </a:r>
          </a:p>
          <a:p/>
          <a:p>
            <a:r>
              <a:t>Aquí es donde conviene repetir la regla 1: la foto es tuya, de nadie más.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EL PASO CENTRAL. Aquí se va la mayor parte de la clase.</a:t>
            </a:r>
          </a:p>
          <a:p/>
          <a:p>
            <a:r>
              <a:t>PARA CADA CLIP, EN FLOW:</a:t>
            </a:r>
          </a:p>
          <a:p>
            <a:r>
              <a:t>1. Botón + debajo del cuadro de texto.</a:t>
            </a:r>
          </a:p>
          <a:p>
            <a:r>
              <a:t>2. Eligen su personaje de la lista y le dan «Agregar a la instrucción».</a:t>
            </a:r>
          </a:p>
          <a:p>
            <a:r>
              <a:t>3. Escriben el prompt.</a:t>
            </a:r>
          </a:p>
          <a:p/>
          <a:p>
            <a:r>
              <a:t>PROMPT (solo cambia la frase):</a:t>
            </a:r>
          </a:p>
          <a:p>
            <a:r>
              <a:t>«Este personaje mira a la cámara y dice en español latinoamericano, tono cercano y pausado: "[una de sus frases]". Plano medio. Cámara fija. Sin texto en pantalla.»</a:t>
            </a:r>
          </a:p>
          <a:p/>
          <a:p>
            <a:r>
              <a:t>EL ERROR QUE VA A PASAR Y HAY QUE ANTICIPAR: si solo ESCRIBEN «usa el personaje que acabo de crear», Flow genera OTRA PERSONA. Lo comprobé: salió un señor parecido pero con otra cara. Hay que ADJUNTARLO con el botón +. Cuando está bien, Flow responde que va a generar «utilizando la entidad del personaje referenciada»: que lo verifiquen en esa frase.</a:t>
            </a:r>
          </a:p>
          <a:p/>
          <a:p>
            <a:r>
              <a:t>LOS CRÉDITOS: 50 al día, 10 por clip de 8 segundos. Cuatro clips y queda uno de repuesto.</a:t>
            </a:r>
          </a:p>
          <a:p/>
          <a:p>
            <a:r>
              <a:t>VEO 3.1 LITE FALLA SEGUIDO: «Se produjo un error» me salió cuatro veces. Se le da Reintentar. Si se pone imposible, escribir «usa omni» cambia a Omni 1.1 Flash (más confiable, 10 segundos, pero 15 créditos: solo alcanzan tres clips). Advertirlo ANTES de soltarlos.</a:t>
            </a:r>
          </a:p>
          <a:p/>
          <a:p>
            <a:r>
              <a:t>Cada clip tarda de dos a cuatro minutos. Que los lancen seguidos, no de a uno esperando.</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UNIR LOS CLIPS. Hay dos caminos y conviene enseñar el primero.</a:t>
            </a:r>
          </a:p>
          <a:p/>
          <a:p>
            <a:r>
              <a:t>EN FLOW, que es lo más simple: al abrir un clip aparece una línea de tiempo abajo. El botón + al final del clip ofrece «Agregar clip». Van añadiendo los cuatro en orden y descargan el resultado. Todo en la misma herramienta, sin salir.</a:t>
            </a:r>
          </a:p>
          <a:p/>
          <a:p>
            <a:r>
              <a:t>DESCARGA: menú ⋮ del clip → Descargar → 720p. Las de 1080p y 4K piden plan.</a:t>
            </a:r>
          </a:p>
          <a:p/>
          <a:p>
            <a:r>
              <a:t>SI EL MONTAJE DE FLOW NO LES APARECE O FALLA, ChatGPT los une igual de bien:</a:t>
            </a:r>
          </a:p>
          <a:p>
            <a:r>
              <a:t>«Une estos clips en un solo video, en este orden: clip1, clip2, clip3, clip4. Conserva el audio de cada uno. Déjame el archivo mp4 para descargar.»</a:t>
            </a:r>
          </a:p>
          <a:p>
            <a:r>
              <a:t>Tarda unos quince segundos. Recodifica, así que pierde algo de calidad: no se nota.</a:t>
            </a:r>
          </a:p>
          <a:p/>
          <a:p>
            <a:r>
              <a:t>DATO PARA UNA BUENA PREGUNTA: Gemini NO puede unir videos (ejecuta código pero sin herramientas de video, y devuelve un comando de terminal), ChatGPT SÍ. ¿Por qué una IA puede y la otra no? No es «inteligencia»: son las herramientas que le conectaron. Es la misma idea de la sesión del asistente.</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LOS REMATES, en CapCut sobre el video ya unido. Opcional, pero sube mucho el resultado.</a:t>
            </a:r>
          </a:p>
          <a:p/>
          <a:p>
            <a:r>
              <a:t>1. Subtítulos automáticos. CapCut los saca del audio. REVISARLOS: siempre hay dos o tres palabras mal, y los nombres propios casi nunca salen bien.</a:t>
            </a:r>
          </a:p>
          <a:p>
            <a:r>
              <a:t>2. Música de fondo al 10 o 15 % del volumen. Si compite con la voz, está muy alta.</a:t>
            </a:r>
          </a:p>
          <a:p>
            <a:r>
              <a:t>3. Cortar los silencios entre clip y clip.</a:t>
            </a:r>
          </a:p>
          <a:p/>
          <a:p>
            <a:r>
              <a:t>TRUCO PARA DECIR EN VOZ ALTA: música muy alta y subtítulos sin revisar son las dos marcas de un video amateur. Arreglar esas dos cosas sube el resultado más que cualquier efecto.</a:t>
            </a:r>
          </a:p>
          <a:p/>
          <a:p>
            <a:r>
              <a:t>NOTA SOBRE LA VOZ: ya no hace falta un paso aparte. La voz va asignada al personaje desde el paso 2, y por eso suena igual en los cuatro clips. Si alguien quiere otra voz encima, ElevenLabs da unos 10 minutos gratis al mes, pero no es necesario.</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LOS AVATARES DE FLOW. Vale la pena mencionarlo porque lo van a ver en el menú y van a preguntar.</a:t>
            </a:r>
          </a:p>
          <a:p/>
          <a:p>
            <a:r>
              <a:t>Flow tiene una opción de Avatares que graba tu cara Y TU VOZ con una videoselfie, y después te pone a ti en los videos. Suena perfecta para esta sesión. El titular que usa Google es, literalmente, «Tu rostro, tu voz, tu historia».</a:t>
            </a:r>
          </a:p>
          <a:p/>
          <a:p>
            <a:r>
              <a:t>PERO NO SIRVE TODAVÍA, y lo dice la propia herramienta:</a:t>
            </a:r>
          </a:p>
          <a:p>
            <a:r>
              <a:t>· Es una función EXPERIMENTAL.</a:t>
            </a:r>
          </a:p>
          <a:p>
            <a:r>
              <a:t>· El registro SOLO ESTÁ DISPONIBLE EN INGLÉS.</a:t>
            </a:r>
          </a:p>
          <a:p>
            <a:r>
              <a:t>· Avisa que «es posible que requiera varios intentos».</a:t>
            </a:r>
          </a:p>
          <a:p/>
          <a:p>
            <a:r>
              <a:t>Con treinta estudiantes y una hora, es inviable. Personajes hace el trabajo y es gratis.</a:t>
            </a:r>
          </a:p>
          <a:p/>
          <a:p>
            <a:r>
              <a:t>ESTE ES UN BUEN MOMENTO PARA UN PUNTO DE FONDO: estas herramientas cambian cada mes. Esta sesión se rehízo tres veces mientras se preparaba, porque lo que funcionaba una semana dejaba de funcionar la siguiente. No es un defecto de la clase: es el estado real del campo, y aprender a verificar antes de confiar es parte de lo que se llevan.</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 RUTA B. El plan para quien se quede sin créditos o para todo el salón si Flow no funciona ese día. Con 50 créditos y 10 por clip hay margen, pero los errores de Veo Lite se comen intentos.</a:t>
            </a:r>
          </a:p>
          <a:p/>
          <a:p>
            <a:r>
              <a:t>Importante decirlo sin dramatismo: el video sale bien igual. Lo que pesa es lo bien contado, no el movimiento.</a:t>
            </a:r>
          </a:p>
          <a:p/>
          <a:p>
            <a:r>
              <a:t>Los cuatro pasos:</a:t>
            </a:r>
          </a:p>
          <a:p>
            <a:r>
              <a:t>1. AMBIENTE: «Genera una imagen horizontal 16:9 de [el lugar]. Fotografía realista, luz natural suave. Sin personas. Sin texto. Deja espacio libre en el lado derecho.»</a:t>
            </a:r>
          </a:p>
          <a:p>
            <a:r>
              <a:t>2. PERSONAJE: «Con esta foto mía como referencia, genera un retrato de medio cuerpo del mismo personaje. Fondo gris liso y uniforme, sin sombras ni degradados. Formato vertical.» El fondo liso es lo que permite recortarlo.</a:t>
            </a:r>
          </a:p>
          <a:p>
            <a:r>
              <a:t>3. VOZ: ElevenLabs con el guion completo.</a:t>
            </a:r>
          </a:p>
          <a:p>
            <a:r>
              <a:t>4. MONTAJE en CapCut: ambiente de fondo, avatar encima con «quitar fondo», la voz debajo, subtítulos, y un zoom lento sobre la imagen para que algo quieto se vea vivo.</a:t>
            </a:r>
          </a:p>
          <a:p/>
          <a:p>
            <a:r>
              <a:t>Todo esto funciona en cualquier cuenta y sin cupos.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EL EJEMPLO. Desarmarlo en vivo mostrando las piezas.</a:t>
            </a:r>
          </a:p>
          <a:p/>
          <a:p>
            <a:r>
              <a:t>Tema: qué es la inteligencia artificial y cómo se entrena, para gente de áreas no ingenieriles.</a:t>
            </a:r>
          </a:p>
          <a:p/>
          <a:p>
            <a:r>
              <a:t>EL GUION COMPLETO. El ejemplo que se proyecta son las dos primeras frases; a ellos se les piden cuatro. Dejo las seis por si quieres mostrar la versión larga:</a:t>
            </a:r>
          </a:p>
          <a:p>
            <a:r>
              <a:t>1. «¿Alguna vez le enseñaste algo a un niño mostrándole ejemplos? Así se entrena la inteligencia artificial.»</a:t>
            </a:r>
          </a:p>
          <a:p>
            <a:r>
              <a:t>2. «Nadie le explica las reglas. Le muestran miles de fotos de perros, hasta que reconoce uno que nunca había visto.»</a:t>
            </a:r>
          </a:p>
          <a:p>
            <a:r>
              <a:t>3. «Nadie le dijo que un perro tiene cuatro patas. Lo fue deduciendo de los ejemplos que le pusieron enfrente.»</a:t>
            </a:r>
          </a:p>
          <a:p>
            <a:r>
              <a:t>4. «Por eso aprende lo que le mostramos. Y también aprende nuestros errores, sin que nadie se lo proponga.»</a:t>
            </a:r>
          </a:p>
          <a:p>
            <a:r>
              <a:t>5. «Si solo le mostramos un tipo de perro, se equivoca con todos los demás. No por maldad: por falta de ejemplos.»</a:t>
            </a:r>
          </a:p>
          <a:p>
            <a:r>
              <a:t>6. «Entonces la pregunta no es qué puede hacer la inteligencia artificial. Es qué ejemplos le estamos mostrando nosotros.»</a:t>
            </a:r>
          </a:p>
          <a:p/>
          <a:p>
            <a:r>
              <a:t>PROMPT DE CADA CLIP (cambiando solo la frase):</a:t>
            </a:r>
          </a:p>
          <a:p>
            <a:r>
              <a:t>«La persona de la foto, en plano medio dentro de un salón de clase universitario vacío con luz natural suave. Mira a la cámara y dice en español latinoamericano, tono cercano y pausado: «[la frase]». Cámara fija, sin texto en pantalla.»</a:t>
            </a:r>
          </a:p>
          <a:p/>
          <a:p>
            <a:r>
              <a:t>MOSTRAR QUE EL PERSONAJE SE MANTIENE: misma cara, misma camisa, mismo salón en los dos clips. Eso lo logra adjuntar la misma foto, nada más.</a:t>
            </a:r>
          </a:p>
          <a:p/>
          <a:p>
            <a:r>
              <a:t>Si quieres las cuatro frases justas para el encargo de clase, usa la 1, la 2, la 5 y la 6: enganchan, explican, muestran la consecuencia y cierran con pregunta.</a:t>
            </a:r>
          </a:p>
          <a:p/>
          <a:p>
            <a:r>
              <a:t>OJO AL DESARMARLO: el ejemplo está hecho con la app de Gemini adjuntando una foto en cada clip, que era la ruta anterior. Ellos van a usar Personajes en Flow, que es más fácil. Dilo, para que no intenten copiar el procedimiento del ejemplo.</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EL ENCARGO. Leerlo y soltarlos a trabajar.</a:t>
            </a:r>
          </a:p>
          <a:p/>
          <a:p>
            <a:r>
              <a:t>Dos opciones de tema, para que nadie se quede en blanco:</a:t>
            </a:r>
          </a:p>
          <a:p>
            <a:r>
              <a:t>· Qué hace alguien de tu carrera un día normal de trabajo.</a:t>
            </a:r>
          </a:p>
          <a:p>
            <a:r>
              <a:t>· Un concepto que a ti te costó entender, explicado como te hubiera gustado que te lo explicaran.</a:t>
            </a:r>
          </a:p>
          <a:p/>
          <a:p>
            <a:r>
              <a:t>La segunda suele dar mejores videos: hay algo personal adentro.</a:t>
            </a:r>
          </a:p>
          <a:p/>
          <a:p>
            <a:r>
              <a:t>Mientras circulas, lo que más vas a tener que decir:</a:t>
            </a:r>
          </a:p>
          <a:p>
            <a:r>
              <a:t>· «Devuélvete al guion» — a quien empezó por los clips.</a:t>
            </a:r>
          </a:p>
          <a:p>
            <a:r>
              <a:t>· «Cuenta las palabras» — a quien metió cuarenta en una frase de diez segundos.</a:t>
            </a:r>
          </a:p>
          <a:p>
            <a:r>
              <a:t>· «Adjunta el personaje, no lo escribas» — a quien le salieron personas distintas.</a:t>
            </a:r>
          </a:p>
          <a:p>
            <a:r>
              <a:t>· «Dale Reintentar» — a quien le salió «Se produjo un error». Pasa seguido.</a:t>
            </a:r>
          </a:p>
          <a:p>
            <a:r>
              <a:t>· «¿Dónde creaste el personaje?» — a quien le sale siempre el mismo fondo equivocado.</a:t>
            </a:r>
          </a:p>
          <a:p>
            <a:r>
              <a:t>· «Revisa los subtítulos» — a todos.</a:t>
            </a:r>
          </a:p>
          <a:p/>
          <a:p>
            <a:r>
              <a:t>Y para quien no tenga cupo: Ruta B, sin drama.</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Cierre corto.</a:t>
            </a:r>
          </a:p>
          <a:p/>
          <a:p>
            <a:r>
              <a:t>Que tres o cuatro proyecten lo suyo. No pedir voluntarios al aire: durante la clase, identificar dos o tres que vayan bien y pedírselo con anticipación.</a:t>
            </a:r>
          </a:p>
          <a:p/>
          <a:p>
            <a:r>
              <a:t>Preguntas para cerrar:</a:t>
            </a:r>
          </a:p>
          <a:p>
            <a:r>
              <a:t>· ¿Qué parte costó más? (casi siempre: partir el guion, no la tecnología)</a:t>
            </a:r>
          </a:p>
          <a:p>
            <a:r>
              <a:t>· ¿En qué se nota que es IA?</a:t>
            </a:r>
          </a:p>
          <a:p>
            <a:r>
              <a:t>· Hoy pusiste tu cara a decir algo que tú escribiste. ¿Qué pasaría si alguien pusiera tu cara a decir algo que tú no escribiste?</a:t>
            </a:r>
          </a:p>
          <a:p/>
          <a:p>
            <a:r>
              <a:t>La última conecta directo con la sesión de ética y deepfakes. Déjala sin responder; se responde la próxima clase.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 Id="rId3"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 Id="rId3" Type="http://schemas.openxmlformats.org/officeDocument/2006/relationships/image" Target="../media/image1.png"/></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ED7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_ucaldas.png"/>
          <p:cNvPicPr>
            <a:picLocks noChangeAspect="1"/>
          </p:cNvPicPr>
          <p:nvPr/>
        </p:nvPicPr>
        <p:blipFill>
          <a:blip r:embed="rId3"/>
          <a:stretch>
            <a:fillRect/>
          </a:stretch>
        </p:blipFill>
        <p:spPr>
          <a:xfrm>
            <a:off x="777240" y="457200"/>
            <a:ext cx="1946298" cy="475488"/>
          </a:xfrm>
          <a:prstGeom prst="rect">
            <a:avLst/>
          </a:prstGeom>
        </p:spPr>
      </p:pic>
      <p:sp>
        <p:nvSpPr>
          <p:cNvPr id="4" name="TextBox 3"/>
          <p:cNvSpPr txBox="1"/>
          <p:nvPr/>
        </p:nvSpPr>
        <p:spPr>
          <a:xfrm>
            <a:off x="804672" y="1024128"/>
            <a:ext cx="6400800" cy="274320"/>
          </a:xfrm>
          <a:prstGeom prst="rect">
            <a:avLst/>
          </a:prstGeom>
          <a:noFill/>
        </p:spPr>
        <p:txBody>
          <a:bodyPr wrap="square" lIns="0" rIns="0" tIns="0" bIns="0">
            <a:spAutoFit/>
          </a:bodyPr>
          <a:lstStyle/>
          <a:p>
            <a:pPr algn="l">
              <a:spcAft>
                <a:spcPts val="600"/>
              </a:spcAft>
            </a:pPr>
            <a:r>
              <a:rPr sz="1000" b="1">
                <a:solidFill>
                  <a:srgbClr val="ED7623"/>
                </a:solidFill>
                <a:latin typeface="Helvetica Neue"/>
              </a:rPr>
              <a:t>FACULTAD DE INTELIGENCIA ARTIFICIAL E INGENIERÍAS</a:t>
            </a:r>
          </a:p>
        </p:txBody>
      </p:sp>
      <p:sp>
        <p:nvSpPr>
          <p:cNvPr id="5" name="TextBox 4"/>
          <p:cNvSpPr txBox="1"/>
          <p:nvPr/>
        </p:nvSpPr>
        <p:spPr>
          <a:xfrm>
            <a:off x="822960" y="2103120"/>
            <a:ext cx="7315200" cy="457200"/>
          </a:xfrm>
          <a:prstGeom prst="rect">
            <a:avLst/>
          </a:prstGeom>
          <a:noFill/>
        </p:spPr>
        <p:txBody>
          <a:bodyPr wrap="square" lIns="0" rIns="0" tIns="0" bIns="0">
            <a:spAutoFit/>
          </a:bodyPr>
          <a:lstStyle/>
          <a:p>
            <a:pPr algn="l">
              <a:spcAft>
                <a:spcPts val="600"/>
              </a:spcAft>
            </a:pPr>
            <a:r>
              <a:rPr sz="1300" b="1">
                <a:solidFill>
                  <a:srgbClr val="35789C"/>
                </a:solidFill>
                <a:latin typeface="Helvetica Neue"/>
              </a:rPr>
              <a:t>SESIÓN 6 · INTRODUCCIÓN A LA INFORMÁTICA</a:t>
            </a:r>
          </a:p>
        </p:txBody>
      </p:sp>
      <p:sp>
        <p:nvSpPr>
          <p:cNvPr id="6" name="TextBox 5"/>
          <p:cNvSpPr txBox="1"/>
          <p:nvPr/>
        </p:nvSpPr>
        <p:spPr>
          <a:xfrm>
            <a:off x="822960" y="2651760"/>
            <a:ext cx="7863840" cy="2377440"/>
          </a:xfrm>
          <a:prstGeom prst="rect">
            <a:avLst/>
          </a:prstGeom>
          <a:noFill/>
        </p:spPr>
        <p:txBody>
          <a:bodyPr wrap="square" lIns="0" rIns="0" tIns="0" bIns="0">
            <a:spAutoFit/>
          </a:bodyPr>
          <a:lstStyle/>
          <a:p>
            <a:pPr algn="l">
              <a:lnSpc>
                <a:spcPct val="95000"/>
              </a:lnSpc>
              <a:spcAft>
                <a:spcPts val="0"/>
              </a:spcAft>
            </a:pPr>
            <a:r>
              <a:rPr sz="5600" b="1">
                <a:solidFill>
                  <a:srgbClr val="11406E"/>
                </a:solidFill>
                <a:latin typeface="Helvetica Neue"/>
              </a:rPr>
              <a:t>Tu voz,</a:t>
            </a:r>
          </a:p>
          <a:p>
            <a:pPr algn="l">
              <a:lnSpc>
                <a:spcPct val="95000"/>
              </a:lnSpc>
              <a:spcAft>
                <a:spcPts val="0"/>
              </a:spcAft>
            </a:pPr>
            <a:r>
              <a:rPr sz="5600" b="1">
                <a:solidFill>
                  <a:srgbClr val="ED7623"/>
                </a:solidFill>
                <a:latin typeface="Helvetica Neue"/>
              </a:rPr>
              <a:t>tu cara</a:t>
            </a:r>
          </a:p>
          <a:p>
            <a:pPr algn="l">
              <a:lnSpc>
                <a:spcPct val="95000"/>
              </a:lnSpc>
              <a:spcAft>
                <a:spcPts val="0"/>
              </a:spcAft>
            </a:pPr>
            <a:r>
              <a:rPr sz="5600" b="1">
                <a:solidFill>
                  <a:srgbClr val="11406E"/>
                </a:solidFill>
                <a:latin typeface="Helvetica Neue"/>
              </a:rPr>
              <a:t>y tu historia</a:t>
            </a:r>
          </a:p>
        </p:txBody>
      </p:sp>
      <p:sp>
        <p:nvSpPr>
          <p:cNvPr id="7" name="TextBox 6"/>
          <p:cNvSpPr txBox="1"/>
          <p:nvPr/>
        </p:nvSpPr>
        <p:spPr>
          <a:xfrm>
            <a:off x="822960" y="5303520"/>
            <a:ext cx="8229600" cy="822960"/>
          </a:xfrm>
          <a:prstGeom prst="rect">
            <a:avLst/>
          </a:prstGeom>
          <a:noFill/>
        </p:spPr>
        <p:txBody>
          <a:bodyPr wrap="square" lIns="0" rIns="0" tIns="0" bIns="0">
            <a:spAutoFit/>
          </a:bodyPr>
          <a:lstStyle/>
          <a:p>
            <a:pPr algn="l">
              <a:lnSpc>
                <a:spcPct val="120000"/>
              </a:lnSpc>
              <a:spcAft>
                <a:spcPts val="600"/>
              </a:spcAft>
            </a:pPr>
            <a:r>
              <a:rPr sz="1900" b="0">
                <a:solidFill>
                  <a:srgbClr val="6E6E6E"/>
                </a:solidFill>
                <a:latin typeface="Helvetica Neue"/>
              </a:rPr>
              <a:t>Cuatro clips de ocho segundos y medio minuto de video con un personaje tuyo</a:t>
            </a:r>
          </a:p>
        </p:txBody>
      </p:sp>
      <p:sp>
        <p:nvSpPr>
          <p:cNvPr id="8" name="TextBox 7"/>
          <p:cNvSpPr txBox="1"/>
          <p:nvPr/>
        </p:nvSpPr>
        <p:spPr>
          <a:xfrm>
            <a:off x="9326880" y="2651760"/>
            <a:ext cx="2194560" cy="2377440"/>
          </a:xfrm>
          <a:prstGeom prst="rect">
            <a:avLst/>
          </a:prstGeom>
          <a:noFill/>
        </p:spPr>
        <p:txBody>
          <a:bodyPr wrap="square" lIns="0" rIns="0" tIns="0" bIns="0">
            <a:spAutoFit/>
          </a:bodyPr>
          <a:lstStyle/>
          <a:p>
            <a:pPr algn="l">
              <a:spcAft>
                <a:spcPts val="400"/>
              </a:spcAft>
            </a:pPr>
            <a:r>
              <a:rPr sz="5400" b="0">
                <a:solidFill>
                  <a:srgbClr val="11406E"/>
                </a:solidFill>
                <a:latin typeface="Helvetica Neue"/>
              </a:rPr>
              <a:t>🎬</a:t>
            </a:r>
          </a:p>
          <a:p>
            <a:pPr algn="l">
              <a:spcAft>
                <a:spcPts val="400"/>
              </a:spcAft>
            </a:pPr>
            <a:r>
              <a:rPr sz="5400" b="0">
                <a:solidFill>
                  <a:srgbClr val="11406E"/>
                </a:solidFill>
                <a:latin typeface="Helvetica Neue"/>
              </a:rPr>
              <a:t>🧑</a:t>
            </a:r>
          </a:p>
          <a:p>
            <a:pPr algn="l">
              <a:spcAft>
                <a:spcPts val="400"/>
              </a:spcAft>
            </a:pPr>
            <a:r>
              <a:rPr sz="5400" b="0">
                <a:solidFill>
                  <a:srgbClr val="11406E"/>
                </a:solidFill>
                <a:latin typeface="Helvetica Neue"/>
              </a:rPr>
              <a:t>🔗</a:t>
            </a:r>
          </a:p>
        </p:txBody>
      </p:sp>
      <p:sp>
        <p:nvSpPr>
          <p:cNvPr id="9" name="TextBox 8"/>
          <p:cNvSpPr txBox="1"/>
          <p:nvPr/>
        </p:nvSpPr>
        <p:spPr>
          <a:xfrm>
            <a:off x="822960" y="6172200"/>
            <a:ext cx="10515600" cy="457200"/>
          </a:xfrm>
          <a:prstGeom prst="rect">
            <a:avLst/>
          </a:prstGeom>
          <a:noFill/>
        </p:spPr>
        <p:txBody>
          <a:bodyPr wrap="square" lIns="0" rIns="0" tIns="0" bIns="0">
            <a:spAutoFit/>
          </a:bodyPr>
          <a:lstStyle/>
          <a:p>
            <a:pPr algn="l">
              <a:spcAft>
                <a:spcPts val="600"/>
              </a:spcAft>
            </a:pPr>
            <a:r>
              <a:rPr sz="1300" b="0">
                <a:solidFill>
                  <a:srgbClr val="6E6E6E"/>
                </a:solidFill>
                <a:latin typeface="Helvetica Neue"/>
              </a:rPr>
              <a:t>Universidad de Caldas · 2026-2 · Todo con herramientas gratuitas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ED7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502920"/>
            <a:ext cx="10515600" cy="365760"/>
          </a:xfrm>
          <a:prstGeom prst="rect">
            <a:avLst/>
          </a:prstGeom>
          <a:noFill/>
        </p:spPr>
        <p:txBody>
          <a:bodyPr wrap="square" lIns="0" rIns="0" tIns="0" bIns="0">
            <a:spAutoFit/>
          </a:bodyPr>
          <a:lstStyle/>
          <a:p>
            <a:pPr algn="l">
              <a:spcAft>
                <a:spcPts val="600"/>
              </a:spcAft>
            </a:pPr>
            <a:r>
              <a:rPr sz="1200" b="1">
                <a:solidFill>
                  <a:srgbClr val="ED7623"/>
                </a:solidFill>
                <a:latin typeface="Helvetica Neue"/>
              </a:rPr>
              <a:t>LO QUE VAS A TENER AL FINAL</a:t>
            </a:r>
          </a:p>
        </p:txBody>
      </p:sp>
      <p:sp>
        <p:nvSpPr>
          <p:cNvPr id="4" name="TextBox 3"/>
          <p:cNvSpPr txBox="1"/>
          <p:nvPr/>
        </p:nvSpPr>
        <p:spPr>
          <a:xfrm>
            <a:off x="822960" y="960120"/>
            <a:ext cx="10607040" cy="1188720"/>
          </a:xfrm>
          <a:prstGeom prst="rect">
            <a:avLst/>
          </a:prstGeom>
          <a:noFill/>
        </p:spPr>
        <p:txBody>
          <a:bodyPr wrap="square" lIns="0" rIns="0" tIns="0" bIns="0">
            <a:spAutoFit/>
          </a:bodyPr>
          <a:lstStyle/>
          <a:p>
            <a:pPr algn="l">
              <a:lnSpc>
                <a:spcPct val="105000"/>
              </a:lnSpc>
              <a:spcAft>
                <a:spcPts val="600"/>
              </a:spcAft>
            </a:pPr>
            <a:r>
              <a:rPr sz="4000" b="1">
                <a:solidFill>
                  <a:srgbClr val="11406E"/>
                </a:solidFill>
                <a:latin typeface="Helvetica Neue"/>
              </a:rPr>
              <a:t>Medio minuto, en cuatro pedazos</a:t>
            </a:r>
          </a:p>
        </p:txBody>
      </p:sp>
      <p:sp>
        <p:nvSpPr>
          <p:cNvPr id="5" name="TextBox 4"/>
          <p:cNvSpPr txBox="1"/>
          <p:nvPr/>
        </p:nvSpPr>
        <p:spPr>
          <a:xfrm>
            <a:off x="822960" y="2194560"/>
            <a:ext cx="10515600" cy="822960"/>
          </a:xfrm>
          <a:prstGeom prst="rect">
            <a:avLst/>
          </a:prstGeom>
          <a:noFill/>
        </p:spPr>
        <p:txBody>
          <a:bodyPr wrap="square" lIns="0" rIns="0" tIns="0" bIns="0">
            <a:spAutoFit/>
          </a:bodyPr>
          <a:lstStyle/>
          <a:p>
            <a:pPr algn="l">
              <a:lnSpc>
                <a:spcPct val="130000"/>
              </a:lnSpc>
              <a:spcAft>
                <a:spcPts val="400"/>
              </a:spcAft>
            </a:pPr>
            <a:r>
              <a:rPr sz="2200" b="0">
                <a:solidFill>
                  <a:srgbClr val="6E6E6E"/>
                </a:solidFill>
                <a:latin typeface="Helvetica Neue"/>
              </a:rPr>
              <a:t>Nadie hace un video de corrido de una sola vez.</a:t>
            </a:r>
          </a:p>
          <a:p>
            <a:pPr algn="l">
              <a:lnSpc>
                <a:spcPct val="130000"/>
              </a:lnSpc>
              <a:spcAft>
                <a:spcPts val="400"/>
              </a:spcAft>
            </a:pPr>
            <a:r>
              <a:rPr sz="2200" b="0">
                <a:solidFill>
                  <a:srgbClr val="6E6E6E"/>
                </a:solidFill>
                <a:latin typeface="Helvetica Neue"/>
              </a:rPr>
              <a:t>Se hacen cuatro de ocho segundos y se pegan. Así sí se puede.</a:t>
            </a:r>
          </a:p>
        </p:txBody>
      </p:sp>
      <p:sp>
        <p:nvSpPr>
          <p:cNvPr id="6" name="Rounded Rectangle 5"/>
          <p:cNvSpPr/>
          <p:nvPr/>
        </p:nvSpPr>
        <p:spPr>
          <a:xfrm>
            <a:off x="822960" y="3657600"/>
            <a:ext cx="2377440" cy="1828800"/>
          </a:xfrm>
          <a:prstGeom prst="roundRect">
            <a:avLst>
              <a:gd name="adj" fmla="val 5000"/>
            </a:avLst>
          </a:prstGeom>
          <a:solidFill>
            <a:srgbClr val="F5F3EF"/>
          </a:solidFill>
          <a:ln w="11430">
            <a:solidFill>
              <a:srgbClr val="E3E0D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143000" y="3977639"/>
            <a:ext cx="1920240" cy="822960"/>
          </a:xfrm>
          <a:prstGeom prst="rect">
            <a:avLst/>
          </a:prstGeom>
          <a:noFill/>
        </p:spPr>
        <p:txBody>
          <a:bodyPr wrap="square" lIns="0" rIns="0" tIns="0" bIns="0">
            <a:spAutoFit/>
          </a:bodyPr>
          <a:lstStyle/>
          <a:p>
            <a:pPr algn="l">
              <a:lnSpc>
                <a:spcPct val="110000"/>
              </a:lnSpc>
              <a:spcAft>
                <a:spcPts val="600"/>
              </a:spcAft>
            </a:pPr>
            <a:r>
              <a:rPr sz="2000" b="1">
                <a:solidFill>
                  <a:srgbClr val="11406E"/>
                </a:solidFill>
                <a:latin typeface="Helvetica Neue"/>
              </a:rPr>
              <a:t>📝 Guion</a:t>
            </a:r>
          </a:p>
        </p:txBody>
      </p:sp>
      <p:sp>
        <p:nvSpPr>
          <p:cNvPr id="8" name="TextBox 7"/>
          <p:cNvSpPr txBox="1"/>
          <p:nvPr/>
        </p:nvSpPr>
        <p:spPr>
          <a:xfrm>
            <a:off x="1143000" y="4846320"/>
            <a:ext cx="1920240" cy="548640"/>
          </a:xfrm>
          <a:prstGeom prst="rect">
            <a:avLst/>
          </a:prstGeom>
          <a:noFill/>
        </p:spPr>
        <p:txBody>
          <a:bodyPr wrap="square" lIns="0" rIns="0" tIns="0" bIns="0">
            <a:spAutoFit/>
          </a:bodyPr>
          <a:lstStyle/>
          <a:p>
            <a:pPr algn="l">
              <a:lnSpc>
                <a:spcPct val="120000"/>
              </a:lnSpc>
              <a:spcAft>
                <a:spcPts val="600"/>
              </a:spcAft>
            </a:pPr>
            <a:r>
              <a:rPr sz="1400" b="0">
                <a:solidFill>
                  <a:srgbClr val="6E6E6E"/>
                </a:solidFill>
                <a:latin typeface="Helvetica Neue"/>
              </a:rPr>
              <a:t>partido en 4 frases</a:t>
            </a:r>
          </a:p>
        </p:txBody>
      </p:sp>
      <p:sp>
        <p:nvSpPr>
          <p:cNvPr id="9" name="Rounded Rectangle 8"/>
          <p:cNvSpPr/>
          <p:nvPr/>
        </p:nvSpPr>
        <p:spPr>
          <a:xfrm>
            <a:off x="3520440" y="3657600"/>
            <a:ext cx="2377440" cy="1828800"/>
          </a:xfrm>
          <a:prstGeom prst="roundRect">
            <a:avLst>
              <a:gd name="adj" fmla="val 5000"/>
            </a:avLst>
          </a:prstGeom>
          <a:solidFill>
            <a:srgbClr val="F5F3EF"/>
          </a:solidFill>
          <a:ln w="11430">
            <a:solidFill>
              <a:srgbClr val="E3E0D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840480" y="3977639"/>
            <a:ext cx="1920240" cy="822960"/>
          </a:xfrm>
          <a:prstGeom prst="rect">
            <a:avLst/>
          </a:prstGeom>
          <a:noFill/>
        </p:spPr>
        <p:txBody>
          <a:bodyPr wrap="square" lIns="0" rIns="0" tIns="0" bIns="0">
            <a:spAutoFit/>
          </a:bodyPr>
          <a:lstStyle/>
          <a:p>
            <a:pPr algn="l">
              <a:lnSpc>
                <a:spcPct val="110000"/>
              </a:lnSpc>
              <a:spcAft>
                <a:spcPts val="600"/>
              </a:spcAft>
            </a:pPr>
            <a:r>
              <a:rPr sz="2000" b="1">
                <a:solidFill>
                  <a:srgbClr val="11406E"/>
                </a:solidFill>
                <a:latin typeface="Helvetica Neue"/>
              </a:rPr>
              <a:t>🧑 Personaje</a:t>
            </a:r>
          </a:p>
        </p:txBody>
      </p:sp>
      <p:sp>
        <p:nvSpPr>
          <p:cNvPr id="11" name="TextBox 10"/>
          <p:cNvSpPr txBox="1"/>
          <p:nvPr/>
        </p:nvSpPr>
        <p:spPr>
          <a:xfrm>
            <a:off x="3840480" y="4846320"/>
            <a:ext cx="1920240" cy="548640"/>
          </a:xfrm>
          <a:prstGeom prst="rect">
            <a:avLst/>
          </a:prstGeom>
          <a:noFill/>
        </p:spPr>
        <p:txBody>
          <a:bodyPr wrap="square" lIns="0" rIns="0" tIns="0" bIns="0">
            <a:spAutoFit/>
          </a:bodyPr>
          <a:lstStyle/>
          <a:p>
            <a:pPr algn="l">
              <a:lnSpc>
                <a:spcPct val="120000"/>
              </a:lnSpc>
              <a:spcAft>
                <a:spcPts val="600"/>
              </a:spcAft>
            </a:pPr>
            <a:r>
              <a:rPr sz="1400" b="0">
                <a:solidFill>
                  <a:srgbClr val="6E6E6E"/>
                </a:solidFill>
                <a:latin typeface="Helvetica Neue"/>
              </a:rPr>
              <a:t>gratis, y con voz</a:t>
            </a:r>
          </a:p>
        </p:txBody>
      </p:sp>
      <p:sp>
        <p:nvSpPr>
          <p:cNvPr id="12" name="Rounded Rectangle 11"/>
          <p:cNvSpPr/>
          <p:nvPr/>
        </p:nvSpPr>
        <p:spPr>
          <a:xfrm>
            <a:off x="6217920" y="3657600"/>
            <a:ext cx="2377440" cy="1828800"/>
          </a:xfrm>
          <a:prstGeom prst="roundRect">
            <a:avLst>
              <a:gd name="adj" fmla="val 5000"/>
            </a:avLst>
          </a:prstGeom>
          <a:solidFill>
            <a:srgbClr val="F5F3EF"/>
          </a:solidFill>
          <a:ln w="11430">
            <a:solidFill>
              <a:srgbClr val="E3E0D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537960" y="3977639"/>
            <a:ext cx="1920240" cy="822960"/>
          </a:xfrm>
          <a:prstGeom prst="rect">
            <a:avLst/>
          </a:prstGeom>
          <a:noFill/>
        </p:spPr>
        <p:txBody>
          <a:bodyPr wrap="square" lIns="0" rIns="0" tIns="0" bIns="0">
            <a:spAutoFit/>
          </a:bodyPr>
          <a:lstStyle/>
          <a:p>
            <a:pPr algn="l">
              <a:lnSpc>
                <a:spcPct val="110000"/>
              </a:lnSpc>
              <a:spcAft>
                <a:spcPts val="600"/>
              </a:spcAft>
            </a:pPr>
            <a:r>
              <a:rPr sz="2000" b="1">
                <a:solidFill>
                  <a:srgbClr val="11406E"/>
                </a:solidFill>
                <a:latin typeface="Helvetica Neue"/>
              </a:rPr>
              <a:t>🎬 4 clips</a:t>
            </a:r>
          </a:p>
        </p:txBody>
      </p:sp>
      <p:sp>
        <p:nvSpPr>
          <p:cNvPr id="14" name="TextBox 13"/>
          <p:cNvSpPr txBox="1"/>
          <p:nvPr/>
        </p:nvSpPr>
        <p:spPr>
          <a:xfrm>
            <a:off x="6537960" y="4846320"/>
            <a:ext cx="1920240" cy="548640"/>
          </a:xfrm>
          <a:prstGeom prst="rect">
            <a:avLst/>
          </a:prstGeom>
          <a:noFill/>
        </p:spPr>
        <p:txBody>
          <a:bodyPr wrap="square" lIns="0" rIns="0" tIns="0" bIns="0">
            <a:spAutoFit/>
          </a:bodyPr>
          <a:lstStyle/>
          <a:p>
            <a:pPr algn="l">
              <a:lnSpc>
                <a:spcPct val="120000"/>
              </a:lnSpc>
              <a:spcAft>
                <a:spcPts val="600"/>
              </a:spcAft>
            </a:pPr>
            <a:r>
              <a:rPr sz="1400" b="0">
                <a:solidFill>
                  <a:srgbClr val="6E6E6E"/>
                </a:solidFill>
                <a:latin typeface="Helvetica Neue"/>
              </a:rPr>
              <a:t>8 segundos cada uno</a:t>
            </a:r>
          </a:p>
        </p:txBody>
      </p:sp>
      <p:sp>
        <p:nvSpPr>
          <p:cNvPr id="15" name="Rounded Rectangle 14"/>
          <p:cNvSpPr/>
          <p:nvPr/>
        </p:nvSpPr>
        <p:spPr>
          <a:xfrm>
            <a:off x="8915400" y="3657600"/>
            <a:ext cx="2377440" cy="1828800"/>
          </a:xfrm>
          <a:prstGeom prst="roundRect">
            <a:avLst>
              <a:gd name="adj" fmla="val 5000"/>
            </a:avLst>
          </a:prstGeom>
          <a:solidFill>
            <a:srgbClr val="F5F3EF"/>
          </a:solidFill>
          <a:ln w="11430">
            <a:solidFill>
              <a:srgbClr val="E3E0D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235440" y="3977639"/>
            <a:ext cx="1920240" cy="822960"/>
          </a:xfrm>
          <a:prstGeom prst="rect">
            <a:avLst/>
          </a:prstGeom>
          <a:noFill/>
        </p:spPr>
        <p:txBody>
          <a:bodyPr wrap="square" lIns="0" rIns="0" tIns="0" bIns="0">
            <a:spAutoFit/>
          </a:bodyPr>
          <a:lstStyle/>
          <a:p>
            <a:pPr algn="l">
              <a:lnSpc>
                <a:spcPct val="110000"/>
              </a:lnSpc>
              <a:spcAft>
                <a:spcPts val="600"/>
              </a:spcAft>
            </a:pPr>
            <a:r>
              <a:rPr sz="2000" b="1">
                <a:solidFill>
                  <a:srgbClr val="11406E"/>
                </a:solidFill>
                <a:latin typeface="Helvetica Neue"/>
              </a:rPr>
              <a:t>🔗 Unirlos</a:t>
            </a:r>
          </a:p>
        </p:txBody>
      </p:sp>
      <p:sp>
        <p:nvSpPr>
          <p:cNvPr id="17" name="TextBox 16"/>
          <p:cNvSpPr txBox="1"/>
          <p:nvPr/>
        </p:nvSpPr>
        <p:spPr>
          <a:xfrm>
            <a:off x="9235440" y="4846320"/>
            <a:ext cx="1920240" cy="548640"/>
          </a:xfrm>
          <a:prstGeom prst="rect">
            <a:avLst/>
          </a:prstGeom>
          <a:noFill/>
        </p:spPr>
        <p:txBody>
          <a:bodyPr wrap="square" lIns="0" rIns="0" tIns="0" bIns="0">
            <a:spAutoFit/>
          </a:bodyPr>
          <a:lstStyle/>
          <a:p>
            <a:pPr algn="l">
              <a:lnSpc>
                <a:spcPct val="120000"/>
              </a:lnSpc>
              <a:spcAft>
                <a:spcPts val="600"/>
              </a:spcAft>
            </a:pPr>
            <a:r>
              <a:rPr sz="1400" b="0">
                <a:solidFill>
                  <a:srgbClr val="6E6E6E"/>
                </a:solidFill>
                <a:latin typeface="Helvetica Neue"/>
              </a:rPr>
              <a:t>en el mismo Flow</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ED7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502920"/>
            <a:ext cx="10515600" cy="365760"/>
          </a:xfrm>
          <a:prstGeom prst="rect">
            <a:avLst/>
          </a:prstGeom>
          <a:noFill/>
        </p:spPr>
        <p:txBody>
          <a:bodyPr wrap="square" lIns="0" rIns="0" tIns="0" bIns="0">
            <a:spAutoFit/>
          </a:bodyPr>
          <a:lstStyle/>
          <a:p>
            <a:pPr algn="l">
              <a:spcAft>
                <a:spcPts val="600"/>
              </a:spcAft>
            </a:pPr>
            <a:r>
              <a:rPr sz="1200" b="1">
                <a:solidFill>
                  <a:srgbClr val="ED7623"/>
                </a:solidFill>
                <a:latin typeface="Helvetica Neue"/>
              </a:rPr>
              <a:t>EL CAMINO</a:t>
            </a:r>
          </a:p>
        </p:txBody>
      </p:sp>
      <p:sp>
        <p:nvSpPr>
          <p:cNvPr id="4" name="TextBox 3"/>
          <p:cNvSpPr txBox="1"/>
          <p:nvPr/>
        </p:nvSpPr>
        <p:spPr>
          <a:xfrm>
            <a:off x="822960" y="960120"/>
            <a:ext cx="10607040" cy="1188720"/>
          </a:xfrm>
          <a:prstGeom prst="rect">
            <a:avLst/>
          </a:prstGeom>
          <a:noFill/>
        </p:spPr>
        <p:txBody>
          <a:bodyPr wrap="square" lIns="0" rIns="0" tIns="0" bIns="0">
            <a:spAutoFit/>
          </a:bodyPr>
          <a:lstStyle/>
          <a:p>
            <a:pPr algn="l">
              <a:lnSpc>
                <a:spcPct val="105000"/>
              </a:lnSpc>
              <a:spcAft>
                <a:spcPts val="600"/>
              </a:spcAft>
            </a:pPr>
            <a:r>
              <a:rPr sz="4000" b="1">
                <a:solidFill>
                  <a:srgbClr val="11406E"/>
                </a:solidFill>
                <a:latin typeface="Helvetica Neue"/>
              </a:rPr>
              <a:t>Cuatro pasos, y dos de remate</a:t>
            </a:r>
          </a:p>
        </p:txBody>
      </p:sp>
      <p:sp>
        <p:nvSpPr>
          <p:cNvPr id="5" name="Rounded Rectangle 4"/>
          <p:cNvSpPr/>
          <p:nvPr/>
        </p:nvSpPr>
        <p:spPr>
          <a:xfrm>
            <a:off x="822960" y="2240280"/>
            <a:ext cx="3291840" cy="1691640"/>
          </a:xfrm>
          <a:prstGeom prst="roundRect">
            <a:avLst>
              <a:gd name="adj" fmla="val 5000"/>
            </a:avLst>
          </a:prstGeom>
          <a:solidFill>
            <a:srgbClr val="F5F3EF"/>
          </a:solidFill>
          <a:ln w="11430">
            <a:solidFill>
              <a:srgbClr val="E3E0D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97280" y="2404872"/>
            <a:ext cx="731520" cy="640080"/>
          </a:xfrm>
          <a:prstGeom prst="rect">
            <a:avLst/>
          </a:prstGeom>
          <a:noFill/>
        </p:spPr>
        <p:txBody>
          <a:bodyPr wrap="square" lIns="0" rIns="0" tIns="0" bIns="0">
            <a:spAutoFit/>
          </a:bodyPr>
          <a:lstStyle/>
          <a:p>
            <a:pPr algn="l">
              <a:spcAft>
                <a:spcPts val="600"/>
              </a:spcAft>
            </a:pPr>
            <a:r>
              <a:rPr sz="3400" b="1">
                <a:solidFill>
                  <a:srgbClr val="ED7623"/>
                </a:solidFill>
                <a:latin typeface="Helvetica Neue"/>
              </a:rPr>
              <a:t>1</a:t>
            </a:r>
          </a:p>
        </p:txBody>
      </p:sp>
      <p:sp>
        <p:nvSpPr>
          <p:cNvPr id="7" name="TextBox 6"/>
          <p:cNvSpPr txBox="1"/>
          <p:nvPr/>
        </p:nvSpPr>
        <p:spPr>
          <a:xfrm>
            <a:off x="1737360" y="2487168"/>
            <a:ext cx="2286000" cy="457200"/>
          </a:xfrm>
          <a:prstGeom prst="rect">
            <a:avLst/>
          </a:prstGeom>
          <a:noFill/>
        </p:spPr>
        <p:txBody>
          <a:bodyPr wrap="square" lIns="0" rIns="0" tIns="0" bIns="0">
            <a:spAutoFit/>
          </a:bodyPr>
          <a:lstStyle/>
          <a:p>
            <a:pPr algn="l">
              <a:spcAft>
                <a:spcPts val="600"/>
              </a:spcAft>
            </a:pPr>
            <a:r>
              <a:rPr sz="2100" b="1">
                <a:solidFill>
                  <a:srgbClr val="11406E"/>
                </a:solidFill>
                <a:latin typeface="Helvetica Neue"/>
              </a:rPr>
              <a:t>El guion</a:t>
            </a:r>
          </a:p>
        </p:txBody>
      </p:sp>
      <p:sp>
        <p:nvSpPr>
          <p:cNvPr id="8" name="TextBox 7"/>
          <p:cNvSpPr txBox="1"/>
          <p:nvPr/>
        </p:nvSpPr>
        <p:spPr>
          <a:xfrm>
            <a:off x="1097280" y="3200400"/>
            <a:ext cx="2743200" cy="640080"/>
          </a:xfrm>
          <a:prstGeom prst="rect">
            <a:avLst/>
          </a:prstGeom>
          <a:noFill/>
        </p:spPr>
        <p:txBody>
          <a:bodyPr wrap="square" lIns="0" rIns="0" tIns="0" bIns="0">
            <a:spAutoFit/>
          </a:bodyPr>
          <a:lstStyle/>
          <a:p>
            <a:pPr algn="l">
              <a:lnSpc>
                <a:spcPct val="120000"/>
              </a:lnSpc>
              <a:spcAft>
                <a:spcPts val="600"/>
              </a:spcAft>
            </a:pPr>
            <a:r>
              <a:rPr sz="1350" b="0">
                <a:solidFill>
                  <a:srgbClr val="6E6E6E"/>
                </a:solidFill>
                <a:latin typeface="Helvetica Neue"/>
              </a:rPr>
              <a:t>Partido en cuatro frases de 20 palabras</a:t>
            </a:r>
          </a:p>
        </p:txBody>
      </p:sp>
      <p:sp>
        <p:nvSpPr>
          <p:cNvPr id="9" name="Rounded Rectangle 8"/>
          <p:cNvSpPr/>
          <p:nvPr/>
        </p:nvSpPr>
        <p:spPr>
          <a:xfrm>
            <a:off x="4434840" y="2240280"/>
            <a:ext cx="3291840" cy="1691640"/>
          </a:xfrm>
          <a:prstGeom prst="roundRect">
            <a:avLst>
              <a:gd name="adj" fmla="val 5000"/>
            </a:avLst>
          </a:prstGeom>
          <a:solidFill>
            <a:srgbClr val="F5F3EF"/>
          </a:solidFill>
          <a:ln w="11430">
            <a:solidFill>
              <a:srgbClr val="E3E0D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709160" y="2404872"/>
            <a:ext cx="731520" cy="640080"/>
          </a:xfrm>
          <a:prstGeom prst="rect">
            <a:avLst/>
          </a:prstGeom>
          <a:noFill/>
        </p:spPr>
        <p:txBody>
          <a:bodyPr wrap="square" lIns="0" rIns="0" tIns="0" bIns="0">
            <a:spAutoFit/>
          </a:bodyPr>
          <a:lstStyle/>
          <a:p>
            <a:pPr algn="l">
              <a:spcAft>
                <a:spcPts val="600"/>
              </a:spcAft>
            </a:pPr>
            <a:r>
              <a:rPr sz="3400" b="1">
                <a:solidFill>
                  <a:srgbClr val="ED7623"/>
                </a:solidFill>
                <a:latin typeface="Helvetica Neue"/>
              </a:rPr>
              <a:t>2</a:t>
            </a:r>
          </a:p>
        </p:txBody>
      </p:sp>
      <p:sp>
        <p:nvSpPr>
          <p:cNvPr id="11" name="TextBox 10"/>
          <p:cNvSpPr txBox="1"/>
          <p:nvPr/>
        </p:nvSpPr>
        <p:spPr>
          <a:xfrm>
            <a:off x="5349240" y="2487168"/>
            <a:ext cx="2286000" cy="457200"/>
          </a:xfrm>
          <a:prstGeom prst="rect">
            <a:avLst/>
          </a:prstGeom>
          <a:noFill/>
        </p:spPr>
        <p:txBody>
          <a:bodyPr wrap="square" lIns="0" rIns="0" tIns="0" bIns="0">
            <a:spAutoFit/>
          </a:bodyPr>
          <a:lstStyle/>
          <a:p>
            <a:pPr algn="l">
              <a:spcAft>
                <a:spcPts val="600"/>
              </a:spcAft>
            </a:pPr>
            <a:r>
              <a:rPr sz="2100" b="1">
                <a:solidFill>
                  <a:srgbClr val="11406E"/>
                </a:solidFill>
                <a:latin typeface="Helvetica Neue"/>
              </a:rPr>
              <a:t>Tu personaje</a:t>
            </a:r>
          </a:p>
        </p:txBody>
      </p:sp>
      <p:sp>
        <p:nvSpPr>
          <p:cNvPr id="12" name="TextBox 11"/>
          <p:cNvSpPr txBox="1"/>
          <p:nvPr/>
        </p:nvSpPr>
        <p:spPr>
          <a:xfrm>
            <a:off x="4709160" y="3200400"/>
            <a:ext cx="2743200" cy="640080"/>
          </a:xfrm>
          <a:prstGeom prst="rect">
            <a:avLst/>
          </a:prstGeom>
          <a:noFill/>
        </p:spPr>
        <p:txBody>
          <a:bodyPr wrap="square" lIns="0" rIns="0" tIns="0" bIns="0">
            <a:spAutoFit/>
          </a:bodyPr>
          <a:lstStyle/>
          <a:p>
            <a:pPr algn="l">
              <a:lnSpc>
                <a:spcPct val="120000"/>
              </a:lnSpc>
              <a:spcAft>
                <a:spcPts val="600"/>
              </a:spcAft>
            </a:pPr>
            <a:r>
              <a:rPr sz="1350" b="0">
                <a:solidFill>
                  <a:srgbClr val="6E6E6E"/>
                </a:solidFill>
                <a:latin typeface="Helvetica Neue"/>
              </a:rPr>
              <a:t>Se crea en Flow, gratis, y lleva voz</a:t>
            </a:r>
          </a:p>
        </p:txBody>
      </p:sp>
      <p:sp>
        <p:nvSpPr>
          <p:cNvPr id="13" name="Rounded Rectangle 12"/>
          <p:cNvSpPr/>
          <p:nvPr/>
        </p:nvSpPr>
        <p:spPr>
          <a:xfrm>
            <a:off x="8046720" y="2240280"/>
            <a:ext cx="3291840" cy="1691640"/>
          </a:xfrm>
          <a:prstGeom prst="roundRect">
            <a:avLst>
              <a:gd name="adj" fmla="val 5000"/>
            </a:avLst>
          </a:prstGeom>
          <a:solidFill>
            <a:srgbClr val="F5F3EF"/>
          </a:solidFill>
          <a:ln w="11430">
            <a:solidFill>
              <a:srgbClr val="E3E0D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321040" y="2404872"/>
            <a:ext cx="731520" cy="640080"/>
          </a:xfrm>
          <a:prstGeom prst="rect">
            <a:avLst/>
          </a:prstGeom>
          <a:noFill/>
        </p:spPr>
        <p:txBody>
          <a:bodyPr wrap="square" lIns="0" rIns="0" tIns="0" bIns="0">
            <a:spAutoFit/>
          </a:bodyPr>
          <a:lstStyle/>
          <a:p>
            <a:pPr algn="l">
              <a:spcAft>
                <a:spcPts val="600"/>
              </a:spcAft>
            </a:pPr>
            <a:r>
              <a:rPr sz="3400" b="1">
                <a:solidFill>
                  <a:srgbClr val="ED7623"/>
                </a:solidFill>
                <a:latin typeface="Helvetica Neue"/>
              </a:rPr>
              <a:t>3</a:t>
            </a:r>
          </a:p>
        </p:txBody>
      </p:sp>
      <p:sp>
        <p:nvSpPr>
          <p:cNvPr id="15" name="TextBox 14"/>
          <p:cNvSpPr txBox="1"/>
          <p:nvPr/>
        </p:nvSpPr>
        <p:spPr>
          <a:xfrm>
            <a:off x="8961120" y="2487168"/>
            <a:ext cx="2286000" cy="457200"/>
          </a:xfrm>
          <a:prstGeom prst="rect">
            <a:avLst/>
          </a:prstGeom>
          <a:noFill/>
        </p:spPr>
        <p:txBody>
          <a:bodyPr wrap="square" lIns="0" rIns="0" tIns="0" bIns="0">
            <a:spAutoFit/>
          </a:bodyPr>
          <a:lstStyle/>
          <a:p>
            <a:pPr algn="l">
              <a:spcAft>
                <a:spcPts val="600"/>
              </a:spcAft>
            </a:pPr>
            <a:r>
              <a:rPr sz="2100" b="1">
                <a:solidFill>
                  <a:srgbClr val="11406E"/>
                </a:solidFill>
                <a:latin typeface="Helvetica Neue"/>
              </a:rPr>
              <a:t>Los clips</a:t>
            </a:r>
          </a:p>
        </p:txBody>
      </p:sp>
      <p:sp>
        <p:nvSpPr>
          <p:cNvPr id="16" name="TextBox 15"/>
          <p:cNvSpPr txBox="1"/>
          <p:nvPr/>
        </p:nvSpPr>
        <p:spPr>
          <a:xfrm>
            <a:off x="8321040" y="3200400"/>
            <a:ext cx="2743200" cy="640080"/>
          </a:xfrm>
          <a:prstGeom prst="rect">
            <a:avLst/>
          </a:prstGeom>
          <a:noFill/>
        </p:spPr>
        <p:txBody>
          <a:bodyPr wrap="square" lIns="0" rIns="0" tIns="0" bIns="0">
            <a:spAutoFit/>
          </a:bodyPr>
          <a:lstStyle/>
          <a:p>
            <a:pPr algn="l">
              <a:lnSpc>
                <a:spcPct val="120000"/>
              </a:lnSpc>
              <a:spcAft>
                <a:spcPts val="600"/>
              </a:spcAft>
            </a:pPr>
            <a:r>
              <a:rPr sz="1350" b="0">
                <a:solidFill>
                  <a:srgbClr val="6E6E6E"/>
                </a:solidFill>
                <a:latin typeface="Helvetica Neue"/>
              </a:rPr>
              <a:t>Uno por frase, adjuntando el personaje</a:t>
            </a:r>
          </a:p>
        </p:txBody>
      </p:sp>
      <p:sp>
        <p:nvSpPr>
          <p:cNvPr id="17" name="Rounded Rectangle 16"/>
          <p:cNvSpPr/>
          <p:nvPr/>
        </p:nvSpPr>
        <p:spPr>
          <a:xfrm>
            <a:off x="822960" y="4206240"/>
            <a:ext cx="3291840" cy="1691640"/>
          </a:xfrm>
          <a:prstGeom prst="roundRect">
            <a:avLst>
              <a:gd name="adj" fmla="val 5000"/>
            </a:avLst>
          </a:prstGeom>
          <a:solidFill>
            <a:srgbClr val="F5F3EF"/>
          </a:solidFill>
          <a:ln w="11430">
            <a:solidFill>
              <a:srgbClr val="E3E0D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97280" y="4370831"/>
            <a:ext cx="731520" cy="640080"/>
          </a:xfrm>
          <a:prstGeom prst="rect">
            <a:avLst/>
          </a:prstGeom>
          <a:noFill/>
        </p:spPr>
        <p:txBody>
          <a:bodyPr wrap="square" lIns="0" rIns="0" tIns="0" bIns="0">
            <a:spAutoFit/>
          </a:bodyPr>
          <a:lstStyle/>
          <a:p>
            <a:pPr algn="l">
              <a:spcAft>
                <a:spcPts val="600"/>
              </a:spcAft>
            </a:pPr>
            <a:r>
              <a:rPr sz="3400" b="1">
                <a:solidFill>
                  <a:srgbClr val="ED7623"/>
                </a:solidFill>
                <a:latin typeface="Helvetica Neue"/>
              </a:rPr>
              <a:t>4</a:t>
            </a:r>
          </a:p>
        </p:txBody>
      </p:sp>
      <p:sp>
        <p:nvSpPr>
          <p:cNvPr id="19" name="TextBox 18"/>
          <p:cNvSpPr txBox="1"/>
          <p:nvPr/>
        </p:nvSpPr>
        <p:spPr>
          <a:xfrm>
            <a:off x="1737360" y="4453127"/>
            <a:ext cx="2286000" cy="457200"/>
          </a:xfrm>
          <a:prstGeom prst="rect">
            <a:avLst/>
          </a:prstGeom>
          <a:noFill/>
        </p:spPr>
        <p:txBody>
          <a:bodyPr wrap="square" lIns="0" rIns="0" tIns="0" bIns="0">
            <a:spAutoFit/>
          </a:bodyPr>
          <a:lstStyle/>
          <a:p>
            <a:pPr algn="l">
              <a:spcAft>
                <a:spcPts val="600"/>
              </a:spcAft>
            </a:pPr>
            <a:r>
              <a:rPr sz="2100" b="1">
                <a:solidFill>
                  <a:srgbClr val="11406E"/>
                </a:solidFill>
                <a:latin typeface="Helvetica Neue"/>
              </a:rPr>
              <a:t>Unirlos</a:t>
            </a:r>
          </a:p>
        </p:txBody>
      </p:sp>
      <p:sp>
        <p:nvSpPr>
          <p:cNvPr id="20" name="TextBox 19"/>
          <p:cNvSpPr txBox="1"/>
          <p:nvPr/>
        </p:nvSpPr>
        <p:spPr>
          <a:xfrm>
            <a:off x="1097280" y="5166359"/>
            <a:ext cx="2743200" cy="640080"/>
          </a:xfrm>
          <a:prstGeom prst="rect">
            <a:avLst/>
          </a:prstGeom>
          <a:noFill/>
        </p:spPr>
        <p:txBody>
          <a:bodyPr wrap="square" lIns="0" rIns="0" tIns="0" bIns="0">
            <a:spAutoFit/>
          </a:bodyPr>
          <a:lstStyle/>
          <a:p>
            <a:pPr algn="l">
              <a:lnSpc>
                <a:spcPct val="120000"/>
              </a:lnSpc>
              <a:spcAft>
                <a:spcPts val="600"/>
              </a:spcAft>
            </a:pPr>
            <a:r>
              <a:rPr sz="1350" b="0">
                <a:solidFill>
                  <a:srgbClr val="6E6E6E"/>
                </a:solidFill>
                <a:latin typeface="Helvetica Neue"/>
              </a:rPr>
              <a:t>En Flow mismo, o en ChatGPT</a:t>
            </a:r>
          </a:p>
        </p:txBody>
      </p:sp>
      <p:sp>
        <p:nvSpPr>
          <p:cNvPr id="21" name="Rounded Rectangle 20"/>
          <p:cNvSpPr/>
          <p:nvPr/>
        </p:nvSpPr>
        <p:spPr>
          <a:xfrm>
            <a:off x="4434840" y="4206240"/>
            <a:ext cx="3291840" cy="1691640"/>
          </a:xfrm>
          <a:prstGeom prst="roundRect">
            <a:avLst>
              <a:gd name="adj" fmla="val 5000"/>
            </a:avLst>
          </a:prstGeom>
          <a:solidFill>
            <a:srgbClr val="F5F3EF"/>
          </a:solidFill>
          <a:ln w="11430">
            <a:solidFill>
              <a:srgbClr val="E3E0D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709160" y="4370831"/>
            <a:ext cx="731520" cy="640080"/>
          </a:xfrm>
          <a:prstGeom prst="rect">
            <a:avLst/>
          </a:prstGeom>
          <a:noFill/>
        </p:spPr>
        <p:txBody>
          <a:bodyPr wrap="square" lIns="0" rIns="0" tIns="0" bIns="0">
            <a:spAutoFit/>
          </a:bodyPr>
          <a:lstStyle/>
          <a:p>
            <a:pPr algn="l">
              <a:spcAft>
                <a:spcPts val="600"/>
              </a:spcAft>
            </a:pPr>
            <a:r>
              <a:rPr sz="3400" b="1">
                <a:solidFill>
                  <a:srgbClr val="35789C"/>
                </a:solidFill>
                <a:latin typeface="Helvetica Neue"/>
              </a:rPr>
              <a:t>5</a:t>
            </a:r>
          </a:p>
        </p:txBody>
      </p:sp>
      <p:sp>
        <p:nvSpPr>
          <p:cNvPr id="23" name="TextBox 22"/>
          <p:cNvSpPr txBox="1"/>
          <p:nvPr/>
        </p:nvSpPr>
        <p:spPr>
          <a:xfrm>
            <a:off x="5349240" y="4453127"/>
            <a:ext cx="2286000" cy="457200"/>
          </a:xfrm>
          <a:prstGeom prst="rect">
            <a:avLst/>
          </a:prstGeom>
          <a:noFill/>
        </p:spPr>
        <p:txBody>
          <a:bodyPr wrap="square" lIns="0" rIns="0" tIns="0" bIns="0">
            <a:spAutoFit/>
          </a:bodyPr>
          <a:lstStyle/>
          <a:p>
            <a:pPr algn="l">
              <a:spcAft>
                <a:spcPts val="600"/>
              </a:spcAft>
            </a:pPr>
            <a:r>
              <a:rPr sz="1600" b="1">
                <a:solidFill>
                  <a:srgbClr val="11406E"/>
                </a:solidFill>
                <a:latin typeface="Helvetica Neue"/>
              </a:rPr>
              <a:t>Remates  (opcional)</a:t>
            </a:r>
          </a:p>
        </p:txBody>
      </p:sp>
      <p:sp>
        <p:nvSpPr>
          <p:cNvPr id="24" name="TextBox 23"/>
          <p:cNvSpPr txBox="1"/>
          <p:nvPr/>
        </p:nvSpPr>
        <p:spPr>
          <a:xfrm>
            <a:off x="4709160" y="5166359"/>
            <a:ext cx="2743200" cy="640080"/>
          </a:xfrm>
          <a:prstGeom prst="rect">
            <a:avLst/>
          </a:prstGeom>
          <a:noFill/>
        </p:spPr>
        <p:txBody>
          <a:bodyPr wrap="square" lIns="0" rIns="0" tIns="0" bIns="0">
            <a:spAutoFit/>
          </a:bodyPr>
          <a:lstStyle/>
          <a:p>
            <a:pPr algn="l">
              <a:lnSpc>
                <a:spcPct val="120000"/>
              </a:lnSpc>
              <a:spcAft>
                <a:spcPts val="600"/>
              </a:spcAft>
            </a:pPr>
            <a:r>
              <a:rPr sz="1350" b="0">
                <a:solidFill>
                  <a:srgbClr val="6E6E6E"/>
                </a:solidFill>
                <a:latin typeface="Helvetica Neue"/>
              </a:rPr>
              <a:t>Subtítulos y música en CapCut</a:t>
            </a:r>
          </a:p>
        </p:txBody>
      </p:sp>
      <p:sp>
        <p:nvSpPr>
          <p:cNvPr id="25" name="Rounded Rectangle 24"/>
          <p:cNvSpPr/>
          <p:nvPr/>
        </p:nvSpPr>
        <p:spPr>
          <a:xfrm>
            <a:off x="8046720" y="4206240"/>
            <a:ext cx="3291840" cy="1691640"/>
          </a:xfrm>
          <a:prstGeom prst="roundRect">
            <a:avLst>
              <a:gd name="adj" fmla="val 5000"/>
            </a:avLst>
          </a:prstGeom>
          <a:solidFill>
            <a:srgbClr val="F5F3EF"/>
          </a:solidFill>
          <a:ln w="11430">
            <a:solidFill>
              <a:srgbClr val="E3E0D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321040" y="4370831"/>
            <a:ext cx="731520" cy="640080"/>
          </a:xfrm>
          <a:prstGeom prst="rect">
            <a:avLst/>
          </a:prstGeom>
          <a:noFill/>
        </p:spPr>
        <p:txBody>
          <a:bodyPr wrap="square" lIns="0" rIns="0" tIns="0" bIns="0">
            <a:spAutoFit/>
          </a:bodyPr>
          <a:lstStyle/>
          <a:p>
            <a:pPr algn="l">
              <a:spcAft>
                <a:spcPts val="600"/>
              </a:spcAft>
            </a:pPr>
            <a:r>
              <a:rPr sz="3400" b="1">
                <a:solidFill>
                  <a:srgbClr val="35789C"/>
                </a:solidFill>
                <a:latin typeface="Helvetica Neue"/>
              </a:rPr>
              <a:t>6</a:t>
            </a:r>
          </a:p>
        </p:txBody>
      </p:sp>
      <p:sp>
        <p:nvSpPr>
          <p:cNvPr id="27" name="TextBox 26"/>
          <p:cNvSpPr txBox="1"/>
          <p:nvPr/>
        </p:nvSpPr>
        <p:spPr>
          <a:xfrm>
            <a:off x="8961120" y="4453127"/>
            <a:ext cx="2286000" cy="457200"/>
          </a:xfrm>
          <a:prstGeom prst="rect">
            <a:avLst/>
          </a:prstGeom>
          <a:noFill/>
        </p:spPr>
        <p:txBody>
          <a:bodyPr wrap="square" lIns="0" rIns="0" tIns="0" bIns="0">
            <a:spAutoFit/>
          </a:bodyPr>
          <a:lstStyle/>
          <a:p>
            <a:pPr algn="l">
              <a:spcAft>
                <a:spcPts val="600"/>
              </a:spcAft>
            </a:pPr>
            <a:r>
              <a:rPr sz="1600" b="1">
                <a:solidFill>
                  <a:srgbClr val="11406E"/>
                </a:solidFill>
                <a:latin typeface="Helvetica Neue"/>
              </a:rPr>
              <a:t>Ruta B  (opcional)</a:t>
            </a:r>
          </a:p>
        </p:txBody>
      </p:sp>
      <p:sp>
        <p:nvSpPr>
          <p:cNvPr id="28" name="TextBox 27"/>
          <p:cNvSpPr txBox="1"/>
          <p:nvPr/>
        </p:nvSpPr>
        <p:spPr>
          <a:xfrm>
            <a:off x="8321040" y="5166359"/>
            <a:ext cx="2743200" cy="640080"/>
          </a:xfrm>
          <a:prstGeom prst="rect">
            <a:avLst/>
          </a:prstGeom>
          <a:noFill/>
        </p:spPr>
        <p:txBody>
          <a:bodyPr wrap="square" lIns="0" rIns="0" tIns="0" bIns="0">
            <a:spAutoFit/>
          </a:bodyPr>
          <a:lstStyle/>
          <a:p>
            <a:pPr algn="l">
              <a:lnSpc>
                <a:spcPct val="120000"/>
              </a:lnSpc>
              <a:spcAft>
                <a:spcPts val="600"/>
              </a:spcAft>
            </a:pPr>
            <a:r>
              <a:rPr sz="1350" b="0">
                <a:solidFill>
                  <a:srgbClr val="6E6E6E"/>
                </a:solidFill>
                <a:latin typeface="Helvetica Neue"/>
              </a:rPr>
              <a:t>Si no hay créditos ese día</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ED7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502920"/>
            <a:ext cx="10515600" cy="365760"/>
          </a:xfrm>
          <a:prstGeom prst="rect">
            <a:avLst/>
          </a:prstGeom>
          <a:noFill/>
        </p:spPr>
        <p:txBody>
          <a:bodyPr wrap="square" lIns="0" rIns="0" tIns="0" bIns="0">
            <a:spAutoFit/>
          </a:bodyPr>
          <a:lstStyle/>
          <a:p>
            <a:pPr algn="l">
              <a:spcAft>
                <a:spcPts val="600"/>
              </a:spcAft>
            </a:pPr>
            <a:r>
              <a:rPr sz="1200" b="1">
                <a:solidFill>
                  <a:srgbClr val="ED7623"/>
                </a:solidFill>
                <a:latin typeface="Helvetica Neue"/>
              </a:rPr>
              <a:t>LAS HERRAMIENTAS</a:t>
            </a:r>
          </a:p>
        </p:txBody>
      </p:sp>
      <p:sp>
        <p:nvSpPr>
          <p:cNvPr id="4" name="TextBox 3"/>
          <p:cNvSpPr txBox="1"/>
          <p:nvPr/>
        </p:nvSpPr>
        <p:spPr>
          <a:xfrm>
            <a:off x="822960" y="960120"/>
            <a:ext cx="10607040" cy="1188720"/>
          </a:xfrm>
          <a:prstGeom prst="rect">
            <a:avLst/>
          </a:prstGeom>
          <a:noFill/>
        </p:spPr>
        <p:txBody>
          <a:bodyPr wrap="square" lIns="0" rIns="0" tIns="0" bIns="0">
            <a:spAutoFit/>
          </a:bodyPr>
          <a:lstStyle/>
          <a:p>
            <a:pPr algn="l">
              <a:lnSpc>
                <a:spcPct val="105000"/>
              </a:lnSpc>
              <a:spcAft>
                <a:spcPts val="600"/>
              </a:spcAft>
            </a:pPr>
            <a:r>
              <a:rPr sz="3600" b="1">
                <a:solidFill>
                  <a:srgbClr val="11406E"/>
                </a:solidFill>
                <a:latin typeface="Helvetica Neue"/>
              </a:rPr>
              <a:t>Tres, y una advertencia</a:t>
            </a:r>
          </a:p>
        </p:txBody>
      </p:sp>
      <p:sp>
        <p:nvSpPr>
          <p:cNvPr id="5" name="Rectangle 4"/>
          <p:cNvSpPr/>
          <p:nvPr/>
        </p:nvSpPr>
        <p:spPr>
          <a:xfrm>
            <a:off x="822960" y="2606040"/>
            <a:ext cx="10607040" cy="20116"/>
          </a:xfrm>
          <a:prstGeom prst="rect">
            <a:avLst/>
          </a:prstGeom>
          <a:solidFill>
            <a:srgbClr val="ED7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2103120"/>
            <a:ext cx="4572000" cy="566928"/>
          </a:xfrm>
          <a:prstGeom prst="rect">
            <a:avLst/>
          </a:prstGeom>
          <a:noFill/>
        </p:spPr>
        <p:txBody>
          <a:bodyPr wrap="square" lIns="0" rIns="0" tIns="0" bIns="0">
            <a:spAutoFit/>
          </a:bodyPr>
          <a:lstStyle/>
          <a:p>
            <a:pPr algn="l">
              <a:lnSpc>
                <a:spcPct val="112000"/>
              </a:lnSpc>
              <a:spcAft>
                <a:spcPts val="0"/>
              </a:spcAft>
            </a:pPr>
            <a:r>
              <a:rPr sz="1700" b="1">
                <a:solidFill>
                  <a:srgbClr val="35789C"/>
                </a:solidFill>
                <a:latin typeface="Helvetica Neue"/>
              </a:rPr>
              <a:t>PARA QUÉ</a:t>
            </a:r>
          </a:p>
        </p:txBody>
      </p:sp>
      <p:sp>
        <p:nvSpPr>
          <p:cNvPr id="7" name="TextBox 6"/>
          <p:cNvSpPr txBox="1"/>
          <p:nvPr/>
        </p:nvSpPr>
        <p:spPr>
          <a:xfrm>
            <a:off x="5394960" y="2103120"/>
            <a:ext cx="6035040" cy="566928"/>
          </a:xfrm>
          <a:prstGeom prst="rect">
            <a:avLst/>
          </a:prstGeom>
          <a:noFill/>
        </p:spPr>
        <p:txBody>
          <a:bodyPr wrap="square" lIns="0" rIns="0" tIns="0" bIns="0">
            <a:spAutoFit/>
          </a:bodyPr>
          <a:lstStyle/>
          <a:p>
            <a:pPr algn="l">
              <a:lnSpc>
                <a:spcPct val="112000"/>
              </a:lnSpc>
              <a:spcAft>
                <a:spcPts val="0"/>
              </a:spcAft>
            </a:pPr>
            <a:r>
              <a:rPr sz="1700" b="1">
                <a:solidFill>
                  <a:srgbClr val="35789C"/>
                </a:solidFill>
                <a:latin typeface="Helvetica Neue"/>
              </a:rPr>
              <a:t>HERRAMIENTA</a:t>
            </a:r>
          </a:p>
        </p:txBody>
      </p:sp>
      <p:sp>
        <p:nvSpPr>
          <p:cNvPr id="8" name="TextBox 7"/>
          <p:cNvSpPr txBox="1"/>
          <p:nvPr/>
        </p:nvSpPr>
        <p:spPr>
          <a:xfrm>
            <a:off x="822960" y="2670048"/>
            <a:ext cx="4572000" cy="566928"/>
          </a:xfrm>
          <a:prstGeom prst="rect">
            <a:avLst/>
          </a:prstGeom>
          <a:noFill/>
        </p:spPr>
        <p:txBody>
          <a:bodyPr wrap="square" lIns="0" rIns="0" tIns="0" bIns="0">
            <a:spAutoFit/>
          </a:bodyPr>
          <a:lstStyle/>
          <a:p>
            <a:pPr algn="l">
              <a:lnSpc>
                <a:spcPct val="112000"/>
              </a:lnSpc>
              <a:spcAft>
                <a:spcPts val="0"/>
              </a:spcAft>
            </a:pPr>
            <a:r>
              <a:rPr sz="1700" b="1">
                <a:solidFill>
                  <a:srgbClr val="ED7623"/>
                </a:solidFill>
                <a:latin typeface="Helvetica Neue"/>
              </a:rPr>
              <a:t>Guion</a:t>
            </a:r>
          </a:p>
        </p:txBody>
      </p:sp>
      <p:sp>
        <p:nvSpPr>
          <p:cNvPr id="9" name="TextBox 8"/>
          <p:cNvSpPr txBox="1"/>
          <p:nvPr/>
        </p:nvSpPr>
        <p:spPr>
          <a:xfrm>
            <a:off x="5394960" y="2670048"/>
            <a:ext cx="6035040" cy="566928"/>
          </a:xfrm>
          <a:prstGeom prst="rect">
            <a:avLst/>
          </a:prstGeom>
          <a:noFill/>
        </p:spPr>
        <p:txBody>
          <a:bodyPr wrap="square" lIns="0" rIns="0" tIns="0" bIns="0">
            <a:spAutoFit/>
          </a:bodyPr>
          <a:lstStyle/>
          <a:p>
            <a:pPr algn="l">
              <a:lnSpc>
                <a:spcPct val="112000"/>
              </a:lnSpc>
              <a:spcAft>
                <a:spcPts val="0"/>
              </a:spcAft>
            </a:pPr>
            <a:r>
              <a:rPr sz="1700" b="0">
                <a:solidFill>
                  <a:srgbClr val="6E6E6E"/>
                </a:solidFill>
                <a:latin typeface="Helvetica Neue"/>
              </a:rPr>
              <a:t>Gemini</a:t>
            </a:r>
          </a:p>
        </p:txBody>
      </p:sp>
      <p:sp>
        <p:nvSpPr>
          <p:cNvPr id="10" name="Rectangle 9"/>
          <p:cNvSpPr/>
          <p:nvPr/>
        </p:nvSpPr>
        <p:spPr>
          <a:xfrm>
            <a:off x="822960" y="3172968"/>
            <a:ext cx="10607040" cy="7315"/>
          </a:xfrm>
          <a:prstGeom prst="rect">
            <a:avLst/>
          </a:prstGeom>
          <a:solidFill>
            <a:srgbClr val="E3E0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22960" y="3236976"/>
            <a:ext cx="4572000" cy="566928"/>
          </a:xfrm>
          <a:prstGeom prst="rect">
            <a:avLst/>
          </a:prstGeom>
          <a:noFill/>
        </p:spPr>
        <p:txBody>
          <a:bodyPr wrap="square" lIns="0" rIns="0" tIns="0" bIns="0">
            <a:spAutoFit/>
          </a:bodyPr>
          <a:lstStyle/>
          <a:p>
            <a:pPr algn="l">
              <a:lnSpc>
                <a:spcPct val="112000"/>
              </a:lnSpc>
              <a:spcAft>
                <a:spcPts val="0"/>
              </a:spcAft>
            </a:pPr>
            <a:r>
              <a:rPr sz="1700" b="1">
                <a:solidFill>
                  <a:srgbClr val="ED7623"/>
                </a:solidFill>
                <a:latin typeface="Helvetica Neue"/>
              </a:rPr>
              <a:t>Personaje, clips y montaje</a:t>
            </a:r>
          </a:p>
        </p:txBody>
      </p:sp>
      <p:sp>
        <p:nvSpPr>
          <p:cNvPr id="12" name="TextBox 11"/>
          <p:cNvSpPr txBox="1"/>
          <p:nvPr/>
        </p:nvSpPr>
        <p:spPr>
          <a:xfrm>
            <a:off x="5394960" y="3236976"/>
            <a:ext cx="6035040" cy="566928"/>
          </a:xfrm>
          <a:prstGeom prst="rect">
            <a:avLst/>
          </a:prstGeom>
          <a:noFill/>
        </p:spPr>
        <p:txBody>
          <a:bodyPr wrap="square" lIns="0" rIns="0" tIns="0" bIns="0">
            <a:spAutoFit/>
          </a:bodyPr>
          <a:lstStyle/>
          <a:p>
            <a:pPr algn="l">
              <a:lnSpc>
                <a:spcPct val="112000"/>
              </a:lnSpc>
              <a:spcAft>
                <a:spcPts val="0"/>
              </a:spcAft>
            </a:pPr>
            <a:r>
              <a:rPr sz="1700" b="0">
                <a:solidFill>
                  <a:srgbClr val="6E6E6E"/>
                </a:solidFill>
                <a:latin typeface="Helvetica Neue"/>
              </a:rPr>
              <a:t>Google Flow · 50 créditos gratis al día</a:t>
            </a:r>
          </a:p>
        </p:txBody>
      </p:sp>
      <p:sp>
        <p:nvSpPr>
          <p:cNvPr id="13" name="Rectangle 12"/>
          <p:cNvSpPr/>
          <p:nvPr/>
        </p:nvSpPr>
        <p:spPr>
          <a:xfrm>
            <a:off x="822960" y="3739896"/>
            <a:ext cx="10607040" cy="7315"/>
          </a:xfrm>
          <a:prstGeom prst="rect">
            <a:avLst/>
          </a:prstGeom>
          <a:solidFill>
            <a:srgbClr val="E3E0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22960" y="3803904"/>
            <a:ext cx="4572000" cy="566928"/>
          </a:xfrm>
          <a:prstGeom prst="rect">
            <a:avLst/>
          </a:prstGeom>
          <a:noFill/>
        </p:spPr>
        <p:txBody>
          <a:bodyPr wrap="square" lIns="0" rIns="0" tIns="0" bIns="0">
            <a:spAutoFit/>
          </a:bodyPr>
          <a:lstStyle/>
          <a:p>
            <a:pPr algn="l">
              <a:lnSpc>
                <a:spcPct val="112000"/>
              </a:lnSpc>
              <a:spcAft>
                <a:spcPts val="0"/>
              </a:spcAft>
            </a:pPr>
            <a:r>
              <a:rPr sz="1700" b="1">
                <a:solidFill>
                  <a:srgbClr val="ED7623"/>
                </a:solidFill>
                <a:latin typeface="Helvetica Neue"/>
              </a:rPr>
              <a:t>Unirlos, si Flow falla</a:t>
            </a:r>
          </a:p>
        </p:txBody>
      </p:sp>
      <p:sp>
        <p:nvSpPr>
          <p:cNvPr id="15" name="TextBox 14"/>
          <p:cNvSpPr txBox="1"/>
          <p:nvPr/>
        </p:nvSpPr>
        <p:spPr>
          <a:xfrm>
            <a:off x="5394960" y="3803904"/>
            <a:ext cx="6035040" cy="566928"/>
          </a:xfrm>
          <a:prstGeom prst="rect">
            <a:avLst/>
          </a:prstGeom>
          <a:noFill/>
        </p:spPr>
        <p:txBody>
          <a:bodyPr wrap="square" lIns="0" rIns="0" tIns="0" bIns="0">
            <a:spAutoFit/>
          </a:bodyPr>
          <a:lstStyle/>
          <a:p>
            <a:pPr algn="l">
              <a:lnSpc>
                <a:spcPct val="112000"/>
              </a:lnSpc>
              <a:spcAft>
                <a:spcPts val="0"/>
              </a:spcAft>
            </a:pPr>
            <a:r>
              <a:rPr sz="1700" b="0">
                <a:solidFill>
                  <a:srgbClr val="6E6E6E"/>
                </a:solidFill>
                <a:latin typeface="Helvetica Neue"/>
              </a:rPr>
              <a:t>ChatGPT</a:t>
            </a:r>
          </a:p>
        </p:txBody>
      </p:sp>
      <p:sp>
        <p:nvSpPr>
          <p:cNvPr id="16" name="Rectangle 15"/>
          <p:cNvSpPr/>
          <p:nvPr/>
        </p:nvSpPr>
        <p:spPr>
          <a:xfrm>
            <a:off x="822960" y="4306824"/>
            <a:ext cx="10607040" cy="7315"/>
          </a:xfrm>
          <a:prstGeom prst="rect">
            <a:avLst/>
          </a:prstGeom>
          <a:solidFill>
            <a:srgbClr val="E3E0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22960" y="4370832"/>
            <a:ext cx="4572000" cy="566928"/>
          </a:xfrm>
          <a:prstGeom prst="rect">
            <a:avLst/>
          </a:prstGeom>
          <a:noFill/>
        </p:spPr>
        <p:txBody>
          <a:bodyPr wrap="square" lIns="0" rIns="0" tIns="0" bIns="0">
            <a:spAutoFit/>
          </a:bodyPr>
          <a:lstStyle/>
          <a:p>
            <a:pPr algn="l">
              <a:lnSpc>
                <a:spcPct val="112000"/>
              </a:lnSpc>
              <a:spcAft>
                <a:spcPts val="0"/>
              </a:spcAft>
            </a:pPr>
            <a:r>
              <a:rPr sz="1700" b="1">
                <a:solidFill>
                  <a:srgbClr val="ED7623"/>
                </a:solidFill>
                <a:latin typeface="Helvetica Neue"/>
              </a:rPr>
              <a:t>Subtítulos y música (opcional)</a:t>
            </a:r>
          </a:p>
        </p:txBody>
      </p:sp>
      <p:sp>
        <p:nvSpPr>
          <p:cNvPr id="18" name="TextBox 17"/>
          <p:cNvSpPr txBox="1"/>
          <p:nvPr/>
        </p:nvSpPr>
        <p:spPr>
          <a:xfrm>
            <a:off x="5394960" y="4370832"/>
            <a:ext cx="6035040" cy="566928"/>
          </a:xfrm>
          <a:prstGeom prst="rect">
            <a:avLst/>
          </a:prstGeom>
          <a:noFill/>
        </p:spPr>
        <p:txBody>
          <a:bodyPr wrap="square" lIns="0" rIns="0" tIns="0" bIns="0">
            <a:spAutoFit/>
          </a:bodyPr>
          <a:lstStyle/>
          <a:p>
            <a:pPr algn="l">
              <a:lnSpc>
                <a:spcPct val="112000"/>
              </a:lnSpc>
              <a:spcAft>
                <a:spcPts val="0"/>
              </a:spcAft>
            </a:pPr>
            <a:r>
              <a:rPr sz="1700" b="0">
                <a:solidFill>
                  <a:srgbClr val="6E6E6E"/>
                </a:solidFill>
                <a:latin typeface="Helvetica Neue"/>
              </a:rPr>
              <a:t>CapCut</a:t>
            </a:r>
          </a:p>
        </p:txBody>
      </p:sp>
      <p:sp>
        <p:nvSpPr>
          <p:cNvPr id="19" name="Rounded Rectangle 18"/>
          <p:cNvSpPr/>
          <p:nvPr/>
        </p:nvSpPr>
        <p:spPr>
          <a:xfrm>
            <a:off x="822960" y="5532120"/>
            <a:ext cx="10607040" cy="1005840"/>
          </a:xfrm>
          <a:prstGeom prst="roundRect">
            <a:avLst>
              <a:gd name="adj" fmla="val 5000"/>
            </a:avLst>
          </a:prstGeom>
          <a:solidFill>
            <a:srgbClr val="FDF0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234440" y="5760720"/>
            <a:ext cx="9875520" cy="640080"/>
          </a:xfrm>
          <a:prstGeom prst="rect">
            <a:avLst/>
          </a:prstGeom>
          <a:noFill/>
        </p:spPr>
        <p:txBody>
          <a:bodyPr wrap="square" lIns="0" rIns="0" tIns="0" bIns="0">
            <a:spAutoFit/>
          </a:bodyPr>
          <a:lstStyle/>
          <a:p>
            <a:pPr algn="l">
              <a:lnSpc>
                <a:spcPct val="125000"/>
              </a:lnSpc>
              <a:spcAft>
                <a:spcPts val="200"/>
              </a:spcAft>
            </a:pPr>
            <a:r>
              <a:rPr sz="1700" b="1">
                <a:solidFill>
                  <a:srgbClr val="ED7623"/>
                </a:solidFill>
                <a:latin typeface="Helvetica Neue"/>
              </a:rPr>
              <a:t>Flow: 50 créditos al día, 10 por clip. Cuatro clips y uno de repuesto.</a:t>
            </a:r>
          </a:p>
          <a:p>
            <a:pPr algn="l">
              <a:lnSpc>
                <a:spcPct val="125000"/>
              </a:lnSpc>
              <a:spcAft>
                <a:spcPts val="200"/>
              </a:spcAft>
            </a:pPr>
            <a:r>
              <a:rPr sz="1500" b="0">
                <a:solidFill>
                  <a:srgbClr val="6E6E6E"/>
                </a:solidFill>
                <a:latin typeface="Helvetica Neue"/>
              </a:rPr>
              <a:t>Crear el personaje no gasta nada. La cuenta de la Universidad no sirve.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ED7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502920"/>
            <a:ext cx="10515600" cy="365760"/>
          </a:xfrm>
          <a:prstGeom prst="rect">
            <a:avLst/>
          </a:prstGeom>
          <a:noFill/>
        </p:spPr>
        <p:txBody>
          <a:bodyPr wrap="square" lIns="0" rIns="0" tIns="0" bIns="0">
            <a:spAutoFit/>
          </a:bodyPr>
          <a:lstStyle/>
          <a:p>
            <a:pPr algn="l">
              <a:spcAft>
                <a:spcPts val="600"/>
              </a:spcAft>
            </a:pPr>
            <a:r>
              <a:rPr sz="1200" b="1">
                <a:solidFill>
                  <a:srgbClr val="ED7623"/>
                </a:solidFill>
                <a:latin typeface="Helvetica Neue"/>
              </a:rPr>
              <a:t>ANTES DE PRODUCIR NADA</a:t>
            </a:r>
          </a:p>
        </p:txBody>
      </p:sp>
      <p:sp>
        <p:nvSpPr>
          <p:cNvPr id="4" name="TextBox 3"/>
          <p:cNvSpPr txBox="1"/>
          <p:nvPr/>
        </p:nvSpPr>
        <p:spPr>
          <a:xfrm>
            <a:off x="822960" y="960120"/>
            <a:ext cx="10607040" cy="1188720"/>
          </a:xfrm>
          <a:prstGeom prst="rect">
            <a:avLst/>
          </a:prstGeom>
          <a:noFill/>
        </p:spPr>
        <p:txBody>
          <a:bodyPr wrap="square" lIns="0" rIns="0" tIns="0" bIns="0">
            <a:spAutoFit/>
          </a:bodyPr>
          <a:lstStyle/>
          <a:p>
            <a:pPr algn="l">
              <a:lnSpc>
                <a:spcPct val="105000"/>
              </a:lnSpc>
              <a:spcAft>
                <a:spcPts val="600"/>
              </a:spcAft>
            </a:pPr>
            <a:r>
              <a:rPr sz="4000" b="1">
                <a:solidFill>
                  <a:srgbClr val="11406E"/>
                </a:solidFill>
                <a:latin typeface="Helvetica Neue"/>
              </a:rPr>
              <a:t>Tres reglas que no se negocian</a:t>
            </a:r>
          </a:p>
        </p:txBody>
      </p:sp>
      <p:sp>
        <p:nvSpPr>
          <p:cNvPr id="5" name="Rounded Rectangle 4"/>
          <p:cNvSpPr/>
          <p:nvPr/>
        </p:nvSpPr>
        <p:spPr>
          <a:xfrm>
            <a:off x="822960" y="2377440"/>
            <a:ext cx="10607040" cy="1143000"/>
          </a:xfrm>
          <a:prstGeom prst="roundRect">
            <a:avLst>
              <a:gd name="adj" fmla="val 5000"/>
            </a:avLst>
          </a:prstGeom>
          <a:solidFill>
            <a:srgbClr val="F5F3EF"/>
          </a:solidFill>
          <a:ln w="11430">
            <a:solidFill>
              <a:srgbClr val="E3E0D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188720" y="2560320"/>
            <a:ext cx="3108960" cy="548640"/>
          </a:xfrm>
          <a:prstGeom prst="rect">
            <a:avLst/>
          </a:prstGeom>
          <a:noFill/>
        </p:spPr>
        <p:txBody>
          <a:bodyPr wrap="square" lIns="0" rIns="0" tIns="0" bIns="0">
            <a:spAutoFit/>
          </a:bodyPr>
          <a:lstStyle/>
          <a:p>
            <a:pPr algn="l">
              <a:lnSpc>
                <a:spcPct val="110000"/>
              </a:lnSpc>
              <a:spcAft>
                <a:spcPts val="600"/>
              </a:spcAft>
            </a:pPr>
            <a:r>
              <a:rPr sz="2100" b="1">
                <a:solidFill>
                  <a:srgbClr val="ED7623"/>
                </a:solidFill>
                <a:latin typeface="Helvetica Neue"/>
              </a:rPr>
              <a:t>Tu cara y tu voz</a:t>
            </a:r>
          </a:p>
        </p:txBody>
      </p:sp>
      <p:sp>
        <p:nvSpPr>
          <p:cNvPr id="7" name="TextBox 6"/>
          <p:cNvSpPr txBox="1"/>
          <p:nvPr/>
        </p:nvSpPr>
        <p:spPr>
          <a:xfrm>
            <a:off x="4480560" y="2633472"/>
            <a:ext cx="6675120" cy="731520"/>
          </a:xfrm>
          <a:prstGeom prst="rect">
            <a:avLst/>
          </a:prstGeom>
          <a:noFill/>
        </p:spPr>
        <p:txBody>
          <a:bodyPr wrap="square" lIns="0" rIns="0" tIns="0" bIns="0">
            <a:spAutoFit/>
          </a:bodyPr>
          <a:lstStyle/>
          <a:p>
            <a:pPr algn="l">
              <a:lnSpc>
                <a:spcPct val="125000"/>
              </a:lnSpc>
              <a:spcAft>
                <a:spcPts val="600"/>
              </a:spcAft>
            </a:pPr>
            <a:r>
              <a:rPr sz="1600" b="0">
                <a:solidFill>
                  <a:srgbClr val="6E6E6E"/>
                </a:solidFill>
                <a:latin typeface="Helvetica Neue"/>
              </a:rPr>
              <a:t>Solo las tuyas. Adjuntar la foto de otro es hacer un deepfake de esa persona.</a:t>
            </a:r>
          </a:p>
        </p:txBody>
      </p:sp>
      <p:sp>
        <p:nvSpPr>
          <p:cNvPr id="8" name="Rounded Rectangle 7"/>
          <p:cNvSpPr/>
          <p:nvPr/>
        </p:nvSpPr>
        <p:spPr>
          <a:xfrm>
            <a:off x="822960" y="3749039"/>
            <a:ext cx="10607040" cy="1143000"/>
          </a:xfrm>
          <a:prstGeom prst="roundRect">
            <a:avLst>
              <a:gd name="adj" fmla="val 5000"/>
            </a:avLst>
          </a:prstGeom>
          <a:solidFill>
            <a:srgbClr val="F5F3EF"/>
          </a:solidFill>
          <a:ln w="11430">
            <a:solidFill>
              <a:srgbClr val="E3E0D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188720" y="3931920"/>
            <a:ext cx="3108960" cy="548640"/>
          </a:xfrm>
          <a:prstGeom prst="rect">
            <a:avLst/>
          </a:prstGeom>
          <a:noFill/>
        </p:spPr>
        <p:txBody>
          <a:bodyPr wrap="square" lIns="0" rIns="0" tIns="0" bIns="0">
            <a:spAutoFit/>
          </a:bodyPr>
          <a:lstStyle/>
          <a:p>
            <a:pPr algn="l">
              <a:lnSpc>
                <a:spcPct val="110000"/>
              </a:lnSpc>
              <a:spcAft>
                <a:spcPts val="600"/>
              </a:spcAft>
            </a:pPr>
            <a:r>
              <a:rPr sz="2100" b="1">
                <a:solidFill>
                  <a:srgbClr val="ED7623"/>
                </a:solidFill>
                <a:latin typeface="Helvetica Neue"/>
              </a:rPr>
              <a:t>Se declara</a:t>
            </a:r>
          </a:p>
        </p:txBody>
      </p:sp>
      <p:sp>
        <p:nvSpPr>
          <p:cNvPr id="10" name="TextBox 9"/>
          <p:cNvSpPr txBox="1"/>
          <p:nvPr/>
        </p:nvSpPr>
        <p:spPr>
          <a:xfrm>
            <a:off x="4480560" y="4005072"/>
            <a:ext cx="6675120" cy="731520"/>
          </a:xfrm>
          <a:prstGeom prst="rect">
            <a:avLst/>
          </a:prstGeom>
          <a:noFill/>
        </p:spPr>
        <p:txBody>
          <a:bodyPr wrap="square" lIns="0" rIns="0" tIns="0" bIns="0">
            <a:spAutoFit/>
          </a:bodyPr>
          <a:lstStyle/>
          <a:p>
            <a:pPr algn="l">
              <a:lnSpc>
                <a:spcPct val="125000"/>
              </a:lnSpc>
              <a:spcAft>
                <a:spcPts val="600"/>
              </a:spcAft>
            </a:pPr>
            <a:r>
              <a:rPr sz="1600" b="0">
                <a:solidFill>
                  <a:srgbClr val="6E6E6E"/>
                </a:solidFill>
                <a:latin typeface="Helvetica Neue"/>
              </a:rPr>
              <a:t>En el video o en la descripción: qué parte se hizo con IA y con qué herramienta.</a:t>
            </a:r>
          </a:p>
        </p:txBody>
      </p:sp>
      <p:sp>
        <p:nvSpPr>
          <p:cNvPr id="11" name="Rounded Rectangle 10"/>
          <p:cNvSpPr/>
          <p:nvPr/>
        </p:nvSpPr>
        <p:spPr>
          <a:xfrm>
            <a:off x="822960" y="5120640"/>
            <a:ext cx="10607040" cy="1143000"/>
          </a:xfrm>
          <a:prstGeom prst="roundRect">
            <a:avLst>
              <a:gd name="adj" fmla="val 5000"/>
            </a:avLst>
          </a:prstGeom>
          <a:solidFill>
            <a:srgbClr val="F5F3EF"/>
          </a:solidFill>
          <a:ln w="11430">
            <a:solidFill>
              <a:srgbClr val="E3E0D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188720" y="5303520"/>
            <a:ext cx="3108960" cy="548640"/>
          </a:xfrm>
          <a:prstGeom prst="rect">
            <a:avLst/>
          </a:prstGeom>
          <a:noFill/>
        </p:spPr>
        <p:txBody>
          <a:bodyPr wrap="square" lIns="0" rIns="0" tIns="0" bIns="0">
            <a:spAutoFit/>
          </a:bodyPr>
          <a:lstStyle/>
          <a:p>
            <a:pPr algn="l">
              <a:lnSpc>
                <a:spcPct val="110000"/>
              </a:lnSpc>
              <a:spcAft>
                <a:spcPts val="600"/>
              </a:spcAft>
            </a:pPr>
            <a:r>
              <a:rPr sz="2100" b="1">
                <a:solidFill>
                  <a:srgbClr val="ED7623"/>
                </a:solidFill>
                <a:latin typeface="Helvetica Neue"/>
              </a:rPr>
              <a:t>Nada confidencial</a:t>
            </a:r>
          </a:p>
        </p:txBody>
      </p:sp>
      <p:sp>
        <p:nvSpPr>
          <p:cNvPr id="13" name="TextBox 12"/>
          <p:cNvSpPr txBox="1"/>
          <p:nvPr/>
        </p:nvSpPr>
        <p:spPr>
          <a:xfrm>
            <a:off x="4480560" y="5376672"/>
            <a:ext cx="6675120" cy="731520"/>
          </a:xfrm>
          <a:prstGeom prst="rect">
            <a:avLst/>
          </a:prstGeom>
          <a:noFill/>
        </p:spPr>
        <p:txBody>
          <a:bodyPr wrap="square" lIns="0" rIns="0" tIns="0" bIns="0">
            <a:spAutoFit/>
          </a:bodyPr>
          <a:lstStyle/>
          <a:p>
            <a:pPr algn="l">
              <a:lnSpc>
                <a:spcPct val="125000"/>
              </a:lnSpc>
              <a:spcAft>
                <a:spcPts val="600"/>
              </a:spcAft>
            </a:pPr>
            <a:r>
              <a:rPr sz="1600" b="0">
                <a:solidFill>
                  <a:srgbClr val="6E6E6E"/>
                </a:solidFill>
                <a:latin typeface="Helvetica Neue"/>
              </a:rPr>
              <a:t>Ni datos de pacientes, ni de clientes, ni de menores, ni expedientes.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ED7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914400"/>
            <a:ext cx="1828800" cy="1463040"/>
          </a:xfrm>
          <a:prstGeom prst="rect">
            <a:avLst/>
          </a:prstGeom>
          <a:noFill/>
        </p:spPr>
        <p:txBody>
          <a:bodyPr wrap="square" lIns="0" rIns="0" tIns="0" bIns="0">
            <a:spAutoFit/>
          </a:bodyPr>
          <a:lstStyle/>
          <a:p>
            <a:pPr algn="l">
              <a:spcAft>
                <a:spcPts val="600"/>
              </a:spcAft>
            </a:pPr>
            <a:r>
              <a:rPr sz="9600" b="1">
                <a:solidFill>
                  <a:srgbClr val="ED7623"/>
                </a:solidFill>
                <a:latin typeface="Helvetica Neue"/>
              </a:rPr>
              <a:t>1</a:t>
            </a:r>
          </a:p>
        </p:txBody>
      </p:sp>
      <p:sp>
        <p:nvSpPr>
          <p:cNvPr id="4" name="TextBox 3"/>
          <p:cNvSpPr txBox="1"/>
          <p:nvPr/>
        </p:nvSpPr>
        <p:spPr>
          <a:xfrm>
            <a:off x="2103120" y="1051560"/>
            <a:ext cx="8686800" cy="822960"/>
          </a:xfrm>
          <a:prstGeom prst="rect">
            <a:avLst/>
          </a:prstGeom>
          <a:noFill/>
        </p:spPr>
        <p:txBody>
          <a:bodyPr wrap="square" lIns="0" rIns="0" tIns="0" bIns="0">
            <a:spAutoFit/>
          </a:bodyPr>
          <a:lstStyle/>
          <a:p>
            <a:pPr algn="l">
              <a:spcAft>
                <a:spcPts val="600"/>
              </a:spcAft>
            </a:pPr>
            <a:r>
              <a:rPr sz="4400" b="1">
                <a:solidFill>
                  <a:srgbClr val="11406E"/>
                </a:solidFill>
                <a:latin typeface="Helvetica Neue"/>
              </a:rPr>
              <a:t>El guion</a:t>
            </a:r>
          </a:p>
        </p:txBody>
      </p:sp>
      <p:sp>
        <p:nvSpPr>
          <p:cNvPr id="5" name="TextBox 4"/>
          <p:cNvSpPr txBox="1"/>
          <p:nvPr/>
        </p:nvSpPr>
        <p:spPr>
          <a:xfrm>
            <a:off x="2103120" y="1965960"/>
            <a:ext cx="8686800" cy="548640"/>
          </a:xfrm>
          <a:prstGeom prst="rect">
            <a:avLst/>
          </a:prstGeom>
          <a:noFill/>
        </p:spPr>
        <p:txBody>
          <a:bodyPr wrap="square" lIns="0" rIns="0" tIns="0" bIns="0">
            <a:spAutoFit/>
          </a:bodyPr>
          <a:lstStyle/>
          <a:p>
            <a:pPr algn="l">
              <a:spcAft>
                <a:spcPts val="600"/>
              </a:spcAft>
            </a:pPr>
            <a:r>
              <a:rPr sz="2000" b="0">
                <a:solidFill>
                  <a:srgbClr val="35789C"/>
                </a:solidFill>
                <a:latin typeface="Helvetica Neue"/>
              </a:rPr>
              <a:t>Y enseguida, partirlo en cuatro</a:t>
            </a:r>
          </a:p>
        </p:txBody>
      </p:sp>
      <p:sp>
        <p:nvSpPr>
          <p:cNvPr id="6" name="Rounded Rectangle 5"/>
          <p:cNvSpPr/>
          <p:nvPr/>
        </p:nvSpPr>
        <p:spPr>
          <a:xfrm>
            <a:off x="2103120" y="2697480"/>
            <a:ext cx="8778240" cy="2103120"/>
          </a:xfrm>
          <a:prstGeom prst="roundRect">
            <a:avLst>
              <a:gd name="adj" fmla="val 5000"/>
            </a:avLst>
          </a:prstGeom>
          <a:solidFill>
            <a:srgbClr val="F5F3EF"/>
          </a:solidFill>
          <a:ln w="11430">
            <a:solidFill>
              <a:srgbClr val="E3E0D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560320" y="3017520"/>
            <a:ext cx="8046720" cy="1645920"/>
          </a:xfrm>
          <a:prstGeom prst="rect">
            <a:avLst/>
          </a:prstGeom>
          <a:noFill/>
        </p:spPr>
        <p:txBody>
          <a:bodyPr wrap="square" lIns="0" rIns="0" tIns="0" bIns="0">
            <a:spAutoFit/>
          </a:bodyPr>
          <a:lstStyle/>
          <a:p>
            <a:pPr algn="l">
              <a:lnSpc>
                <a:spcPct val="135000"/>
              </a:lnSpc>
              <a:spcAft>
                <a:spcPts val="400"/>
              </a:spcAft>
            </a:pPr>
            <a:r>
              <a:rPr sz="2400" b="1">
                <a:solidFill>
                  <a:srgbClr val="11406E"/>
                </a:solidFill>
                <a:latin typeface="Helvetica Neue"/>
              </a:rPr>
              <a:t>Se habla a 150 palabras por minuto</a:t>
            </a:r>
          </a:p>
          <a:p>
            <a:pPr algn="l">
              <a:lnSpc>
                <a:spcPct val="135000"/>
              </a:lnSpc>
              <a:spcAft>
                <a:spcPts val="400"/>
              </a:spcAft>
            </a:pPr>
            <a:r>
              <a:rPr sz="2400" b="1">
                <a:solidFill>
                  <a:srgbClr val="ED7623"/>
                </a:solidFill>
                <a:latin typeface="Helvetica Neue"/>
              </a:rPr>
              <a:t>4 clips × 8 segundos  =  80 palabras</a:t>
            </a:r>
          </a:p>
          <a:p>
            <a:pPr algn="l">
              <a:lnSpc>
                <a:spcPct val="135000"/>
              </a:lnSpc>
              <a:spcAft>
                <a:spcPts val="400"/>
              </a:spcAft>
            </a:pPr>
          </a:p>
          <a:p>
            <a:pPr algn="l">
              <a:lnSpc>
                <a:spcPct val="135000"/>
              </a:lnSpc>
              <a:spcAft>
                <a:spcPts val="400"/>
              </a:spcAft>
            </a:pPr>
            <a:r>
              <a:rPr sz="1600" b="0">
                <a:solidFill>
                  <a:srgbClr val="6E6E6E"/>
                </a:solidFill>
                <a:latin typeface="Helvetica Neue"/>
              </a:rPr>
              <a:t>Cada frase tiene que entenderse sola, sin la anterior.</a:t>
            </a:r>
          </a:p>
        </p:txBody>
      </p:sp>
      <p:sp>
        <p:nvSpPr>
          <p:cNvPr id="8" name="Rounded Rectangle 7"/>
          <p:cNvSpPr/>
          <p:nvPr/>
        </p:nvSpPr>
        <p:spPr>
          <a:xfrm>
            <a:off x="2103120" y="5074920"/>
            <a:ext cx="8778240" cy="1005840"/>
          </a:xfrm>
          <a:prstGeom prst="roundRect">
            <a:avLst>
              <a:gd name="adj" fmla="val 5000"/>
            </a:avLst>
          </a:prstGeom>
          <a:solidFill>
            <a:srgbClr val="FDF0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2560320" y="5303520"/>
            <a:ext cx="8046720" cy="640080"/>
          </a:xfrm>
          <a:prstGeom prst="rect">
            <a:avLst/>
          </a:prstGeom>
          <a:noFill/>
        </p:spPr>
        <p:txBody>
          <a:bodyPr wrap="square" lIns="0" rIns="0" tIns="0" bIns="0">
            <a:spAutoFit/>
          </a:bodyPr>
          <a:lstStyle/>
          <a:p>
            <a:pPr algn="l">
              <a:lnSpc>
                <a:spcPct val="125000"/>
              </a:lnSpc>
              <a:spcAft>
                <a:spcPts val="200"/>
              </a:spcAft>
            </a:pPr>
            <a:r>
              <a:rPr sz="1700" b="1">
                <a:solidFill>
                  <a:srgbClr val="ED7623"/>
                </a:solidFill>
                <a:latin typeface="Helvetica Neue"/>
              </a:rPr>
              <a:t>Lee cada frase en voz alta y cronométrala.</a:t>
            </a:r>
          </a:p>
          <a:p>
            <a:pPr algn="l">
              <a:lnSpc>
                <a:spcPct val="125000"/>
              </a:lnSpc>
              <a:spcAft>
                <a:spcPts val="200"/>
              </a:spcAft>
            </a:pPr>
            <a:r>
              <a:rPr sz="1500" b="0">
                <a:solidFill>
                  <a:srgbClr val="6E6E6E"/>
                </a:solidFill>
                <a:latin typeface="Helvetica Neue"/>
              </a:rPr>
              <a:t>Si no cabe en diez segundos, pártela.</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ED7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502920"/>
            <a:ext cx="10515600" cy="365760"/>
          </a:xfrm>
          <a:prstGeom prst="rect">
            <a:avLst/>
          </a:prstGeom>
          <a:noFill/>
        </p:spPr>
        <p:txBody>
          <a:bodyPr wrap="square" lIns="0" rIns="0" tIns="0" bIns="0">
            <a:spAutoFit/>
          </a:bodyPr>
          <a:lstStyle/>
          <a:p>
            <a:pPr algn="l">
              <a:spcAft>
                <a:spcPts val="600"/>
              </a:spcAft>
            </a:pPr>
            <a:r>
              <a:rPr sz="1200" b="1">
                <a:solidFill>
                  <a:srgbClr val="ED7623"/>
                </a:solidFill>
                <a:latin typeface="Helvetica Neue"/>
              </a:rPr>
              <a:t>TRUCO</a:t>
            </a:r>
          </a:p>
        </p:txBody>
      </p:sp>
      <p:sp>
        <p:nvSpPr>
          <p:cNvPr id="4" name="TextBox 3"/>
          <p:cNvSpPr txBox="1"/>
          <p:nvPr/>
        </p:nvSpPr>
        <p:spPr>
          <a:xfrm>
            <a:off x="822960" y="960120"/>
            <a:ext cx="10607040" cy="1188720"/>
          </a:xfrm>
          <a:prstGeom prst="rect">
            <a:avLst/>
          </a:prstGeom>
          <a:noFill/>
        </p:spPr>
        <p:txBody>
          <a:bodyPr wrap="square" lIns="0" rIns="0" tIns="0" bIns="0">
            <a:spAutoFit/>
          </a:bodyPr>
          <a:lstStyle/>
          <a:p>
            <a:pPr algn="l">
              <a:lnSpc>
                <a:spcPct val="105000"/>
              </a:lnSpc>
              <a:spcAft>
                <a:spcPts val="600"/>
              </a:spcAft>
            </a:pPr>
            <a:r>
              <a:rPr sz="3800" b="1">
                <a:solidFill>
                  <a:srgbClr val="11406E"/>
                </a:solidFill>
                <a:latin typeface="Helvetica Neue"/>
              </a:rPr>
              <a:t>Dicta el guion en vez de escribirlo</a:t>
            </a:r>
          </a:p>
        </p:txBody>
      </p:sp>
      <p:sp>
        <p:nvSpPr>
          <p:cNvPr id="5" name="TextBox 4"/>
          <p:cNvSpPr txBox="1"/>
          <p:nvPr/>
        </p:nvSpPr>
        <p:spPr>
          <a:xfrm>
            <a:off x="822960" y="2103120"/>
            <a:ext cx="10424160" cy="731520"/>
          </a:xfrm>
          <a:prstGeom prst="rect">
            <a:avLst/>
          </a:prstGeom>
          <a:noFill/>
        </p:spPr>
        <p:txBody>
          <a:bodyPr wrap="square" lIns="0" rIns="0" tIns="0" bIns="0">
            <a:spAutoFit/>
          </a:bodyPr>
          <a:lstStyle/>
          <a:p>
            <a:pPr algn="l">
              <a:lnSpc>
                <a:spcPct val="130000"/>
              </a:lnSpc>
              <a:spcAft>
                <a:spcPts val="600"/>
              </a:spcAft>
            </a:pPr>
            <a:r>
              <a:rPr sz="2000" b="0">
                <a:solidFill>
                  <a:srgbClr val="6E6E6E"/>
                </a:solidFill>
                <a:latin typeface="Helvetica Neue"/>
              </a:rPr>
              <a:t>Un texto dictado suena a persona hablando. Uno escrito suena a texto escrito.</a:t>
            </a:r>
          </a:p>
        </p:txBody>
      </p:sp>
      <p:sp>
        <p:nvSpPr>
          <p:cNvPr id="6" name="Rounded Rectangle 5"/>
          <p:cNvSpPr/>
          <p:nvPr/>
        </p:nvSpPr>
        <p:spPr>
          <a:xfrm>
            <a:off x="822960" y="3108960"/>
            <a:ext cx="5029200" cy="2103120"/>
          </a:xfrm>
          <a:prstGeom prst="roundRect">
            <a:avLst>
              <a:gd name="adj" fmla="val 5000"/>
            </a:avLst>
          </a:prstGeom>
          <a:solidFill>
            <a:srgbClr val="F5F3EF"/>
          </a:solidFill>
          <a:ln w="11430">
            <a:solidFill>
              <a:srgbClr val="E3E0D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234440" y="3429000"/>
            <a:ext cx="4206240" cy="548640"/>
          </a:xfrm>
          <a:prstGeom prst="rect">
            <a:avLst/>
          </a:prstGeom>
          <a:noFill/>
        </p:spPr>
        <p:txBody>
          <a:bodyPr wrap="square" lIns="0" rIns="0" tIns="0" bIns="0">
            <a:spAutoFit/>
          </a:bodyPr>
          <a:lstStyle/>
          <a:p>
            <a:pPr algn="l">
              <a:spcAft>
                <a:spcPts val="600"/>
              </a:spcAft>
            </a:pPr>
            <a:r>
              <a:rPr sz="2400" b="1">
                <a:solidFill>
                  <a:srgbClr val="35789C"/>
                </a:solidFill>
                <a:latin typeface="Helvetica Neue"/>
              </a:rPr>
              <a:t>Google Docs</a:t>
            </a:r>
          </a:p>
        </p:txBody>
      </p:sp>
      <p:sp>
        <p:nvSpPr>
          <p:cNvPr id="8" name="TextBox 7"/>
          <p:cNvSpPr txBox="1"/>
          <p:nvPr/>
        </p:nvSpPr>
        <p:spPr>
          <a:xfrm>
            <a:off x="1234440" y="4160520"/>
            <a:ext cx="4206240" cy="1188720"/>
          </a:xfrm>
          <a:prstGeom prst="rect">
            <a:avLst/>
          </a:prstGeom>
          <a:noFill/>
        </p:spPr>
        <p:txBody>
          <a:bodyPr wrap="square" lIns="0" rIns="0" tIns="0" bIns="0">
            <a:spAutoFit/>
          </a:bodyPr>
          <a:lstStyle/>
          <a:p>
            <a:pPr algn="l">
              <a:lnSpc>
                <a:spcPct val="130000"/>
              </a:lnSpc>
              <a:spcAft>
                <a:spcPts val="600"/>
              </a:spcAft>
            </a:pPr>
            <a:r>
              <a:rPr sz="1600" b="0">
                <a:solidFill>
                  <a:srgbClr val="6E6E6E"/>
                </a:solidFill>
                <a:latin typeface="Helvetica Neue"/>
              </a:rPr>
              <a:t>Herramientas → Dictado por voz. Hablas, aparece escrito.</a:t>
            </a:r>
          </a:p>
        </p:txBody>
      </p:sp>
      <p:sp>
        <p:nvSpPr>
          <p:cNvPr id="9" name="Rounded Rectangle 8"/>
          <p:cNvSpPr/>
          <p:nvPr/>
        </p:nvSpPr>
        <p:spPr>
          <a:xfrm>
            <a:off x="6217920" y="3108960"/>
            <a:ext cx="5029200" cy="2103120"/>
          </a:xfrm>
          <a:prstGeom prst="roundRect">
            <a:avLst>
              <a:gd name="adj" fmla="val 5000"/>
            </a:avLst>
          </a:prstGeom>
          <a:solidFill>
            <a:srgbClr val="F5F3EF"/>
          </a:solidFill>
          <a:ln w="11430">
            <a:solidFill>
              <a:srgbClr val="E3E0D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629400" y="3429000"/>
            <a:ext cx="4206240" cy="548640"/>
          </a:xfrm>
          <a:prstGeom prst="rect">
            <a:avLst/>
          </a:prstGeom>
          <a:noFill/>
        </p:spPr>
        <p:txBody>
          <a:bodyPr wrap="square" lIns="0" rIns="0" tIns="0" bIns="0">
            <a:spAutoFit/>
          </a:bodyPr>
          <a:lstStyle/>
          <a:p>
            <a:pPr algn="l">
              <a:spcAft>
                <a:spcPts val="600"/>
              </a:spcAft>
            </a:pPr>
            <a:r>
              <a:rPr sz="2400" b="1">
                <a:solidFill>
                  <a:srgbClr val="35789C"/>
                </a:solidFill>
                <a:latin typeface="Helvetica Neue"/>
              </a:rPr>
              <a:t>Gemini</a:t>
            </a:r>
          </a:p>
        </p:txBody>
      </p:sp>
      <p:sp>
        <p:nvSpPr>
          <p:cNvPr id="11" name="TextBox 10"/>
          <p:cNvSpPr txBox="1"/>
          <p:nvPr/>
        </p:nvSpPr>
        <p:spPr>
          <a:xfrm>
            <a:off x="6629400" y="4160520"/>
            <a:ext cx="4206240" cy="1188720"/>
          </a:xfrm>
          <a:prstGeom prst="rect">
            <a:avLst/>
          </a:prstGeom>
          <a:noFill/>
        </p:spPr>
        <p:txBody>
          <a:bodyPr wrap="square" lIns="0" rIns="0" tIns="0" bIns="0">
            <a:spAutoFit/>
          </a:bodyPr>
          <a:lstStyle/>
          <a:p>
            <a:pPr algn="l">
              <a:lnSpc>
                <a:spcPct val="130000"/>
              </a:lnSpc>
              <a:spcAft>
                <a:spcPts val="600"/>
              </a:spcAft>
            </a:pPr>
            <a:r>
              <a:rPr sz="1600" b="0">
                <a:solidFill>
                  <a:srgbClr val="6E6E6E"/>
                </a:solidFill>
                <a:latin typeface="Helvetica Neue"/>
              </a:rPr>
              <a:t>Grabas una nota de voz en el celular, la subes y le pides la transcripción limpia.</a:t>
            </a:r>
          </a:p>
        </p:txBody>
      </p:sp>
      <p:sp>
        <p:nvSpPr>
          <p:cNvPr id="12" name="TextBox 11"/>
          <p:cNvSpPr txBox="1"/>
          <p:nvPr/>
        </p:nvSpPr>
        <p:spPr>
          <a:xfrm>
            <a:off x="822960" y="5577840"/>
            <a:ext cx="10424160" cy="548640"/>
          </a:xfrm>
          <a:prstGeom prst="rect">
            <a:avLst/>
          </a:prstGeom>
          <a:noFill/>
        </p:spPr>
        <p:txBody>
          <a:bodyPr wrap="square" lIns="0" rIns="0" tIns="0" bIns="0">
            <a:spAutoFit/>
          </a:bodyPr>
          <a:lstStyle/>
          <a:p>
            <a:pPr algn="l">
              <a:spcAft>
                <a:spcPts val="600"/>
              </a:spcAft>
            </a:pPr>
            <a:r>
              <a:rPr sz="1600" b="0">
                <a:solidFill>
                  <a:srgbClr val="ED7623"/>
                </a:solidFill>
                <a:latin typeface="Helvetica Neue"/>
              </a:rPr>
              <a:t>Después lo pules: «Limpia este dictado, quita las muletillas y déjalo en 80 palabras».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ED7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914400"/>
            <a:ext cx="1828800" cy="1463040"/>
          </a:xfrm>
          <a:prstGeom prst="rect">
            <a:avLst/>
          </a:prstGeom>
          <a:noFill/>
        </p:spPr>
        <p:txBody>
          <a:bodyPr wrap="square" lIns="0" rIns="0" tIns="0" bIns="0">
            <a:spAutoFit/>
          </a:bodyPr>
          <a:lstStyle/>
          <a:p>
            <a:pPr algn="l">
              <a:spcAft>
                <a:spcPts val="600"/>
              </a:spcAft>
            </a:pPr>
            <a:r>
              <a:rPr sz="9600" b="1">
                <a:solidFill>
                  <a:srgbClr val="ED7623"/>
                </a:solidFill>
                <a:latin typeface="Helvetica Neue"/>
              </a:rPr>
              <a:t>2</a:t>
            </a:r>
          </a:p>
        </p:txBody>
      </p:sp>
      <p:sp>
        <p:nvSpPr>
          <p:cNvPr id="4" name="TextBox 3"/>
          <p:cNvSpPr txBox="1"/>
          <p:nvPr/>
        </p:nvSpPr>
        <p:spPr>
          <a:xfrm>
            <a:off x="2103120" y="1051560"/>
            <a:ext cx="8686800" cy="822960"/>
          </a:xfrm>
          <a:prstGeom prst="rect">
            <a:avLst/>
          </a:prstGeom>
          <a:noFill/>
        </p:spPr>
        <p:txBody>
          <a:bodyPr wrap="square" lIns="0" rIns="0" tIns="0" bIns="0">
            <a:spAutoFit/>
          </a:bodyPr>
          <a:lstStyle/>
          <a:p>
            <a:pPr algn="l">
              <a:spcAft>
                <a:spcPts val="600"/>
              </a:spcAft>
            </a:pPr>
            <a:r>
              <a:rPr sz="4400" b="1">
                <a:solidFill>
                  <a:srgbClr val="11406E"/>
                </a:solidFill>
                <a:latin typeface="Helvetica Neue"/>
              </a:rPr>
              <a:t>Tu personaje</a:t>
            </a:r>
          </a:p>
        </p:txBody>
      </p:sp>
      <p:sp>
        <p:nvSpPr>
          <p:cNvPr id="5" name="TextBox 4"/>
          <p:cNvSpPr txBox="1"/>
          <p:nvPr/>
        </p:nvSpPr>
        <p:spPr>
          <a:xfrm>
            <a:off x="2103120" y="1965960"/>
            <a:ext cx="8686800" cy="548640"/>
          </a:xfrm>
          <a:prstGeom prst="rect">
            <a:avLst/>
          </a:prstGeom>
          <a:noFill/>
        </p:spPr>
        <p:txBody>
          <a:bodyPr wrap="square" lIns="0" rIns="0" tIns="0" bIns="0">
            <a:spAutoFit/>
          </a:bodyPr>
          <a:lstStyle/>
          <a:p>
            <a:pPr algn="l">
              <a:spcAft>
                <a:spcPts val="600"/>
              </a:spcAft>
            </a:pPr>
            <a:r>
              <a:rPr sz="2000" b="0">
                <a:solidFill>
                  <a:srgbClr val="35789C"/>
                </a:solidFill>
                <a:latin typeface="Helvetica Neue"/>
              </a:rPr>
              <a:t>Se crea una vez, no gasta créditos, y lleva voz propia</a:t>
            </a:r>
          </a:p>
        </p:txBody>
      </p:sp>
      <p:sp>
        <p:nvSpPr>
          <p:cNvPr id="6" name="Rounded Rectangle 5"/>
          <p:cNvSpPr/>
          <p:nvPr/>
        </p:nvSpPr>
        <p:spPr>
          <a:xfrm>
            <a:off x="2103120" y="2697480"/>
            <a:ext cx="4206240" cy="2240280"/>
          </a:xfrm>
          <a:prstGeom prst="roundRect">
            <a:avLst>
              <a:gd name="adj" fmla="val 5000"/>
            </a:avLst>
          </a:prstGeom>
          <a:solidFill>
            <a:srgbClr val="F5F3EF"/>
          </a:solidFill>
          <a:ln w="11430">
            <a:solidFill>
              <a:srgbClr val="E3E0D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468880" y="2971800"/>
            <a:ext cx="3566160" cy="1828800"/>
          </a:xfrm>
          <a:prstGeom prst="rect">
            <a:avLst/>
          </a:prstGeom>
          <a:noFill/>
        </p:spPr>
        <p:txBody>
          <a:bodyPr wrap="square" lIns="0" rIns="0" tIns="0" bIns="0">
            <a:spAutoFit/>
          </a:bodyPr>
          <a:lstStyle/>
          <a:p>
            <a:pPr algn="l">
              <a:lnSpc>
                <a:spcPct val="130000"/>
              </a:lnSpc>
              <a:spcAft>
                <a:spcPts val="300"/>
              </a:spcAft>
            </a:pPr>
            <a:r>
              <a:rPr sz="2200" b="1">
                <a:solidFill>
                  <a:srgbClr val="ED7623"/>
                </a:solidFill>
                <a:latin typeface="Helvetica Neue"/>
              </a:rPr>
              <a:t>Con tu foto</a:t>
            </a:r>
          </a:p>
          <a:p>
            <a:pPr algn="l">
              <a:lnSpc>
                <a:spcPct val="130000"/>
              </a:lnSpc>
              <a:spcAft>
                <a:spcPts val="300"/>
              </a:spcAft>
            </a:pPr>
          </a:p>
          <a:p>
            <a:pPr algn="l">
              <a:lnSpc>
                <a:spcPct val="130000"/>
              </a:lnSpc>
              <a:spcAft>
                <a:spcPts val="300"/>
              </a:spcAft>
            </a:pPr>
            <a:r>
              <a:rPr sz="1500" b="0">
                <a:solidFill>
                  <a:srgbClr val="6E6E6E"/>
                </a:solidFill>
                <a:latin typeface="Helvetica Neue"/>
              </a:rPr>
              <a:t>Botón Subir y eliges una foto tuya de frente, bien iluminada.</a:t>
            </a:r>
          </a:p>
        </p:txBody>
      </p:sp>
      <p:sp>
        <p:nvSpPr>
          <p:cNvPr id="8" name="Rounded Rectangle 7"/>
          <p:cNvSpPr/>
          <p:nvPr/>
        </p:nvSpPr>
        <p:spPr>
          <a:xfrm>
            <a:off x="6675120" y="2697480"/>
            <a:ext cx="4206240" cy="2240280"/>
          </a:xfrm>
          <a:prstGeom prst="roundRect">
            <a:avLst>
              <a:gd name="adj" fmla="val 5000"/>
            </a:avLst>
          </a:prstGeom>
          <a:solidFill>
            <a:srgbClr val="F5F3EF"/>
          </a:solidFill>
          <a:ln w="11430">
            <a:solidFill>
              <a:srgbClr val="E3E0D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040880" y="2971800"/>
            <a:ext cx="3566160" cy="1828800"/>
          </a:xfrm>
          <a:prstGeom prst="rect">
            <a:avLst/>
          </a:prstGeom>
          <a:noFill/>
        </p:spPr>
        <p:txBody>
          <a:bodyPr wrap="square" lIns="0" rIns="0" tIns="0" bIns="0">
            <a:spAutoFit/>
          </a:bodyPr>
          <a:lstStyle/>
          <a:p>
            <a:pPr algn="l">
              <a:lnSpc>
                <a:spcPct val="130000"/>
              </a:lnSpc>
              <a:spcAft>
                <a:spcPts val="300"/>
              </a:spcAft>
            </a:pPr>
            <a:r>
              <a:rPr sz="2200" b="1">
                <a:solidFill>
                  <a:srgbClr val="35789C"/>
                </a:solidFill>
                <a:latin typeface="Helvetica Neue"/>
              </a:rPr>
              <a:t>Descrito</a:t>
            </a:r>
          </a:p>
          <a:p>
            <a:pPr algn="l">
              <a:lnSpc>
                <a:spcPct val="130000"/>
              </a:lnSpc>
              <a:spcAft>
                <a:spcPts val="300"/>
              </a:spcAft>
            </a:pPr>
          </a:p>
          <a:p>
            <a:pPr algn="l">
              <a:lnSpc>
                <a:spcPct val="130000"/>
              </a:lnSpc>
              <a:spcAft>
                <a:spcPts val="300"/>
              </a:spcAft>
            </a:pPr>
            <a:r>
              <a:rPr sz="1500" b="0">
                <a:solidFill>
                  <a:srgbClr val="6E6E6E"/>
                </a:solidFill>
                <a:latin typeface="Helvetica Neue"/>
              </a:rPr>
              <a:t>Escribes cómo es y Flow lo dibuja. Queda igual de consistente.</a:t>
            </a:r>
          </a:p>
        </p:txBody>
      </p:sp>
      <p:sp>
        <p:nvSpPr>
          <p:cNvPr id="10" name="Rounded Rectangle 9"/>
          <p:cNvSpPr/>
          <p:nvPr/>
        </p:nvSpPr>
        <p:spPr>
          <a:xfrm>
            <a:off x="2103120" y="5166360"/>
            <a:ext cx="8778240" cy="1234440"/>
          </a:xfrm>
          <a:prstGeom prst="roundRect">
            <a:avLst>
              <a:gd name="adj" fmla="val 5000"/>
            </a:avLst>
          </a:prstGeom>
          <a:solidFill>
            <a:srgbClr val="FDF0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560320" y="5394960"/>
            <a:ext cx="8046720" cy="914400"/>
          </a:xfrm>
          <a:prstGeom prst="rect">
            <a:avLst/>
          </a:prstGeom>
          <a:noFill/>
        </p:spPr>
        <p:txBody>
          <a:bodyPr wrap="square" lIns="0" rIns="0" tIns="0" bIns="0">
            <a:spAutoFit/>
          </a:bodyPr>
          <a:lstStyle/>
          <a:p>
            <a:pPr algn="l">
              <a:lnSpc>
                <a:spcPct val="130000"/>
              </a:lnSpc>
              <a:spcAft>
                <a:spcPts val="200"/>
              </a:spcAft>
            </a:pPr>
            <a:r>
              <a:rPr sz="1700" b="1">
                <a:solidFill>
                  <a:srgbClr val="ED7623"/>
                </a:solidFill>
                <a:latin typeface="Helvetica Neue"/>
              </a:rPr>
              <a:t>Asígnale una voz antes de generar nada: así suena igual en los cuatro clips.</a:t>
            </a:r>
          </a:p>
          <a:p>
            <a:pPr algn="l">
              <a:lnSpc>
                <a:spcPct val="130000"/>
              </a:lnSpc>
              <a:spcAft>
                <a:spcPts val="200"/>
              </a:spcAft>
            </a:pPr>
            <a:r>
              <a:rPr sz="1500" b="0">
                <a:solidFill>
                  <a:srgbClr val="6E6E6E"/>
                </a:solidFill>
                <a:latin typeface="Helvetica Neue"/>
              </a:rPr>
              <a:t>Y créalo en el lugar del video: el personaje se trae consigo su escenario.</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ED7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914400"/>
            <a:ext cx="1828800" cy="1463040"/>
          </a:xfrm>
          <a:prstGeom prst="rect">
            <a:avLst/>
          </a:prstGeom>
          <a:noFill/>
        </p:spPr>
        <p:txBody>
          <a:bodyPr wrap="square" lIns="0" rIns="0" tIns="0" bIns="0">
            <a:spAutoFit/>
          </a:bodyPr>
          <a:lstStyle/>
          <a:p>
            <a:pPr algn="l">
              <a:spcAft>
                <a:spcPts val="600"/>
              </a:spcAft>
            </a:pPr>
            <a:r>
              <a:rPr sz="9600" b="1">
                <a:solidFill>
                  <a:srgbClr val="ED7623"/>
                </a:solidFill>
                <a:latin typeface="Helvetica Neue"/>
              </a:rPr>
              <a:t>3</a:t>
            </a:r>
          </a:p>
        </p:txBody>
      </p:sp>
      <p:sp>
        <p:nvSpPr>
          <p:cNvPr id="4" name="TextBox 3"/>
          <p:cNvSpPr txBox="1"/>
          <p:nvPr/>
        </p:nvSpPr>
        <p:spPr>
          <a:xfrm>
            <a:off x="2103120" y="1051560"/>
            <a:ext cx="8686800" cy="822960"/>
          </a:xfrm>
          <a:prstGeom prst="rect">
            <a:avLst/>
          </a:prstGeom>
          <a:noFill/>
        </p:spPr>
        <p:txBody>
          <a:bodyPr wrap="square" lIns="0" rIns="0" tIns="0" bIns="0">
            <a:spAutoFit/>
          </a:bodyPr>
          <a:lstStyle/>
          <a:p>
            <a:pPr algn="l">
              <a:spcAft>
                <a:spcPts val="600"/>
              </a:spcAft>
            </a:pPr>
            <a:r>
              <a:rPr sz="4400" b="1">
                <a:solidFill>
                  <a:srgbClr val="11406E"/>
                </a:solidFill>
                <a:latin typeface="Helvetica Neue"/>
              </a:rPr>
              <a:t>Los clips</a:t>
            </a:r>
          </a:p>
        </p:txBody>
      </p:sp>
      <p:sp>
        <p:nvSpPr>
          <p:cNvPr id="5" name="TextBox 4"/>
          <p:cNvSpPr txBox="1"/>
          <p:nvPr/>
        </p:nvSpPr>
        <p:spPr>
          <a:xfrm>
            <a:off x="2103120" y="1965960"/>
            <a:ext cx="8686800" cy="548640"/>
          </a:xfrm>
          <a:prstGeom prst="rect">
            <a:avLst/>
          </a:prstGeom>
          <a:noFill/>
        </p:spPr>
        <p:txBody>
          <a:bodyPr wrap="square" lIns="0" rIns="0" tIns="0" bIns="0">
            <a:spAutoFit/>
          </a:bodyPr>
          <a:lstStyle/>
          <a:p>
            <a:pPr algn="l">
              <a:spcAft>
                <a:spcPts val="600"/>
              </a:spcAft>
            </a:pPr>
            <a:r>
              <a:rPr sz="2000" b="0">
                <a:solidFill>
                  <a:srgbClr val="35789C"/>
                </a:solidFill>
                <a:latin typeface="Helvetica Neue"/>
              </a:rPr>
              <a:t>Cuatro, uno por frase. Ocho segundos cada uno, con voz</a:t>
            </a:r>
          </a:p>
        </p:txBody>
      </p:sp>
      <p:sp>
        <p:nvSpPr>
          <p:cNvPr id="6" name="Rounded Rectangle 5"/>
          <p:cNvSpPr/>
          <p:nvPr/>
        </p:nvSpPr>
        <p:spPr>
          <a:xfrm>
            <a:off x="2103120" y="2697480"/>
            <a:ext cx="8778240" cy="1828800"/>
          </a:xfrm>
          <a:prstGeom prst="roundRect">
            <a:avLst>
              <a:gd name="adj" fmla="val 5000"/>
            </a:avLst>
          </a:prstGeom>
          <a:solidFill>
            <a:srgbClr val="F5F3EF"/>
          </a:solidFill>
          <a:ln w="11430">
            <a:solidFill>
              <a:srgbClr val="E3E0D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560320" y="2971800"/>
            <a:ext cx="8046720" cy="1371600"/>
          </a:xfrm>
          <a:prstGeom prst="rect">
            <a:avLst/>
          </a:prstGeom>
          <a:noFill/>
        </p:spPr>
        <p:txBody>
          <a:bodyPr wrap="square" lIns="0" rIns="0" tIns="0" bIns="0">
            <a:spAutoFit/>
          </a:bodyPr>
          <a:lstStyle/>
          <a:p>
            <a:pPr algn="l">
              <a:lnSpc>
                <a:spcPct val="135000"/>
              </a:lnSpc>
              <a:spcAft>
                <a:spcPts val="400"/>
              </a:spcAft>
            </a:pPr>
            <a:r>
              <a:rPr sz="1900" b="1">
                <a:solidFill>
                  <a:srgbClr val="11406E"/>
                </a:solidFill>
                <a:latin typeface="Helvetica Neue"/>
              </a:rPr>
              <a:t>Botón +  →  eliges tu personaje  →  Agregar a la instrucción</a:t>
            </a:r>
          </a:p>
          <a:p>
            <a:pPr algn="l">
              <a:lnSpc>
                <a:spcPct val="135000"/>
              </a:lnSpc>
              <a:spcAft>
                <a:spcPts val="400"/>
              </a:spcAft>
            </a:pPr>
          </a:p>
          <a:p>
            <a:pPr algn="l">
              <a:lnSpc>
                <a:spcPct val="135000"/>
              </a:lnSpc>
              <a:spcAft>
                <a:spcPts val="400"/>
              </a:spcAft>
            </a:pPr>
            <a:r>
              <a:rPr sz="1500" b="0">
                <a:solidFill>
                  <a:srgbClr val="6E6E6E"/>
                </a:solidFill>
                <a:latin typeface="Helvetica Neue"/>
              </a:rPr>
              <a:t>10 créditos por clip. Cuatro clips, y te queda uno de repuesto.</a:t>
            </a:r>
          </a:p>
        </p:txBody>
      </p:sp>
      <p:sp>
        <p:nvSpPr>
          <p:cNvPr id="8" name="Rounded Rectangle 7"/>
          <p:cNvSpPr/>
          <p:nvPr/>
        </p:nvSpPr>
        <p:spPr>
          <a:xfrm>
            <a:off x="2103120" y="4800600"/>
            <a:ext cx="8778240" cy="1325880"/>
          </a:xfrm>
          <a:prstGeom prst="roundRect">
            <a:avLst>
              <a:gd name="adj" fmla="val 5000"/>
            </a:avLst>
          </a:prstGeom>
          <a:solidFill>
            <a:srgbClr val="FDF0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2560320" y="5029200"/>
            <a:ext cx="8046720" cy="1005840"/>
          </a:xfrm>
          <a:prstGeom prst="rect">
            <a:avLst/>
          </a:prstGeom>
          <a:noFill/>
        </p:spPr>
        <p:txBody>
          <a:bodyPr wrap="square" lIns="0" rIns="0" tIns="0" bIns="0">
            <a:spAutoFit/>
          </a:bodyPr>
          <a:lstStyle/>
          <a:p>
            <a:pPr algn="l">
              <a:lnSpc>
                <a:spcPct val="130000"/>
              </a:lnSpc>
              <a:spcAft>
                <a:spcPts val="200"/>
              </a:spcAft>
            </a:pPr>
            <a:r>
              <a:rPr sz="1700" b="1">
                <a:solidFill>
                  <a:srgbClr val="ED7623"/>
                </a:solidFill>
                <a:latin typeface="Helvetica Neue"/>
              </a:rPr>
              <a:t>Adjunta el personaje, no lo menciones por escrito.</a:t>
            </a:r>
          </a:p>
          <a:p>
            <a:pPr algn="l">
              <a:lnSpc>
                <a:spcPct val="130000"/>
              </a:lnSpc>
              <a:spcAft>
                <a:spcPts val="200"/>
              </a:spcAft>
            </a:pPr>
            <a:r>
              <a:rPr sz="1500" b="0">
                <a:solidFill>
                  <a:srgbClr val="6E6E6E"/>
                </a:solidFill>
                <a:latin typeface="Helvetica Neue"/>
              </a:rPr>
              <a:t>Si solo lo mencionas, Flow genera otra persona distinta.</a:t>
            </a:r>
          </a:p>
          <a:p>
            <a:pPr algn="l">
              <a:lnSpc>
                <a:spcPct val="130000"/>
              </a:lnSpc>
              <a:spcAft>
                <a:spcPts val="200"/>
              </a:spcAft>
            </a:pPr>
            <a:r>
              <a:rPr sz="1500" b="0">
                <a:solidFill>
                  <a:srgbClr val="6E6E6E"/>
                </a:solidFill>
                <a:latin typeface="Helvetica Neue"/>
              </a:rPr>
              <a:t>Debe responderte que usa «la entidad del personaje referenciada».</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ED7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914400"/>
            <a:ext cx="1828800" cy="1463040"/>
          </a:xfrm>
          <a:prstGeom prst="rect">
            <a:avLst/>
          </a:prstGeom>
          <a:noFill/>
        </p:spPr>
        <p:txBody>
          <a:bodyPr wrap="square" lIns="0" rIns="0" tIns="0" bIns="0">
            <a:spAutoFit/>
          </a:bodyPr>
          <a:lstStyle/>
          <a:p>
            <a:pPr algn="l">
              <a:spcAft>
                <a:spcPts val="600"/>
              </a:spcAft>
            </a:pPr>
            <a:r>
              <a:rPr sz="9600" b="1">
                <a:solidFill>
                  <a:srgbClr val="ED7623"/>
                </a:solidFill>
                <a:latin typeface="Helvetica Neue"/>
              </a:rPr>
              <a:t>4</a:t>
            </a:r>
          </a:p>
        </p:txBody>
      </p:sp>
      <p:sp>
        <p:nvSpPr>
          <p:cNvPr id="4" name="TextBox 3"/>
          <p:cNvSpPr txBox="1"/>
          <p:nvPr/>
        </p:nvSpPr>
        <p:spPr>
          <a:xfrm>
            <a:off x="2103120" y="1051560"/>
            <a:ext cx="8686800" cy="822960"/>
          </a:xfrm>
          <a:prstGeom prst="rect">
            <a:avLst/>
          </a:prstGeom>
          <a:noFill/>
        </p:spPr>
        <p:txBody>
          <a:bodyPr wrap="square" lIns="0" rIns="0" tIns="0" bIns="0">
            <a:spAutoFit/>
          </a:bodyPr>
          <a:lstStyle/>
          <a:p>
            <a:pPr algn="l">
              <a:spcAft>
                <a:spcPts val="600"/>
              </a:spcAft>
            </a:pPr>
            <a:r>
              <a:rPr sz="4400" b="1">
                <a:solidFill>
                  <a:srgbClr val="11406E"/>
                </a:solidFill>
                <a:latin typeface="Helvetica Neue"/>
              </a:rPr>
              <a:t>Unirlos</a:t>
            </a:r>
          </a:p>
        </p:txBody>
      </p:sp>
      <p:sp>
        <p:nvSpPr>
          <p:cNvPr id="5" name="TextBox 4"/>
          <p:cNvSpPr txBox="1"/>
          <p:nvPr/>
        </p:nvSpPr>
        <p:spPr>
          <a:xfrm>
            <a:off x="2103120" y="1965960"/>
            <a:ext cx="8686800" cy="548640"/>
          </a:xfrm>
          <a:prstGeom prst="rect">
            <a:avLst/>
          </a:prstGeom>
          <a:noFill/>
        </p:spPr>
        <p:txBody>
          <a:bodyPr wrap="square" lIns="0" rIns="0" tIns="0" bIns="0">
            <a:spAutoFit/>
          </a:bodyPr>
          <a:lstStyle/>
          <a:p>
            <a:pPr algn="l">
              <a:spcAft>
                <a:spcPts val="600"/>
              </a:spcAft>
            </a:pPr>
            <a:r>
              <a:rPr sz="2000" b="0">
                <a:solidFill>
                  <a:srgbClr val="35789C"/>
                </a:solidFill>
                <a:latin typeface="Helvetica Neue"/>
              </a:rPr>
              <a:t>Los cuatro en un solo archivo</a:t>
            </a:r>
          </a:p>
        </p:txBody>
      </p:sp>
      <p:sp>
        <p:nvSpPr>
          <p:cNvPr id="6" name="Rounded Rectangle 5"/>
          <p:cNvSpPr/>
          <p:nvPr/>
        </p:nvSpPr>
        <p:spPr>
          <a:xfrm>
            <a:off x="2103120" y="2697480"/>
            <a:ext cx="4206240" cy="2240280"/>
          </a:xfrm>
          <a:prstGeom prst="roundRect">
            <a:avLst>
              <a:gd name="adj" fmla="val 5000"/>
            </a:avLst>
          </a:prstGeom>
          <a:solidFill>
            <a:srgbClr val="F5F3EF"/>
          </a:solidFill>
          <a:ln w="11430">
            <a:solidFill>
              <a:srgbClr val="E3E0D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468880" y="2971800"/>
            <a:ext cx="3566160" cy="1828800"/>
          </a:xfrm>
          <a:prstGeom prst="rect">
            <a:avLst/>
          </a:prstGeom>
          <a:noFill/>
        </p:spPr>
        <p:txBody>
          <a:bodyPr wrap="square" lIns="0" rIns="0" tIns="0" bIns="0">
            <a:spAutoFit/>
          </a:bodyPr>
          <a:lstStyle/>
          <a:p>
            <a:pPr algn="l">
              <a:lnSpc>
                <a:spcPct val="130000"/>
              </a:lnSpc>
              <a:spcAft>
                <a:spcPts val="300"/>
              </a:spcAft>
            </a:pPr>
            <a:r>
              <a:rPr sz="2200" b="1">
                <a:solidFill>
                  <a:srgbClr val="ED7623"/>
                </a:solidFill>
                <a:latin typeface="Helvetica Neue"/>
              </a:rPr>
              <a:t>En Flow</a:t>
            </a:r>
          </a:p>
          <a:p>
            <a:pPr algn="l">
              <a:lnSpc>
                <a:spcPct val="130000"/>
              </a:lnSpc>
              <a:spcAft>
                <a:spcPts val="300"/>
              </a:spcAft>
            </a:pPr>
          </a:p>
          <a:p>
            <a:pPr algn="l">
              <a:lnSpc>
                <a:spcPct val="130000"/>
              </a:lnSpc>
              <a:spcAft>
                <a:spcPts val="300"/>
              </a:spcAft>
            </a:pPr>
            <a:r>
              <a:rPr sz="1500" b="0">
                <a:solidFill>
                  <a:srgbClr val="6E6E6E"/>
                </a:solidFill>
                <a:latin typeface="Helvetica Neue"/>
              </a:rPr>
              <a:t>Abres un clip, y en la línea de tiempo: + → Agregar clip. Sin salir de la herramienta.</a:t>
            </a:r>
          </a:p>
        </p:txBody>
      </p:sp>
      <p:sp>
        <p:nvSpPr>
          <p:cNvPr id="8" name="Rounded Rectangle 7"/>
          <p:cNvSpPr/>
          <p:nvPr/>
        </p:nvSpPr>
        <p:spPr>
          <a:xfrm>
            <a:off x="6675120" y="2697480"/>
            <a:ext cx="4206240" cy="2240280"/>
          </a:xfrm>
          <a:prstGeom prst="roundRect">
            <a:avLst>
              <a:gd name="adj" fmla="val 5000"/>
            </a:avLst>
          </a:prstGeom>
          <a:solidFill>
            <a:srgbClr val="F5F3EF"/>
          </a:solidFill>
          <a:ln w="11430">
            <a:solidFill>
              <a:srgbClr val="E3E0D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040880" y="2971800"/>
            <a:ext cx="3566160" cy="1828800"/>
          </a:xfrm>
          <a:prstGeom prst="rect">
            <a:avLst/>
          </a:prstGeom>
          <a:noFill/>
        </p:spPr>
        <p:txBody>
          <a:bodyPr wrap="square" lIns="0" rIns="0" tIns="0" bIns="0">
            <a:spAutoFit/>
          </a:bodyPr>
          <a:lstStyle/>
          <a:p>
            <a:pPr algn="l">
              <a:lnSpc>
                <a:spcPct val="130000"/>
              </a:lnSpc>
              <a:spcAft>
                <a:spcPts val="300"/>
              </a:spcAft>
            </a:pPr>
            <a:r>
              <a:rPr sz="2200" b="1">
                <a:solidFill>
                  <a:srgbClr val="35789C"/>
                </a:solidFill>
                <a:latin typeface="Helvetica Neue"/>
              </a:rPr>
              <a:t>En ChatGPT</a:t>
            </a:r>
          </a:p>
          <a:p>
            <a:pPr algn="l">
              <a:lnSpc>
                <a:spcPct val="130000"/>
              </a:lnSpc>
              <a:spcAft>
                <a:spcPts val="300"/>
              </a:spcAft>
            </a:pPr>
          </a:p>
          <a:p>
            <a:pPr algn="l">
              <a:lnSpc>
                <a:spcPct val="130000"/>
              </a:lnSpc>
              <a:spcAft>
                <a:spcPts val="300"/>
              </a:spcAft>
            </a:pPr>
            <a:r>
              <a:rPr sz="1500" b="0">
                <a:solidFill>
                  <a:srgbClr val="6E6E6E"/>
                </a:solidFill>
                <a:latin typeface="Helvetica Neue"/>
              </a:rPr>
              <a:t>Si lo de Flow falla: subes los clips y le pides que los una. Quince segundos.</a:t>
            </a:r>
          </a:p>
        </p:txBody>
      </p:sp>
      <p:sp>
        <p:nvSpPr>
          <p:cNvPr id="10" name="Rounded Rectangle 9"/>
          <p:cNvSpPr/>
          <p:nvPr/>
        </p:nvSpPr>
        <p:spPr>
          <a:xfrm>
            <a:off x="2103120" y="5166360"/>
            <a:ext cx="8778240" cy="914400"/>
          </a:xfrm>
          <a:prstGeom prst="roundRect">
            <a:avLst>
              <a:gd name="adj" fmla="val 5000"/>
            </a:avLst>
          </a:prstGeom>
          <a:solidFill>
            <a:srgbClr val="ECF3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560320" y="5413248"/>
            <a:ext cx="8046720" cy="548640"/>
          </a:xfrm>
          <a:prstGeom prst="rect">
            <a:avLst/>
          </a:prstGeom>
          <a:noFill/>
        </p:spPr>
        <p:txBody>
          <a:bodyPr wrap="square" lIns="0" rIns="0" tIns="0" bIns="0">
            <a:spAutoFit/>
          </a:bodyPr>
          <a:lstStyle/>
          <a:p>
            <a:pPr algn="l">
              <a:spcAft>
                <a:spcPts val="600"/>
              </a:spcAft>
            </a:pPr>
            <a:r>
              <a:rPr sz="1500" b="1">
                <a:solidFill>
                  <a:srgbClr val="35789C"/>
                </a:solidFill>
                <a:latin typeface="Helvetica Neue"/>
              </a:rPr>
              <a:t>Gemini no puede unir videos y ChatGPT sí. No es inteligencia: son las herramientas que le conectaron.</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ED7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914400"/>
            <a:ext cx="1828800" cy="1463040"/>
          </a:xfrm>
          <a:prstGeom prst="rect">
            <a:avLst/>
          </a:prstGeom>
          <a:noFill/>
        </p:spPr>
        <p:txBody>
          <a:bodyPr wrap="square" lIns="0" rIns="0" tIns="0" bIns="0">
            <a:spAutoFit/>
          </a:bodyPr>
          <a:lstStyle/>
          <a:p>
            <a:pPr algn="l">
              <a:spcAft>
                <a:spcPts val="600"/>
              </a:spcAft>
            </a:pPr>
            <a:r>
              <a:rPr sz="9600" b="1">
                <a:solidFill>
                  <a:srgbClr val="ED7623"/>
                </a:solidFill>
                <a:latin typeface="Helvetica Neue"/>
              </a:rPr>
              <a:t>5</a:t>
            </a:r>
          </a:p>
        </p:txBody>
      </p:sp>
      <p:sp>
        <p:nvSpPr>
          <p:cNvPr id="4" name="TextBox 3"/>
          <p:cNvSpPr txBox="1"/>
          <p:nvPr/>
        </p:nvSpPr>
        <p:spPr>
          <a:xfrm>
            <a:off x="2103120" y="1051560"/>
            <a:ext cx="8686800" cy="822960"/>
          </a:xfrm>
          <a:prstGeom prst="rect">
            <a:avLst/>
          </a:prstGeom>
          <a:noFill/>
        </p:spPr>
        <p:txBody>
          <a:bodyPr wrap="square" lIns="0" rIns="0" tIns="0" bIns="0">
            <a:spAutoFit/>
          </a:bodyPr>
          <a:lstStyle/>
          <a:p>
            <a:pPr algn="l">
              <a:spcAft>
                <a:spcPts val="600"/>
              </a:spcAft>
            </a:pPr>
            <a:r>
              <a:rPr sz="4400" b="1">
                <a:solidFill>
                  <a:srgbClr val="11406E"/>
                </a:solidFill>
                <a:latin typeface="Helvetica Neue"/>
              </a:rPr>
              <a:t>Los remates</a:t>
            </a:r>
          </a:p>
        </p:txBody>
      </p:sp>
      <p:sp>
        <p:nvSpPr>
          <p:cNvPr id="5" name="TextBox 4"/>
          <p:cNvSpPr txBox="1"/>
          <p:nvPr/>
        </p:nvSpPr>
        <p:spPr>
          <a:xfrm>
            <a:off x="2103120" y="1965960"/>
            <a:ext cx="8686800" cy="548640"/>
          </a:xfrm>
          <a:prstGeom prst="rect">
            <a:avLst/>
          </a:prstGeom>
          <a:noFill/>
        </p:spPr>
        <p:txBody>
          <a:bodyPr wrap="square" lIns="0" rIns="0" tIns="0" bIns="0">
            <a:spAutoFit/>
          </a:bodyPr>
          <a:lstStyle/>
          <a:p>
            <a:pPr algn="l">
              <a:spcAft>
                <a:spcPts val="600"/>
              </a:spcAft>
            </a:pPr>
            <a:r>
              <a:rPr sz="2000" b="0">
                <a:solidFill>
                  <a:srgbClr val="35789C"/>
                </a:solidFill>
                <a:latin typeface="Helvetica Neue"/>
              </a:rPr>
              <a:t>En CapCut, sobre el video ya unido</a:t>
            </a:r>
          </a:p>
        </p:txBody>
      </p:sp>
      <p:sp>
        <p:nvSpPr>
          <p:cNvPr id="6" name="Rounded Rectangle 5"/>
          <p:cNvSpPr/>
          <p:nvPr/>
        </p:nvSpPr>
        <p:spPr>
          <a:xfrm>
            <a:off x="2103120" y="2697480"/>
            <a:ext cx="8778240" cy="822960"/>
          </a:xfrm>
          <a:prstGeom prst="roundRect">
            <a:avLst>
              <a:gd name="adj" fmla="val 5000"/>
            </a:avLst>
          </a:prstGeom>
          <a:solidFill>
            <a:srgbClr val="F5F3EF"/>
          </a:solidFill>
          <a:ln w="11430">
            <a:solidFill>
              <a:srgbClr val="E3E0D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468880" y="2825496"/>
            <a:ext cx="457200" cy="548640"/>
          </a:xfrm>
          <a:prstGeom prst="rect">
            <a:avLst/>
          </a:prstGeom>
          <a:noFill/>
        </p:spPr>
        <p:txBody>
          <a:bodyPr wrap="square" lIns="0" rIns="0" tIns="0" bIns="0">
            <a:spAutoFit/>
          </a:bodyPr>
          <a:lstStyle/>
          <a:p>
            <a:pPr algn="l">
              <a:spcAft>
                <a:spcPts val="600"/>
              </a:spcAft>
            </a:pPr>
            <a:r>
              <a:rPr sz="2400" b="1">
                <a:solidFill>
                  <a:srgbClr val="ED7623"/>
                </a:solidFill>
                <a:latin typeface="Helvetica Neue"/>
              </a:rPr>
              <a:t>1</a:t>
            </a:r>
          </a:p>
        </p:txBody>
      </p:sp>
      <p:sp>
        <p:nvSpPr>
          <p:cNvPr id="8" name="TextBox 7"/>
          <p:cNvSpPr txBox="1"/>
          <p:nvPr/>
        </p:nvSpPr>
        <p:spPr>
          <a:xfrm>
            <a:off x="3108960" y="2880360"/>
            <a:ext cx="7498079" cy="548640"/>
          </a:xfrm>
          <a:prstGeom prst="rect">
            <a:avLst/>
          </a:prstGeom>
          <a:noFill/>
        </p:spPr>
        <p:txBody>
          <a:bodyPr wrap="square" lIns="0" rIns="0" tIns="0" bIns="0">
            <a:spAutoFit/>
          </a:bodyPr>
          <a:lstStyle/>
          <a:p>
            <a:pPr algn="l">
              <a:lnSpc>
                <a:spcPct val="115000"/>
              </a:lnSpc>
              <a:spcAft>
                <a:spcPts val="600"/>
              </a:spcAft>
            </a:pPr>
            <a:r>
              <a:rPr sz="1800" b="0">
                <a:solidFill>
                  <a:srgbClr val="11406E"/>
                </a:solidFill>
                <a:latin typeface="Helvetica Neue"/>
              </a:rPr>
              <a:t>Subtítulos automáticos — y revisarlos</a:t>
            </a:r>
          </a:p>
        </p:txBody>
      </p:sp>
      <p:sp>
        <p:nvSpPr>
          <p:cNvPr id="9" name="Rounded Rectangle 8"/>
          <p:cNvSpPr/>
          <p:nvPr/>
        </p:nvSpPr>
        <p:spPr>
          <a:xfrm>
            <a:off x="2103120" y="3703320"/>
            <a:ext cx="8778240" cy="822960"/>
          </a:xfrm>
          <a:prstGeom prst="roundRect">
            <a:avLst>
              <a:gd name="adj" fmla="val 5000"/>
            </a:avLst>
          </a:prstGeom>
          <a:solidFill>
            <a:srgbClr val="F5F3EF"/>
          </a:solidFill>
          <a:ln w="11430">
            <a:solidFill>
              <a:srgbClr val="E3E0D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468880" y="3831336"/>
            <a:ext cx="457200" cy="548640"/>
          </a:xfrm>
          <a:prstGeom prst="rect">
            <a:avLst/>
          </a:prstGeom>
          <a:noFill/>
        </p:spPr>
        <p:txBody>
          <a:bodyPr wrap="square" lIns="0" rIns="0" tIns="0" bIns="0">
            <a:spAutoFit/>
          </a:bodyPr>
          <a:lstStyle/>
          <a:p>
            <a:pPr algn="l">
              <a:spcAft>
                <a:spcPts val="600"/>
              </a:spcAft>
            </a:pPr>
            <a:r>
              <a:rPr sz="2400" b="1">
                <a:solidFill>
                  <a:srgbClr val="ED7623"/>
                </a:solidFill>
                <a:latin typeface="Helvetica Neue"/>
              </a:rPr>
              <a:t>2</a:t>
            </a:r>
          </a:p>
        </p:txBody>
      </p:sp>
      <p:sp>
        <p:nvSpPr>
          <p:cNvPr id="11" name="TextBox 10"/>
          <p:cNvSpPr txBox="1"/>
          <p:nvPr/>
        </p:nvSpPr>
        <p:spPr>
          <a:xfrm>
            <a:off x="3108960" y="3886200"/>
            <a:ext cx="7498079" cy="548640"/>
          </a:xfrm>
          <a:prstGeom prst="rect">
            <a:avLst/>
          </a:prstGeom>
          <a:noFill/>
        </p:spPr>
        <p:txBody>
          <a:bodyPr wrap="square" lIns="0" rIns="0" tIns="0" bIns="0">
            <a:spAutoFit/>
          </a:bodyPr>
          <a:lstStyle/>
          <a:p>
            <a:pPr algn="l">
              <a:lnSpc>
                <a:spcPct val="115000"/>
              </a:lnSpc>
              <a:spcAft>
                <a:spcPts val="600"/>
              </a:spcAft>
            </a:pPr>
            <a:r>
              <a:rPr sz="1800" b="0">
                <a:solidFill>
                  <a:srgbClr val="11406E"/>
                </a:solidFill>
                <a:latin typeface="Helvetica Neue"/>
              </a:rPr>
              <a:t>Música de fondo al 10 o 15 % del volumen</a:t>
            </a:r>
          </a:p>
        </p:txBody>
      </p:sp>
      <p:sp>
        <p:nvSpPr>
          <p:cNvPr id="12" name="Rounded Rectangle 11"/>
          <p:cNvSpPr/>
          <p:nvPr/>
        </p:nvSpPr>
        <p:spPr>
          <a:xfrm>
            <a:off x="2103120" y="4709160"/>
            <a:ext cx="8778240" cy="822960"/>
          </a:xfrm>
          <a:prstGeom prst="roundRect">
            <a:avLst>
              <a:gd name="adj" fmla="val 5000"/>
            </a:avLst>
          </a:prstGeom>
          <a:solidFill>
            <a:srgbClr val="F5F3EF"/>
          </a:solidFill>
          <a:ln w="11430">
            <a:solidFill>
              <a:srgbClr val="E3E0D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468880" y="4837176"/>
            <a:ext cx="457200" cy="548640"/>
          </a:xfrm>
          <a:prstGeom prst="rect">
            <a:avLst/>
          </a:prstGeom>
          <a:noFill/>
        </p:spPr>
        <p:txBody>
          <a:bodyPr wrap="square" lIns="0" rIns="0" tIns="0" bIns="0">
            <a:spAutoFit/>
          </a:bodyPr>
          <a:lstStyle/>
          <a:p>
            <a:pPr algn="l">
              <a:spcAft>
                <a:spcPts val="600"/>
              </a:spcAft>
            </a:pPr>
            <a:r>
              <a:rPr sz="2400" b="1">
                <a:solidFill>
                  <a:srgbClr val="ED7623"/>
                </a:solidFill>
                <a:latin typeface="Helvetica Neue"/>
              </a:rPr>
              <a:t>3</a:t>
            </a:r>
          </a:p>
        </p:txBody>
      </p:sp>
      <p:sp>
        <p:nvSpPr>
          <p:cNvPr id="14" name="TextBox 13"/>
          <p:cNvSpPr txBox="1"/>
          <p:nvPr/>
        </p:nvSpPr>
        <p:spPr>
          <a:xfrm>
            <a:off x="3108960" y="4892040"/>
            <a:ext cx="7498079" cy="548640"/>
          </a:xfrm>
          <a:prstGeom prst="rect">
            <a:avLst/>
          </a:prstGeom>
          <a:noFill/>
        </p:spPr>
        <p:txBody>
          <a:bodyPr wrap="square" lIns="0" rIns="0" tIns="0" bIns="0">
            <a:spAutoFit/>
          </a:bodyPr>
          <a:lstStyle/>
          <a:p>
            <a:pPr algn="l">
              <a:lnSpc>
                <a:spcPct val="115000"/>
              </a:lnSpc>
              <a:spcAft>
                <a:spcPts val="600"/>
              </a:spcAft>
            </a:pPr>
            <a:r>
              <a:rPr sz="1800" b="0">
                <a:solidFill>
                  <a:srgbClr val="11406E"/>
                </a:solidFill>
                <a:latin typeface="Helvetica Neue"/>
              </a:rPr>
              <a:t>Cortar el silencio entre clip y clip</a:t>
            </a:r>
          </a:p>
        </p:txBody>
      </p:sp>
      <p:sp>
        <p:nvSpPr>
          <p:cNvPr id="15" name="Rounded Rectangle 14"/>
          <p:cNvSpPr/>
          <p:nvPr/>
        </p:nvSpPr>
        <p:spPr>
          <a:xfrm>
            <a:off x="2103120" y="5806440"/>
            <a:ext cx="8778240" cy="777240"/>
          </a:xfrm>
          <a:prstGeom prst="roundRect">
            <a:avLst>
              <a:gd name="adj" fmla="val 5000"/>
            </a:avLst>
          </a:prstGeom>
          <a:solidFill>
            <a:srgbClr val="ECF3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2514600" y="6007608"/>
            <a:ext cx="8138160" cy="457200"/>
          </a:xfrm>
          <a:prstGeom prst="rect">
            <a:avLst/>
          </a:prstGeom>
          <a:noFill/>
        </p:spPr>
        <p:txBody>
          <a:bodyPr wrap="square" lIns="0" rIns="0" tIns="0" bIns="0">
            <a:spAutoFit/>
          </a:bodyPr>
          <a:lstStyle/>
          <a:p>
            <a:pPr algn="l">
              <a:spcAft>
                <a:spcPts val="600"/>
              </a:spcAft>
            </a:pPr>
            <a:r>
              <a:rPr sz="1600" b="1">
                <a:solidFill>
                  <a:srgbClr val="35789C"/>
                </a:solidFill>
                <a:latin typeface="Helvetica Neue"/>
              </a:rPr>
              <a:t>Música muy alta y subtítulos sin revisar: las dos marcas de un video amateur.</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ED7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502920"/>
            <a:ext cx="10515600" cy="365760"/>
          </a:xfrm>
          <a:prstGeom prst="rect">
            <a:avLst/>
          </a:prstGeom>
          <a:noFill/>
        </p:spPr>
        <p:txBody>
          <a:bodyPr wrap="square" lIns="0" rIns="0" tIns="0" bIns="0">
            <a:spAutoFit/>
          </a:bodyPr>
          <a:lstStyle/>
          <a:p>
            <a:pPr algn="l">
              <a:spcAft>
                <a:spcPts val="600"/>
              </a:spcAft>
            </a:pPr>
            <a:r>
              <a:rPr sz="1200" b="1">
                <a:solidFill>
                  <a:srgbClr val="35789C"/>
                </a:solidFill>
                <a:latin typeface="Helvetica Neue"/>
              </a:rPr>
              <a:t>LO QUE VAN A VER Y VAN A PREGUNTAR</a:t>
            </a:r>
          </a:p>
        </p:txBody>
      </p:sp>
      <p:sp>
        <p:nvSpPr>
          <p:cNvPr id="4" name="TextBox 3"/>
          <p:cNvSpPr txBox="1"/>
          <p:nvPr/>
        </p:nvSpPr>
        <p:spPr>
          <a:xfrm>
            <a:off x="822960" y="960120"/>
            <a:ext cx="10607040" cy="1188720"/>
          </a:xfrm>
          <a:prstGeom prst="rect">
            <a:avLst/>
          </a:prstGeom>
          <a:noFill/>
        </p:spPr>
        <p:txBody>
          <a:bodyPr wrap="square" lIns="0" rIns="0" tIns="0" bIns="0">
            <a:spAutoFit/>
          </a:bodyPr>
          <a:lstStyle/>
          <a:p>
            <a:pPr algn="l">
              <a:lnSpc>
                <a:spcPct val="105000"/>
              </a:lnSpc>
              <a:spcAft>
                <a:spcPts val="600"/>
              </a:spcAft>
            </a:pPr>
            <a:r>
              <a:rPr sz="3600" b="1">
                <a:solidFill>
                  <a:srgbClr val="11406E"/>
                </a:solidFill>
                <a:latin typeface="Helvetica Neue"/>
              </a:rPr>
              <a:t>Los avatares de Flow: todavía no</a:t>
            </a:r>
          </a:p>
        </p:txBody>
      </p:sp>
      <p:sp>
        <p:nvSpPr>
          <p:cNvPr id="5" name="TextBox 4"/>
          <p:cNvSpPr txBox="1"/>
          <p:nvPr/>
        </p:nvSpPr>
        <p:spPr>
          <a:xfrm>
            <a:off x="822960" y="2103120"/>
            <a:ext cx="10515600" cy="731520"/>
          </a:xfrm>
          <a:prstGeom prst="rect">
            <a:avLst/>
          </a:prstGeom>
          <a:noFill/>
        </p:spPr>
        <p:txBody>
          <a:bodyPr wrap="square" lIns="0" rIns="0" tIns="0" bIns="0">
            <a:spAutoFit/>
          </a:bodyPr>
          <a:lstStyle/>
          <a:p>
            <a:pPr algn="l">
              <a:lnSpc>
                <a:spcPct val="130000"/>
              </a:lnSpc>
              <a:spcAft>
                <a:spcPts val="200"/>
              </a:spcAft>
            </a:pPr>
            <a:r>
              <a:rPr sz="2000" b="0">
                <a:solidFill>
                  <a:srgbClr val="6E6E6E"/>
                </a:solidFill>
                <a:latin typeface="Helvetica Neue"/>
              </a:rPr>
              <a:t>Graba tu cara y tu voz con una videoselfie y te pone a ti en el video.</a:t>
            </a:r>
          </a:p>
          <a:p>
            <a:pPr algn="l">
              <a:lnSpc>
                <a:spcPct val="130000"/>
              </a:lnSpc>
              <a:spcAft>
                <a:spcPts val="200"/>
              </a:spcAft>
            </a:pPr>
            <a:r>
              <a:rPr sz="2000" b="0">
                <a:solidFill>
                  <a:srgbClr val="6E6E6E"/>
                </a:solidFill>
                <a:latin typeface="Helvetica Neue"/>
              </a:rPr>
              <a:t>Suena perfecto. Pero la herramienta misma avisa que:</a:t>
            </a:r>
          </a:p>
        </p:txBody>
      </p:sp>
      <p:sp>
        <p:nvSpPr>
          <p:cNvPr id="6" name="Rounded Rectangle 5"/>
          <p:cNvSpPr/>
          <p:nvPr/>
        </p:nvSpPr>
        <p:spPr>
          <a:xfrm>
            <a:off x="822960" y="3429000"/>
            <a:ext cx="10607040" cy="731520"/>
          </a:xfrm>
          <a:prstGeom prst="roundRect">
            <a:avLst>
              <a:gd name="adj" fmla="val 5000"/>
            </a:avLst>
          </a:prstGeom>
          <a:solidFill>
            <a:srgbClr val="F5F3EF"/>
          </a:solidFill>
          <a:ln w="11430">
            <a:solidFill>
              <a:srgbClr val="E3E0D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188720" y="3575304"/>
            <a:ext cx="2743200" cy="457200"/>
          </a:xfrm>
          <a:prstGeom prst="rect">
            <a:avLst/>
          </a:prstGeom>
          <a:noFill/>
        </p:spPr>
        <p:txBody>
          <a:bodyPr wrap="square" lIns="0" rIns="0" tIns="0" bIns="0">
            <a:spAutoFit/>
          </a:bodyPr>
          <a:lstStyle/>
          <a:p>
            <a:pPr algn="l">
              <a:spcAft>
                <a:spcPts val="600"/>
              </a:spcAft>
            </a:pPr>
            <a:r>
              <a:rPr sz="1900" b="1">
                <a:solidFill>
                  <a:srgbClr val="ED7623"/>
                </a:solidFill>
                <a:latin typeface="Helvetica Neue"/>
              </a:rPr>
              <a:t>Experimental</a:t>
            </a:r>
          </a:p>
        </p:txBody>
      </p:sp>
      <p:sp>
        <p:nvSpPr>
          <p:cNvPr id="8" name="TextBox 7"/>
          <p:cNvSpPr txBox="1"/>
          <p:nvPr/>
        </p:nvSpPr>
        <p:spPr>
          <a:xfrm>
            <a:off x="4114800" y="3602736"/>
            <a:ext cx="6949440" cy="457200"/>
          </a:xfrm>
          <a:prstGeom prst="rect">
            <a:avLst/>
          </a:prstGeom>
          <a:noFill/>
        </p:spPr>
        <p:txBody>
          <a:bodyPr wrap="square" lIns="0" rIns="0" tIns="0" bIns="0">
            <a:spAutoFit/>
          </a:bodyPr>
          <a:lstStyle/>
          <a:p>
            <a:pPr algn="l">
              <a:spcAft>
                <a:spcPts val="600"/>
              </a:spcAft>
            </a:pPr>
            <a:r>
              <a:rPr sz="1600" b="0">
                <a:solidFill>
                  <a:srgbClr val="6E6E6E"/>
                </a:solidFill>
                <a:latin typeface="Helvetica Neue"/>
              </a:rPr>
              <a:t>La propia pantalla lo dice</a:t>
            </a:r>
          </a:p>
        </p:txBody>
      </p:sp>
      <p:sp>
        <p:nvSpPr>
          <p:cNvPr id="9" name="Rounded Rectangle 8"/>
          <p:cNvSpPr/>
          <p:nvPr/>
        </p:nvSpPr>
        <p:spPr>
          <a:xfrm>
            <a:off x="822960" y="4297680"/>
            <a:ext cx="10607040" cy="731520"/>
          </a:xfrm>
          <a:prstGeom prst="roundRect">
            <a:avLst>
              <a:gd name="adj" fmla="val 5000"/>
            </a:avLst>
          </a:prstGeom>
          <a:solidFill>
            <a:srgbClr val="F5F3EF"/>
          </a:solidFill>
          <a:ln w="11430">
            <a:solidFill>
              <a:srgbClr val="E3E0D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188720" y="4443984"/>
            <a:ext cx="2743200" cy="457200"/>
          </a:xfrm>
          <a:prstGeom prst="rect">
            <a:avLst/>
          </a:prstGeom>
          <a:noFill/>
        </p:spPr>
        <p:txBody>
          <a:bodyPr wrap="square" lIns="0" rIns="0" tIns="0" bIns="0">
            <a:spAutoFit/>
          </a:bodyPr>
          <a:lstStyle/>
          <a:p>
            <a:pPr algn="l">
              <a:spcAft>
                <a:spcPts val="600"/>
              </a:spcAft>
            </a:pPr>
            <a:r>
              <a:rPr sz="1900" b="1">
                <a:solidFill>
                  <a:srgbClr val="ED7623"/>
                </a:solidFill>
                <a:latin typeface="Helvetica Neue"/>
              </a:rPr>
              <a:t>Solo en inglés</a:t>
            </a:r>
          </a:p>
        </p:txBody>
      </p:sp>
      <p:sp>
        <p:nvSpPr>
          <p:cNvPr id="11" name="TextBox 10"/>
          <p:cNvSpPr txBox="1"/>
          <p:nvPr/>
        </p:nvSpPr>
        <p:spPr>
          <a:xfrm>
            <a:off x="4114800" y="4471416"/>
            <a:ext cx="6949440" cy="457200"/>
          </a:xfrm>
          <a:prstGeom prst="rect">
            <a:avLst/>
          </a:prstGeom>
          <a:noFill/>
        </p:spPr>
        <p:txBody>
          <a:bodyPr wrap="square" lIns="0" rIns="0" tIns="0" bIns="0">
            <a:spAutoFit/>
          </a:bodyPr>
          <a:lstStyle/>
          <a:p>
            <a:pPr algn="l">
              <a:spcAft>
                <a:spcPts val="600"/>
              </a:spcAft>
            </a:pPr>
            <a:r>
              <a:rPr sz="1600" b="0">
                <a:solidFill>
                  <a:srgbClr val="6E6E6E"/>
                </a:solidFill>
                <a:latin typeface="Helvetica Neue"/>
              </a:rPr>
              <a:t>El registro no está disponible en español</a:t>
            </a:r>
          </a:p>
        </p:txBody>
      </p:sp>
      <p:sp>
        <p:nvSpPr>
          <p:cNvPr id="12" name="Rounded Rectangle 11"/>
          <p:cNvSpPr/>
          <p:nvPr/>
        </p:nvSpPr>
        <p:spPr>
          <a:xfrm>
            <a:off x="822960" y="5166360"/>
            <a:ext cx="10607040" cy="731520"/>
          </a:xfrm>
          <a:prstGeom prst="roundRect">
            <a:avLst>
              <a:gd name="adj" fmla="val 5000"/>
            </a:avLst>
          </a:prstGeom>
          <a:solidFill>
            <a:srgbClr val="F5F3EF"/>
          </a:solidFill>
          <a:ln w="11430">
            <a:solidFill>
              <a:srgbClr val="E3E0D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188720" y="5312664"/>
            <a:ext cx="2743200" cy="457200"/>
          </a:xfrm>
          <a:prstGeom prst="rect">
            <a:avLst/>
          </a:prstGeom>
          <a:noFill/>
        </p:spPr>
        <p:txBody>
          <a:bodyPr wrap="square" lIns="0" rIns="0" tIns="0" bIns="0">
            <a:spAutoFit/>
          </a:bodyPr>
          <a:lstStyle/>
          <a:p>
            <a:pPr algn="l">
              <a:spcAft>
                <a:spcPts val="600"/>
              </a:spcAft>
            </a:pPr>
            <a:r>
              <a:rPr sz="1900" b="1">
                <a:solidFill>
                  <a:srgbClr val="ED7623"/>
                </a:solidFill>
                <a:latin typeface="Helvetica Neue"/>
              </a:rPr>
              <a:t>Varios intentos</a:t>
            </a:r>
          </a:p>
        </p:txBody>
      </p:sp>
      <p:sp>
        <p:nvSpPr>
          <p:cNvPr id="14" name="TextBox 13"/>
          <p:cNvSpPr txBox="1"/>
          <p:nvPr/>
        </p:nvSpPr>
        <p:spPr>
          <a:xfrm>
            <a:off x="4114800" y="5340096"/>
            <a:ext cx="6949440" cy="457200"/>
          </a:xfrm>
          <a:prstGeom prst="rect">
            <a:avLst/>
          </a:prstGeom>
          <a:noFill/>
        </p:spPr>
        <p:txBody>
          <a:bodyPr wrap="square" lIns="0" rIns="0" tIns="0" bIns="0">
            <a:spAutoFit/>
          </a:bodyPr>
          <a:lstStyle/>
          <a:p>
            <a:pPr algn="l">
              <a:spcAft>
                <a:spcPts val="600"/>
              </a:spcAft>
            </a:pPr>
            <a:r>
              <a:rPr sz="1600" b="0">
                <a:solidFill>
                  <a:srgbClr val="6E6E6E"/>
                </a:solidFill>
                <a:latin typeface="Helvetica Neue"/>
              </a:rPr>
              <a:t>«Es posible que requiera varios intentos»</a:t>
            </a:r>
          </a:p>
        </p:txBody>
      </p:sp>
      <p:sp>
        <p:nvSpPr>
          <p:cNvPr id="15" name="Rounded Rectangle 14"/>
          <p:cNvSpPr/>
          <p:nvPr/>
        </p:nvSpPr>
        <p:spPr>
          <a:xfrm>
            <a:off x="822960" y="6126480"/>
            <a:ext cx="10515600" cy="685800"/>
          </a:xfrm>
          <a:prstGeom prst="roundRect">
            <a:avLst>
              <a:gd name="adj" fmla="val 5000"/>
            </a:avLst>
          </a:prstGeom>
          <a:solidFill>
            <a:srgbClr val="FDF0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234440" y="6291072"/>
            <a:ext cx="9692640" cy="457200"/>
          </a:xfrm>
          <a:prstGeom prst="rect">
            <a:avLst/>
          </a:prstGeom>
          <a:noFill/>
        </p:spPr>
        <p:txBody>
          <a:bodyPr wrap="square" lIns="0" rIns="0" tIns="0" bIns="0">
            <a:spAutoFit/>
          </a:bodyPr>
          <a:lstStyle/>
          <a:p>
            <a:pPr algn="l">
              <a:spcAft>
                <a:spcPts val="600"/>
              </a:spcAft>
            </a:pPr>
            <a:r>
              <a:rPr sz="1600" b="1">
                <a:solidFill>
                  <a:srgbClr val="ED7623"/>
                </a:solidFill>
                <a:latin typeface="Helvetica Neue"/>
              </a:rPr>
              <a:t>Personajes hace el trabajo, es gratis, y funciona en español.</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ED7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502920"/>
            <a:ext cx="10515600" cy="365760"/>
          </a:xfrm>
          <a:prstGeom prst="rect">
            <a:avLst/>
          </a:prstGeom>
          <a:noFill/>
        </p:spPr>
        <p:txBody>
          <a:bodyPr wrap="square" lIns="0" rIns="0" tIns="0" bIns="0">
            <a:spAutoFit/>
          </a:bodyPr>
          <a:lstStyle/>
          <a:p>
            <a:pPr algn="l">
              <a:spcAft>
                <a:spcPts val="600"/>
              </a:spcAft>
            </a:pPr>
            <a:r>
              <a:rPr sz="1200" b="1">
                <a:solidFill>
                  <a:srgbClr val="35789C"/>
                </a:solidFill>
                <a:latin typeface="Helvetica Neue"/>
              </a:rPr>
              <a:t>SI NO TIENES CUPO DE VIDEO</a:t>
            </a:r>
          </a:p>
        </p:txBody>
      </p:sp>
      <p:sp>
        <p:nvSpPr>
          <p:cNvPr id="4" name="TextBox 3"/>
          <p:cNvSpPr txBox="1"/>
          <p:nvPr/>
        </p:nvSpPr>
        <p:spPr>
          <a:xfrm>
            <a:off x="822960" y="960120"/>
            <a:ext cx="10607040" cy="1188720"/>
          </a:xfrm>
          <a:prstGeom prst="rect">
            <a:avLst/>
          </a:prstGeom>
          <a:noFill/>
        </p:spPr>
        <p:txBody>
          <a:bodyPr wrap="square" lIns="0" rIns="0" tIns="0" bIns="0">
            <a:spAutoFit/>
          </a:bodyPr>
          <a:lstStyle/>
          <a:p>
            <a:pPr algn="l">
              <a:lnSpc>
                <a:spcPct val="105000"/>
              </a:lnSpc>
              <a:spcAft>
                <a:spcPts val="600"/>
              </a:spcAft>
            </a:pPr>
            <a:r>
              <a:rPr sz="3600" b="1">
                <a:solidFill>
                  <a:srgbClr val="11406E"/>
                </a:solidFill>
                <a:latin typeface="Helvetica Neue"/>
              </a:rPr>
              <a:t>Ruta B: funciona en cualquier cuenta</a:t>
            </a:r>
          </a:p>
        </p:txBody>
      </p:sp>
      <p:sp>
        <p:nvSpPr>
          <p:cNvPr id="5" name="TextBox 4"/>
          <p:cNvSpPr txBox="1"/>
          <p:nvPr/>
        </p:nvSpPr>
        <p:spPr>
          <a:xfrm>
            <a:off x="822960" y="2103120"/>
            <a:ext cx="10515600" cy="640080"/>
          </a:xfrm>
          <a:prstGeom prst="rect">
            <a:avLst/>
          </a:prstGeom>
          <a:noFill/>
        </p:spPr>
        <p:txBody>
          <a:bodyPr wrap="square" lIns="0" rIns="0" tIns="0" bIns="0">
            <a:spAutoFit/>
          </a:bodyPr>
          <a:lstStyle/>
          <a:p>
            <a:pPr algn="l">
              <a:spcAft>
                <a:spcPts val="600"/>
              </a:spcAft>
            </a:pPr>
            <a:r>
              <a:rPr sz="1900" b="0">
                <a:solidFill>
                  <a:srgbClr val="6E6E6E"/>
                </a:solidFill>
                <a:latin typeface="Helvetica Neue"/>
              </a:rPr>
              <a:t>Sale un video quieto pero bien contado. Y lo bien contado pesa más que el movimiento.</a:t>
            </a:r>
          </a:p>
        </p:txBody>
      </p:sp>
      <p:sp>
        <p:nvSpPr>
          <p:cNvPr id="6" name="Rounded Rectangle 5"/>
          <p:cNvSpPr/>
          <p:nvPr/>
        </p:nvSpPr>
        <p:spPr>
          <a:xfrm>
            <a:off x="822960" y="2926080"/>
            <a:ext cx="10607040" cy="731520"/>
          </a:xfrm>
          <a:prstGeom prst="roundRect">
            <a:avLst>
              <a:gd name="adj" fmla="val 5000"/>
            </a:avLst>
          </a:prstGeom>
          <a:solidFill>
            <a:srgbClr val="F5F3EF"/>
          </a:solidFill>
          <a:ln w="11430">
            <a:solidFill>
              <a:srgbClr val="E3E0D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188720" y="3054096"/>
            <a:ext cx="457200" cy="548640"/>
          </a:xfrm>
          <a:prstGeom prst="rect">
            <a:avLst/>
          </a:prstGeom>
          <a:noFill/>
        </p:spPr>
        <p:txBody>
          <a:bodyPr wrap="square" lIns="0" rIns="0" tIns="0" bIns="0">
            <a:spAutoFit/>
          </a:bodyPr>
          <a:lstStyle/>
          <a:p>
            <a:pPr algn="l">
              <a:spcAft>
                <a:spcPts val="600"/>
              </a:spcAft>
            </a:pPr>
            <a:r>
              <a:rPr sz="2200" b="1">
                <a:solidFill>
                  <a:srgbClr val="ED7623"/>
                </a:solidFill>
                <a:latin typeface="Helvetica Neue"/>
              </a:rPr>
              <a:t>1</a:t>
            </a:r>
          </a:p>
        </p:txBody>
      </p:sp>
      <p:sp>
        <p:nvSpPr>
          <p:cNvPr id="8" name="TextBox 7"/>
          <p:cNvSpPr txBox="1"/>
          <p:nvPr/>
        </p:nvSpPr>
        <p:spPr>
          <a:xfrm>
            <a:off x="1828800" y="3099816"/>
            <a:ext cx="2011680" cy="457200"/>
          </a:xfrm>
          <a:prstGeom prst="rect">
            <a:avLst/>
          </a:prstGeom>
          <a:noFill/>
        </p:spPr>
        <p:txBody>
          <a:bodyPr wrap="square" lIns="0" rIns="0" tIns="0" bIns="0">
            <a:spAutoFit/>
          </a:bodyPr>
          <a:lstStyle/>
          <a:p>
            <a:pPr algn="l">
              <a:spcAft>
                <a:spcPts val="600"/>
              </a:spcAft>
            </a:pPr>
            <a:r>
              <a:rPr sz="1800" b="1">
                <a:solidFill>
                  <a:srgbClr val="11406E"/>
                </a:solidFill>
                <a:latin typeface="Helvetica Neue"/>
              </a:rPr>
              <a:t>Ambiente</a:t>
            </a:r>
          </a:p>
        </p:txBody>
      </p:sp>
      <p:sp>
        <p:nvSpPr>
          <p:cNvPr id="9" name="TextBox 8"/>
          <p:cNvSpPr txBox="1"/>
          <p:nvPr/>
        </p:nvSpPr>
        <p:spPr>
          <a:xfrm>
            <a:off x="3931920" y="3118104"/>
            <a:ext cx="7132320" cy="457200"/>
          </a:xfrm>
          <a:prstGeom prst="rect">
            <a:avLst/>
          </a:prstGeom>
          <a:noFill/>
        </p:spPr>
        <p:txBody>
          <a:bodyPr wrap="square" lIns="0" rIns="0" tIns="0" bIns="0">
            <a:spAutoFit/>
          </a:bodyPr>
          <a:lstStyle/>
          <a:p>
            <a:pPr algn="l">
              <a:spcAft>
                <a:spcPts val="600"/>
              </a:spcAft>
            </a:pPr>
            <a:r>
              <a:rPr sz="1500" b="0">
                <a:solidFill>
                  <a:srgbClr val="6E6E6E"/>
                </a:solidFill>
                <a:latin typeface="Helvetica Neue"/>
              </a:rPr>
              <a:t>Una imagen 16:9 del lugar, sin personas y con espacio libre a un lado</a:t>
            </a:r>
          </a:p>
        </p:txBody>
      </p:sp>
      <p:sp>
        <p:nvSpPr>
          <p:cNvPr id="10" name="Rounded Rectangle 9"/>
          <p:cNvSpPr/>
          <p:nvPr/>
        </p:nvSpPr>
        <p:spPr>
          <a:xfrm>
            <a:off x="822960" y="3794760"/>
            <a:ext cx="10607040" cy="731520"/>
          </a:xfrm>
          <a:prstGeom prst="roundRect">
            <a:avLst>
              <a:gd name="adj" fmla="val 5000"/>
            </a:avLst>
          </a:prstGeom>
          <a:solidFill>
            <a:srgbClr val="F5F3EF"/>
          </a:solidFill>
          <a:ln w="11430">
            <a:solidFill>
              <a:srgbClr val="E3E0D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188720" y="3922776"/>
            <a:ext cx="457200" cy="548640"/>
          </a:xfrm>
          <a:prstGeom prst="rect">
            <a:avLst/>
          </a:prstGeom>
          <a:noFill/>
        </p:spPr>
        <p:txBody>
          <a:bodyPr wrap="square" lIns="0" rIns="0" tIns="0" bIns="0">
            <a:spAutoFit/>
          </a:bodyPr>
          <a:lstStyle/>
          <a:p>
            <a:pPr algn="l">
              <a:spcAft>
                <a:spcPts val="600"/>
              </a:spcAft>
            </a:pPr>
            <a:r>
              <a:rPr sz="2200" b="1">
                <a:solidFill>
                  <a:srgbClr val="ED7623"/>
                </a:solidFill>
                <a:latin typeface="Helvetica Neue"/>
              </a:rPr>
              <a:t>2</a:t>
            </a:r>
          </a:p>
        </p:txBody>
      </p:sp>
      <p:sp>
        <p:nvSpPr>
          <p:cNvPr id="12" name="TextBox 11"/>
          <p:cNvSpPr txBox="1"/>
          <p:nvPr/>
        </p:nvSpPr>
        <p:spPr>
          <a:xfrm>
            <a:off x="1828800" y="3968496"/>
            <a:ext cx="2011680" cy="457200"/>
          </a:xfrm>
          <a:prstGeom prst="rect">
            <a:avLst/>
          </a:prstGeom>
          <a:noFill/>
        </p:spPr>
        <p:txBody>
          <a:bodyPr wrap="square" lIns="0" rIns="0" tIns="0" bIns="0">
            <a:spAutoFit/>
          </a:bodyPr>
          <a:lstStyle/>
          <a:p>
            <a:pPr algn="l">
              <a:spcAft>
                <a:spcPts val="600"/>
              </a:spcAft>
            </a:pPr>
            <a:r>
              <a:rPr sz="1800" b="1">
                <a:solidFill>
                  <a:srgbClr val="11406E"/>
                </a:solidFill>
                <a:latin typeface="Helvetica Neue"/>
              </a:rPr>
              <a:t>Personaje</a:t>
            </a:r>
          </a:p>
        </p:txBody>
      </p:sp>
      <p:sp>
        <p:nvSpPr>
          <p:cNvPr id="13" name="TextBox 12"/>
          <p:cNvSpPr txBox="1"/>
          <p:nvPr/>
        </p:nvSpPr>
        <p:spPr>
          <a:xfrm>
            <a:off x="3931920" y="3986784"/>
            <a:ext cx="7132320" cy="457200"/>
          </a:xfrm>
          <a:prstGeom prst="rect">
            <a:avLst/>
          </a:prstGeom>
          <a:noFill/>
        </p:spPr>
        <p:txBody>
          <a:bodyPr wrap="square" lIns="0" rIns="0" tIns="0" bIns="0">
            <a:spAutoFit/>
          </a:bodyPr>
          <a:lstStyle/>
          <a:p>
            <a:pPr algn="l">
              <a:spcAft>
                <a:spcPts val="600"/>
              </a:spcAft>
            </a:pPr>
            <a:r>
              <a:rPr sz="1500" b="0">
                <a:solidFill>
                  <a:srgbClr val="6E6E6E"/>
                </a:solidFill>
                <a:latin typeface="Helvetica Neue"/>
              </a:rPr>
              <a:t>Tu foto → retrato con fondo gris liso, para poder recortarlo</a:t>
            </a:r>
          </a:p>
        </p:txBody>
      </p:sp>
      <p:sp>
        <p:nvSpPr>
          <p:cNvPr id="14" name="Rounded Rectangle 13"/>
          <p:cNvSpPr/>
          <p:nvPr/>
        </p:nvSpPr>
        <p:spPr>
          <a:xfrm>
            <a:off x="822960" y="4663440"/>
            <a:ext cx="10607040" cy="731520"/>
          </a:xfrm>
          <a:prstGeom prst="roundRect">
            <a:avLst>
              <a:gd name="adj" fmla="val 5000"/>
            </a:avLst>
          </a:prstGeom>
          <a:solidFill>
            <a:srgbClr val="F5F3EF"/>
          </a:solidFill>
          <a:ln w="11430">
            <a:solidFill>
              <a:srgbClr val="E3E0D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188720" y="4791455"/>
            <a:ext cx="457200" cy="548640"/>
          </a:xfrm>
          <a:prstGeom prst="rect">
            <a:avLst/>
          </a:prstGeom>
          <a:noFill/>
        </p:spPr>
        <p:txBody>
          <a:bodyPr wrap="square" lIns="0" rIns="0" tIns="0" bIns="0">
            <a:spAutoFit/>
          </a:bodyPr>
          <a:lstStyle/>
          <a:p>
            <a:pPr algn="l">
              <a:spcAft>
                <a:spcPts val="600"/>
              </a:spcAft>
            </a:pPr>
            <a:r>
              <a:rPr sz="2200" b="1">
                <a:solidFill>
                  <a:srgbClr val="ED7623"/>
                </a:solidFill>
                <a:latin typeface="Helvetica Neue"/>
              </a:rPr>
              <a:t>3</a:t>
            </a:r>
          </a:p>
        </p:txBody>
      </p:sp>
      <p:sp>
        <p:nvSpPr>
          <p:cNvPr id="16" name="TextBox 15"/>
          <p:cNvSpPr txBox="1"/>
          <p:nvPr/>
        </p:nvSpPr>
        <p:spPr>
          <a:xfrm>
            <a:off x="1828800" y="4837176"/>
            <a:ext cx="2011680" cy="457200"/>
          </a:xfrm>
          <a:prstGeom prst="rect">
            <a:avLst/>
          </a:prstGeom>
          <a:noFill/>
        </p:spPr>
        <p:txBody>
          <a:bodyPr wrap="square" lIns="0" rIns="0" tIns="0" bIns="0">
            <a:spAutoFit/>
          </a:bodyPr>
          <a:lstStyle/>
          <a:p>
            <a:pPr algn="l">
              <a:spcAft>
                <a:spcPts val="600"/>
              </a:spcAft>
            </a:pPr>
            <a:r>
              <a:rPr sz="1800" b="1">
                <a:solidFill>
                  <a:srgbClr val="11406E"/>
                </a:solidFill>
                <a:latin typeface="Helvetica Neue"/>
              </a:rPr>
              <a:t>Voz</a:t>
            </a:r>
          </a:p>
        </p:txBody>
      </p:sp>
      <p:sp>
        <p:nvSpPr>
          <p:cNvPr id="17" name="TextBox 16"/>
          <p:cNvSpPr txBox="1"/>
          <p:nvPr/>
        </p:nvSpPr>
        <p:spPr>
          <a:xfrm>
            <a:off x="3931920" y="4855464"/>
            <a:ext cx="7132320" cy="457200"/>
          </a:xfrm>
          <a:prstGeom prst="rect">
            <a:avLst/>
          </a:prstGeom>
          <a:noFill/>
        </p:spPr>
        <p:txBody>
          <a:bodyPr wrap="square" lIns="0" rIns="0" tIns="0" bIns="0">
            <a:spAutoFit/>
          </a:bodyPr>
          <a:lstStyle/>
          <a:p>
            <a:pPr algn="l">
              <a:spcAft>
                <a:spcPts val="600"/>
              </a:spcAft>
            </a:pPr>
            <a:r>
              <a:rPr sz="1500" b="0">
                <a:solidFill>
                  <a:srgbClr val="6E6E6E"/>
                </a:solidFill>
                <a:latin typeface="Helvetica Neue"/>
              </a:rPr>
              <a:t>ElevenLabs, con el guion completo</a:t>
            </a:r>
          </a:p>
        </p:txBody>
      </p:sp>
      <p:sp>
        <p:nvSpPr>
          <p:cNvPr id="18" name="Rounded Rectangle 17"/>
          <p:cNvSpPr/>
          <p:nvPr/>
        </p:nvSpPr>
        <p:spPr>
          <a:xfrm>
            <a:off x="822960" y="5532120"/>
            <a:ext cx="10607040" cy="731520"/>
          </a:xfrm>
          <a:prstGeom prst="roundRect">
            <a:avLst>
              <a:gd name="adj" fmla="val 5000"/>
            </a:avLst>
          </a:prstGeom>
          <a:solidFill>
            <a:srgbClr val="F5F3EF"/>
          </a:solidFill>
          <a:ln w="11430">
            <a:solidFill>
              <a:srgbClr val="E3E0D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188720" y="5660136"/>
            <a:ext cx="457200" cy="548640"/>
          </a:xfrm>
          <a:prstGeom prst="rect">
            <a:avLst/>
          </a:prstGeom>
          <a:noFill/>
        </p:spPr>
        <p:txBody>
          <a:bodyPr wrap="square" lIns="0" rIns="0" tIns="0" bIns="0">
            <a:spAutoFit/>
          </a:bodyPr>
          <a:lstStyle/>
          <a:p>
            <a:pPr algn="l">
              <a:spcAft>
                <a:spcPts val="600"/>
              </a:spcAft>
            </a:pPr>
            <a:r>
              <a:rPr sz="2200" b="1">
                <a:solidFill>
                  <a:srgbClr val="ED7623"/>
                </a:solidFill>
                <a:latin typeface="Helvetica Neue"/>
              </a:rPr>
              <a:t>4</a:t>
            </a:r>
          </a:p>
        </p:txBody>
      </p:sp>
      <p:sp>
        <p:nvSpPr>
          <p:cNvPr id="20" name="TextBox 19"/>
          <p:cNvSpPr txBox="1"/>
          <p:nvPr/>
        </p:nvSpPr>
        <p:spPr>
          <a:xfrm>
            <a:off x="1828800" y="5705856"/>
            <a:ext cx="2011680" cy="457200"/>
          </a:xfrm>
          <a:prstGeom prst="rect">
            <a:avLst/>
          </a:prstGeom>
          <a:noFill/>
        </p:spPr>
        <p:txBody>
          <a:bodyPr wrap="square" lIns="0" rIns="0" tIns="0" bIns="0">
            <a:spAutoFit/>
          </a:bodyPr>
          <a:lstStyle/>
          <a:p>
            <a:pPr algn="l">
              <a:spcAft>
                <a:spcPts val="600"/>
              </a:spcAft>
            </a:pPr>
            <a:r>
              <a:rPr sz="1800" b="1">
                <a:solidFill>
                  <a:srgbClr val="11406E"/>
                </a:solidFill>
                <a:latin typeface="Helvetica Neue"/>
              </a:rPr>
              <a:t>Montaje</a:t>
            </a:r>
          </a:p>
        </p:txBody>
      </p:sp>
      <p:sp>
        <p:nvSpPr>
          <p:cNvPr id="21" name="TextBox 20"/>
          <p:cNvSpPr txBox="1"/>
          <p:nvPr/>
        </p:nvSpPr>
        <p:spPr>
          <a:xfrm>
            <a:off x="3931920" y="5724144"/>
            <a:ext cx="7132320" cy="457200"/>
          </a:xfrm>
          <a:prstGeom prst="rect">
            <a:avLst/>
          </a:prstGeom>
          <a:noFill/>
        </p:spPr>
        <p:txBody>
          <a:bodyPr wrap="square" lIns="0" rIns="0" tIns="0" bIns="0">
            <a:spAutoFit/>
          </a:bodyPr>
          <a:lstStyle/>
          <a:p>
            <a:pPr algn="l">
              <a:spcAft>
                <a:spcPts val="600"/>
              </a:spcAft>
            </a:pPr>
            <a:r>
              <a:rPr sz="1500" b="0">
                <a:solidFill>
                  <a:srgbClr val="6E6E6E"/>
                </a:solidFill>
                <a:latin typeface="Helvetica Neue"/>
              </a:rPr>
              <a:t>CapCut: fondo, avatar sin fondo, voz, subtítulos y zoom lento</a:t>
            </a:r>
          </a:p>
        </p:txBody>
      </p:sp>
      <p:sp>
        <p:nvSpPr>
          <p:cNvPr id="22" name="TextBox 21"/>
          <p:cNvSpPr txBox="1"/>
          <p:nvPr/>
        </p:nvSpPr>
        <p:spPr>
          <a:xfrm>
            <a:off x="822960" y="6446520"/>
            <a:ext cx="10515600" cy="365760"/>
          </a:xfrm>
          <a:prstGeom prst="rect">
            <a:avLst/>
          </a:prstGeom>
          <a:noFill/>
        </p:spPr>
        <p:txBody>
          <a:bodyPr wrap="square" lIns="0" rIns="0" tIns="0" bIns="0">
            <a:spAutoFit/>
          </a:bodyPr>
          <a:lstStyle/>
          <a:p>
            <a:pPr algn="l">
              <a:spcAft>
                <a:spcPts val="600"/>
              </a:spcAft>
            </a:pPr>
            <a:r>
              <a:rPr sz="1400" b="0">
                <a:solidFill>
                  <a:srgbClr val="6E6E6E"/>
                </a:solidFill>
                <a:latin typeface="Helvetica Neue"/>
              </a:rPr>
              <a:t>Los prompts completos están en las notas.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ED7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502920"/>
            <a:ext cx="10515600" cy="365760"/>
          </a:xfrm>
          <a:prstGeom prst="rect">
            <a:avLst/>
          </a:prstGeom>
          <a:noFill/>
        </p:spPr>
        <p:txBody>
          <a:bodyPr wrap="square" lIns="0" rIns="0" tIns="0" bIns="0">
            <a:spAutoFit/>
          </a:bodyPr>
          <a:lstStyle/>
          <a:p>
            <a:pPr algn="l">
              <a:spcAft>
                <a:spcPts val="600"/>
              </a:spcAft>
            </a:pPr>
            <a:r>
              <a:rPr sz="1200" b="1">
                <a:solidFill>
                  <a:srgbClr val="ED7623"/>
                </a:solidFill>
                <a:latin typeface="Helvetica Neue"/>
              </a:rPr>
              <a:t>EL EJEMPLO</a:t>
            </a:r>
          </a:p>
        </p:txBody>
      </p:sp>
      <p:sp>
        <p:nvSpPr>
          <p:cNvPr id="4" name="TextBox 3"/>
          <p:cNvSpPr txBox="1"/>
          <p:nvPr/>
        </p:nvSpPr>
        <p:spPr>
          <a:xfrm>
            <a:off x="822960" y="960120"/>
            <a:ext cx="10607040" cy="1188720"/>
          </a:xfrm>
          <a:prstGeom prst="rect">
            <a:avLst/>
          </a:prstGeom>
          <a:noFill/>
        </p:spPr>
        <p:txBody>
          <a:bodyPr wrap="square" lIns="0" rIns="0" tIns="0" bIns="0">
            <a:spAutoFit/>
          </a:bodyPr>
          <a:lstStyle/>
          <a:p>
            <a:pPr algn="l">
              <a:lnSpc>
                <a:spcPct val="105000"/>
              </a:lnSpc>
              <a:spcAft>
                <a:spcPts val="600"/>
              </a:spcAft>
            </a:pPr>
            <a:r>
              <a:rPr sz="3600" b="1">
                <a:solidFill>
                  <a:srgbClr val="11406E"/>
                </a:solidFill>
                <a:latin typeface="Helvetica Neue"/>
              </a:rPr>
              <a:t>Dos clips, el mismo personaje</a:t>
            </a:r>
          </a:p>
        </p:txBody>
      </p:sp>
      <p:sp>
        <p:nvSpPr>
          <p:cNvPr id="5" name="TextBox 4"/>
          <p:cNvSpPr txBox="1"/>
          <p:nvPr/>
        </p:nvSpPr>
        <p:spPr>
          <a:xfrm>
            <a:off x="822960" y="2103120"/>
            <a:ext cx="10515600" cy="640080"/>
          </a:xfrm>
          <a:prstGeom prst="rect">
            <a:avLst/>
          </a:prstGeom>
          <a:noFill/>
        </p:spPr>
        <p:txBody>
          <a:bodyPr wrap="square" lIns="0" rIns="0" tIns="0" bIns="0">
            <a:spAutoFit/>
          </a:bodyPr>
          <a:lstStyle/>
          <a:p>
            <a:pPr algn="l">
              <a:spcAft>
                <a:spcPts val="600"/>
              </a:spcAft>
            </a:pPr>
            <a:r>
              <a:rPr sz="1900" b="0">
                <a:solidFill>
                  <a:srgbClr val="6E6E6E"/>
                </a:solidFill>
                <a:latin typeface="Helvetica Neue"/>
              </a:rPr>
              <a:t>Misma cara, misma camisa, mismo salón. Lo único que lo logra es adjuntar la misma foto.</a:t>
            </a:r>
          </a:p>
        </p:txBody>
      </p:sp>
      <p:sp>
        <p:nvSpPr>
          <p:cNvPr id="6" name="Rounded Rectangle 5"/>
          <p:cNvSpPr/>
          <p:nvPr/>
        </p:nvSpPr>
        <p:spPr>
          <a:xfrm>
            <a:off x="822960" y="2971800"/>
            <a:ext cx="10607040" cy="731520"/>
          </a:xfrm>
          <a:prstGeom prst="roundRect">
            <a:avLst>
              <a:gd name="adj" fmla="val 5000"/>
            </a:avLst>
          </a:prstGeom>
          <a:solidFill>
            <a:srgbClr val="F5F3EF"/>
          </a:solidFill>
          <a:ln w="11430">
            <a:solidFill>
              <a:srgbClr val="E3E0D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188720" y="3118104"/>
            <a:ext cx="2194560" cy="457200"/>
          </a:xfrm>
          <a:prstGeom prst="rect">
            <a:avLst/>
          </a:prstGeom>
          <a:noFill/>
        </p:spPr>
        <p:txBody>
          <a:bodyPr wrap="square" lIns="0" rIns="0" tIns="0" bIns="0">
            <a:spAutoFit/>
          </a:bodyPr>
          <a:lstStyle/>
          <a:p>
            <a:pPr algn="l">
              <a:spcAft>
                <a:spcPts val="600"/>
              </a:spcAft>
            </a:pPr>
            <a:r>
              <a:rPr sz="1900" b="1">
                <a:solidFill>
                  <a:srgbClr val="ED7623"/>
                </a:solidFill>
                <a:latin typeface="Helvetica Neue"/>
              </a:rPr>
              <a:t>Clip 1</a:t>
            </a:r>
          </a:p>
        </p:txBody>
      </p:sp>
      <p:sp>
        <p:nvSpPr>
          <p:cNvPr id="8" name="TextBox 7"/>
          <p:cNvSpPr txBox="1"/>
          <p:nvPr/>
        </p:nvSpPr>
        <p:spPr>
          <a:xfrm>
            <a:off x="3566160" y="3145536"/>
            <a:ext cx="7498079" cy="457200"/>
          </a:xfrm>
          <a:prstGeom prst="rect">
            <a:avLst/>
          </a:prstGeom>
          <a:noFill/>
        </p:spPr>
        <p:txBody>
          <a:bodyPr wrap="square" lIns="0" rIns="0" tIns="0" bIns="0">
            <a:spAutoFit/>
          </a:bodyPr>
          <a:lstStyle/>
          <a:p>
            <a:pPr algn="l">
              <a:spcAft>
                <a:spcPts val="600"/>
              </a:spcAft>
            </a:pPr>
            <a:r>
              <a:rPr sz="1550" b="0">
                <a:solidFill>
                  <a:srgbClr val="6E6E6E"/>
                </a:solidFill>
                <a:latin typeface="Helvetica Neue"/>
              </a:rPr>
              <a:t>«¿Alguna vez le enseñaste algo a un niño mostrándole ejemplos?»</a:t>
            </a:r>
          </a:p>
        </p:txBody>
      </p:sp>
      <p:sp>
        <p:nvSpPr>
          <p:cNvPr id="9" name="Rounded Rectangle 8"/>
          <p:cNvSpPr/>
          <p:nvPr/>
        </p:nvSpPr>
        <p:spPr>
          <a:xfrm>
            <a:off x="822960" y="3840480"/>
            <a:ext cx="10607040" cy="731520"/>
          </a:xfrm>
          <a:prstGeom prst="roundRect">
            <a:avLst>
              <a:gd name="adj" fmla="val 5000"/>
            </a:avLst>
          </a:prstGeom>
          <a:solidFill>
            <a:srgbClr val="F5F3EF"/>
          </a:solidFill>
          <a:ln w="11430">
            <a:solidFill>
              <a:srgbClr val="E3E0D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188720" y="3986784"/>
            <a:ext cx="2194560" cy="457200"/>
          </a:xfrm>
          <a:prstGeom prst="rect">
            <a:avLst/>
          </a:prstGeom>
          <a:noFill/>
        </p:spPr>
        <p:txBody>
          <a:bodyPr wrap="square" lIns="0" rIns="0" tIns="0" bIns="0">
            <a:spAutoFit/>
          </a:bodyPr>
          <a:lstStyle/>
          <a:p>
            <a:pPr algn="l">
              <a:spcAft>
                <a:spcPts val="600"/>
              </a:spcAft>
            </a:pPr>
            <a:r>
              <a:rPr sz="1900" b="1">
                <a:solidFill>
                  <a:srgbClr val="ED7623"/>
                </a:solidFill>
                <a:latin typeface="Helvetica Neue"/>
              </a:rPr>
              <a:t>Clip 2</a:t>
            </a:r>
          </a:p>
        </p:txBody>
      </p:sp>
      <p:sp>
        <p:nvSpPr>
          <p:cNvPr id="11" name="TextBox 10"/>
          <p:cNvSpPr txBox="1"/>
          <p:nvPr/>
        </p:nvSpPr>
        <p:spPr>
          <a:xfrm>
            <a:off x="3566160" y="4014216"/>
            <a:ext cx="7498079" cy="457200"/>
          </a:xfrm>
          <a:prstGeom prst="rect">
            <a:avLst/>
          </a:prstGeom>
          <a:noFill/>
        </p:spPr>
        <p:txBody>
          <a:bodyPr wrap="square" lIns="0" rIns="0" tIns="0" bIns="0">
            <a:spAutoFit/>
          </a:bodyPr>
          <a:lstStyle/>
          <a:p>
            <a:pPr algn="l">
              <a:spcAft>
                <a:spcPts val="600"/>
              </a:spcAft>
            </a:pPr>
            <a:r>
              <a:rPr sz="1550" b="0">
                <a:solidFill>
                  <a:srgbClr val="6E6E6E"/>
                </a:solidFill>
                <a:latin typeface="Helvetica Neue"/>
              </a:rPr>
              <a:t>«Nadie le explica las reglas. Le muestran miles de fotos de perros...»</a:t>
            </a:r>
          </a:p>
        </p:txBody>
      </p:sp>
      <p:sp>
        <p:nvSpPr>
          <p:cNvPr id="12" name="Rounded Rectangle 11"/>
          <p:cNvSpPr/>
          <p:nvPr/>
        </p:nvSpPr>
        <p:spPr>
          <a:xfrm>
            <a:off x="822960" y="4709160"/>
            <a:ext cx="10607040" cy="731520"/>
          </a:xfrm>
          <a:prstGeom prst="roundRect">
            <a:avLst>
              <a:gd name="adj" fmla="val 5000"/>
            </a:avLst>
          </a:prstGeom>
          <a:solidFill>
            <a:srgbClr val="F5F3EF"/>
          </a:solidFill>
          <a:ln w="11430">
            <a:solidFill>
              <a:srgbClr val="E3E0D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188720" y="4855464"/>
            <a:ext cx="2194560" cy="457200"/>
          </a:xfrm>
          <a:prstGeom prst="rect">
            <a:avLst/>
          </a:prstGeom>
          <a:noFill/>
        </p:spPr>
        <p:txBody>
          <a:bodyPr wrap="square" lIns="0" rIns="0" tIns="0" bIns="0">
            <a:spAutoFit/>
          </a:bodyPr>
          <a:lstStyle/>
          <a:p>
            <a:pPr algn="l">
              <a:spcAft>
                <a:spcPts val="600"/>
              </a:spcAft>
            </a:pPr>
            <a:r>
              <a:rPr sz="1900" b="1">
                <a:solidFill>
                  <a:srgbClr val="ED7623"/>
                </a:solidFill>
                <a:latin typeface="Helvetica Neue"/>
              </a:rPr>
              <a:t>Lo que cambia</a:t>
            </a:r>
          </a:p>
        </p:txBody>
      </p:sp>
      <p:sp>
        <p:nvSpPr>
          <p:cNvPr id="14" name="TextBox 13"/>
          <p:cNvSpPr txBox="1"/>
          <p:nvPr/>
        </p:nvSpPr>
        <p:spPr>
          <a:xfrm>
            <a:off x="3566160" y="4882896"/>
            <a:ext cx="7498079" cy="457200"/>
          </a:xfrm>
          <a:prstGeom prst="rect">
            <a:avLst/>
          </a:prstGeom>
          <a:noFill/>
        </p:spPr>
        <p:txBody>
          <a:bodyPr wrap="square" lIns="0" rIns="0" tIns="0" bIns="0">
            <a:spAutoFit/>
          </a:bodyPr>
          <a:lstStyle/>
          <a:p>
            <a:pPr algn="l">
              <a:spcAft>
                <a:spcPts val="600"/>
              </a:spcAft>
            </a:pPr>
            <a:r>
              <a:rPr sz="1550" b="0">
                <a:solidFill>
                  <a:srgbClr val="6E6E6E"/>
                </a:solidFill>
                <a:latin typeface="Helvetica Neue"/>
              </a:rPr>
              <a:t>Solo la frase del prompt. Todo lo demás, idéntico.</a:t>
            </a:r>
          </a:p>
        </p:txBody>
      </p:sp>
      <p:sp>
        <p:nvSpPr>
          <p:cNvPr id="15" name="Rounded Rectangle 14"/>
          <p:cNvSpPr/>
          <p:nvPr/>
        </p:nvSpPr>
        <p:spPr>
          <a:xfrm>
            <a:off x="822960" y="5577840"/>
            <a:ext cx="10607040" cy="731520"/>
          </a:xfrm>
          <a:prstGeom prst="roundRect">
            <a:avLst>
              <a:gd name="adj" fmla="val 5000"/>
            </a:avLst>
          </a:prstGeom>
          <a:solidFill>
            <a:srgbClr val="F5F3EF"/>
          </a:solidFill>
          <a:ln w="11430">
            <a:solidFill>
              <a:srgbClr val="E3E0D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188720" y="5724144"/>
            <a:ext cx="2194560" cy="457200"/>
          </a:xfrm>
          <a:prstGeom prst="rect">
            <a:avLst/>
          </a:prstGeom>
          <a:noFill/>
        </p:spPr>
        <p:txBody>
          <a:bodyPr wrap="square" lIns="0" rIns="0" tIns="0" bIns="0">
            <a:spAutoFit/>
          </a:bodyPr>
          <a:lstStyle/>
          <a:p>
            <a:pPr algn="l">
              <a:spcAft>
                <a:spcPts val="600"/>
              </a:spcAft>
            </a:pPr>
            <a:r>
              <a:rPr sz="1900" b="1">
                <a:solidFill>
                  <a:srgbClr val="ED7623"/>
                </a:solidFill>
                <a:latin typeface="Helvetica Neue"/>
              </a:rPr>
              <a:t>Lo que los une</a:t>
            </a:r>
          </a:p>
        </p:txBody>
      </p:sp>
      <p:sp>
        <p:nvSpPr>
          <p:cNvPr id="17" name="TextBox 16"/>
          <p:cNvSpPr txBox="1"/>
          <p:nvPr/>
        </p:nvSpPr>
        <p:spPr>
          <a:xfrm>
            <a:off x="3566160" y="5751576"/>
            <a:ext cx="7498079" cy="457200"/>
          </a:xfrm>
          <a:prstGeom prst="rect">
            <a:avLst/>
          </a:prstGeom>
          <a:noFill/>
        </p:spPr>
        <p:txBody>
          <a:bodyPr wrap="square" lIns="0" rIns="0" tIns="0" bIns="0">
            <a:spAutoFit/>
          </a:bodyPr>
          <a:lstStyle/>
          <a:p>
            <a:pPr algn="l">
              <a:spcAft>
                <a:spcPts val="600"/>
              </a:spcAft>
            </a:pPr>
            <a:r>
              <a:rPr sz="1550" b="0">
                <a:solidFill>
                  <a:srgbClr val="6E6E6E"/>
                </a:solidFill>
                <a:latin typeface="Helvetica Neue"/>
              </a:rPr>
              <a:t>ChatGPT, en quince segundos.</a:t>
            </a:r>
          </a:p>
        </p:txBody>
      </p:sp>
      <p:sp>
        <p:nvSpPr>
          <p:cNvPr id="18" name="TextBox 17"/>
          <p:cNvSpPr txBox="1"/>
          <p:nvPr/>
        </p:nvSpPr>
        <p:spPr>
          <a:xfrm>
            <a:off x="822960" y="6400800"/>
            <a:ext cx="10515600" cy="365760"/>
          </a:xfrm>
          <a:prstGeom prst="rect">
            <a:avLst/>
          </a:prstGeom>
          <a:noFill/>
        </p:spPr>
        <p:txBody>
          <a:bodyPr wrap="square" lIns="0" rIns="0" tIns="0" bIns="0">
            <a:spAutoFit/>
          </a:bodyPr>
          <a:lstStyle/>
          <a:p>
            <a:pPr algn="l">
              <a:spcAft>
                <a:spcPts val="600"/>
              </a:spcAft>
            </a:pPr>
            <a:r>
              <a:rPr sz="1400" b="0">
                <a:solidFill>
                  <a:srgbClr val="6E6E6E"/>
                </a:solidFill>
                <a:latin typeface="Helvetica Neue"/>
              </a:rPr>
              <a:t>El guion completo está en las notas. A ti te piden cuatro frases.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ED7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502920"/>
            <a:ext cx="10515600" cy="365760"/>
          </a:xfrm>
          <a:prstGeom prst="rect">
            <a:avLst/>
          </a:prstGeom>
          <a:noFill/>
        </p:spPr>
        <p:txBody>
          <a:bodyPr wrap="square" lIns="0" rIns="0" tIns="0" bIns="0">
            <a:spAutoFit/>
          </a:bodyPr>
          <a:lstStyle/>
          <a:p>
            <a:pPr algn="l">
              <a:spcAft>
                <a:spcPts val="600"/>
              </a:spcAft>
            </a:pPr>
            <a:r>
              <a:rPr sz="1200" b="1">
                <a:solidFill>
                  <a:srgbClr val="ED7623"/>
                </a:solidFill>
                <a:latin typeface="Helvetica Neue"/>
              </a:rPr>
              <a:t>TU TURNO</a:t>
            </a:r>
          </a:p>
        </p:txBody>
      </p:sp>
      <p:sp>
        <p:nvSpPr>
          <p:cNvPr id="4" name="TextBox 3"/>
          <p:cNvSpPr txBox="1"/>
          <p:nvPr/>
        </p:nvSpPr>
        <p:spPr>
          <a:xfrm>
            <a:off x="822960" y="960120"/>
            <a:ext cx="10607040" cy="1188720"/>
          </a:xfrm>
          <a:prstGeom prst="rect">
            <a:avLst/>
          </a:prstGeom>
          <a:noFill/>
        </p:spPr>
        <p:txBody>
          <a:bodyPr wrap="square" lIns="0" rIns="0" tIns="0" bIns="0">
            <a:spAutoFit/>
          </a:bodyPr>
          <a:lstStyle/>
          <a:p>
            <a:pPr algn="l">
              <a:lnSpc>
                <a:spcPct val="105000"/>
              </a:lnSpc>
              <a:spcAft>
                <a:spcPts val="600"/>
              </a:spcAft>
            </a:pPr>
            <a:r>
              <a:rPr sz="4000" b="1">
                <a:solidFill>
                  <a:srgbClr val="11406E"/>
                </a:solidFill>
                <a:latin typeface="Helvetica Neue"/>
              </a:rPr>
              <a:t>Elige uno de los dos</a:t>
            </a:r>
          </a:p>
        </p:txBody>
      </p:sp>
      <p:sp>
        <p:nvSpPr>
          <p:cNvPr id="5" name="Rounded Rectangle 4"/>
          <p:cNvSpPr/>
          <p:nvPr/>
        </p:nvSpPr>
        <p:spPr>
          <a:xfrm>
            <a:off x="822960" y="2377440"/>
            <a:ext cx="5029200" cy="2377440"/>
          </a:xfrm>
          <a:prstGeom prst="roundRect">
            <a:avLst>
              <a:gd name="adj" fmla="val 5000"/>
            </a:avLst>
          </a:prstGeom>
          <a:solidFill>
            <a:srgbClr val="F5F3EF"/>
          </a:solidFill>
          <a:ln w="11430">
            <a:solidFill>
              <a:srgbClr val="E3E0D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234440" y="2697480"/>
            <a:ext cx="4206240" cy="822960"/>
          </a:xfrm>
          <a:prstGeom prst="rect">
            <a:avLst/>
          </a:prstGeom>
          <a:noFill/>
        </p:spPr>
        <p:txBody>
          <a:bodyPr wrap="square" lIns="0" rIns="0" tIns="0" bIns="0">
            <a:spAutoFit/>
          </a:bodyPr>
          <a:lstStyle/>
          <a:p>
            <a:pPr algn="l">
              <a:lnSpc>
                <a:spcPct val="110000"/>
              </a:lnSpc>
              <a:spcAft>
                <a:spcPts val="600"/>
              </a:spcAft>
            </a:pPr>
            <a:r>
              <a:rPr sz="2300" b="1">
                <a:solidFill>
                  <a:srgbClr val="35789C"/>
                </a:solidFill>
                <a:latin typeface="Helvetica Neue"/>
              </a:rPr>
              <a:t>Qué hago en mi carrera</a:t>
            </a:r>
          </a:p>
        </p:txBody>
      </p:sp>
      <p:sp>
        <p:nvSpPr>
          <p:cNvPr id="7" name="TextBox 6"/>
          <p:cNvSpPr txBox="1"/>
          <p:nvPr/>
        </p:nvSpPr>
        <p:spPr>
          <a:xfrm>
            <a:off x="1234440" y="3657600"/>
            <a:ext cx="4206240" cy="1188720"/>
          </a:xfrm>
          <a:prstGeom prst="rect">
            <a:avLst/>
          </a:prstGeom>
          <a:noFill/>
        </p:spPr>
        <p:txBody>
          <a:bodyPr wrap="square" lIns="0" rIns="0" tIns="0" bIns="0">
            <a:spAutoFit/>
          </a:bodyPr>
          <a:lstStyle/>
          <a:p>
            <a:pPr algn="l">
              <a:lnSpc>
                <a:spcPct val="130000"/>
              </a:lnSpc>
              <a:spcAft>
                <a:spcPts val="600"/>
              </a:spcAft>
            </a:pPr>
            <a:r>
              <a:rPr sz="1600" b="0">
                <a:solidFill>
                  <a:srgbClr val="6E6E6E"/>
                </a:solidFill>
                <a:latin typeface="Helvetica Neue"/>
              </a:rPr>
              <a:t>Un día normal de trabajo de alguien de tu programa. Lo que nadie se imagina que haces.</a:t>
            </a:r>
          </a:p>
        </p:txBody>
      </p:sp>
      <p:sp>
        <p:nvSpPr>
          <p:cNvPr id="8" name="Rounded Rectangle 7"/>
          <p:cNvSpPr/>
          <p:nvPr/>
        </p:nvSpPr>
        <p:spPr>
          <a:xfrm>
            <a:off x="6217920" y="2377440"/>
            <a:ext cx="5029200" cy="2377440"/>
          </a:xfrm>
          <a:prstGeom prst="roundRect">
            <a:avLst>
              <a:gd name="adj" fmla="val 5000"/>
            </a:avLst>
          </a:prstGeom>
          <a:solidFill>
            <a:srgbClr val="F5F3EF"/>
          </a:solidFill>
          <a:ln w="11430">
            <a:solidFill>
              <a:srgbClr val="E3E0D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629400" y="2697480"/>
            <a:ext cx="4206240" cy="822960"/>
          </a:xfrm>
          <a:prstGeom prst="rect">
            <a:avLst/>
          </a:prstGeom>
          <a:noFill/>
        </p:spPr>
        <p:txBody>
          <a:bodyPr wrap="square" lIns="0" rIns="0" tIns="0" bIns="0">
            <a:spAutoFit/>
          </a:bodyPr>
          <a:lstStyle/>
          <a:p>
            <a:pPr algn="l">
              <a:lnSpc>
                <a:spcPct val="110000"/>
              </a:lnSpc>
              <a:spcAft>
                <a:spcPts val="600"/>
              </a:spcAft>
            </a:pPr>
            <a:r>
              <a:rPr sz="2300" b="1">
                <a:solidFill>
                  <a:srgbClr val="35789C"/>
                </a:solidFill>
                <a:latin typeface="Helvetica Neue"/>
              </a:rPr>
              <a:t>Lo que me costó entender</a:t>
            </a:r>
          </a:p>
        </p:txBody>
      </p:sp>
      <p:sp>
        <p:nvSpPr>
          <p:cNvPr id="10" name="TextBox 9"/>
          <p:cNvSpPr txBox="1"/>
          <p:nvPr/>
        </p:nvSpPr>
        <p:spPr>
          <a:xfrm>
            <a:off x="6629400" y="3657600"/>
            <a:ext cx="4206240" cy="1188720"/>
          </a:xfrm>
          <a:prstGeom prst="rect">
            <a:avLst/>
          </a:prstGeom>
          <a:noFill/>
        </p:spPr>
        <p:txBody>
          <a:bodyPr wrap="square" lIns="0" rIns="0" tIns="0" bIns="0">
            <a:spAutoFit/>
          </a:bodyPr>
          <a:lstStyle/>
          <a:p>
            <a:pPr algn="l">
              <a:lnSpc>
                <a:spcPct val="130000"/>
              </a:lnSpc>
              <a:spcAft>
                <a:spcPts val="600"/>
              </a:spcAft>
            </a:pPr>
            <a:r>
              <a:rPr sz="1600" b="0">
                <a:solidFill>
                  <a:srgbClr val="6E6E6E"/>
                </a:solidFill>
                <a:latin typeface="Helvetica Neue"/>
              </a:rPr>
              <a:t>Un concepto que te costó, explicado como te hubiera gustado que te lo explicaran.</a:t>
            </a:r>
          </a:p>
        </p:txBody>
      </p:sp>
      <p:sp>
        <p:nvSpPr>
          <p:cNvPr id="11" name="Rounded Rectangle 10"/>
          <p:cNvSpPr/>
          <p:nvPr/>
        </p:nvSpPr>
        <p:spPr>
          <a:xfrm>
            <a:off x="822960" y="5029200"/>
            <a:ext cx="10515600" cy="1097280"/>
          </a:xfrm>
          <a:prstGeom prst="roundRect">
            <a:avLst>
              <a:gd name="adj" fmla="val 5000"/>
            </a:avLst>
          </a:prstGeom>
          <a:solidFill>
            <a:srgbClr val="FDF0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234440" y="5257800"/>
            <a:ext cx="9692640" cy="822960"/>
          </a:xfrm>
          <a:prstGeom prst="rect">
            <a:avLst/>
          </a:prstGeom>
          <a:noFill/>
        </p:spPr>
        <p:txBody>
          <a:bodyPr wrap="square" lIns="0" rIns="0" tIns="0" bIns="0">
            <a:spAutoFit/>
          </a:bodyPr>
          <a:lstStyle/>
          <a:p>
            <a:pPr algn="l">
              <a:lnSpc>
                <a:spcPct val="125000"/>
              </a:lnSpc>
              <a:spcAft>
                <a:spcPts val="200"/>
              </a:spcAft>
            </a:pPr>
            <a:r>
              <a:rPr sz="2000" b="1">
                <a:solidFill>
                  <a:srgbClr val="ED7623"/>
                </a:solidFill>
                <a:latin typeface="Helvetica Neue"/>
              </a:rPr>
              <a:t>Medio minuto: cuatro frases, cuatro clips, un archivo.</a:t>
            </a:r>
          </a:p>
          <a:p>
            <a:pPr algn="l">
              <a:lnSpc>
                <a:spcPct val="125000"/>
              </a:lnSpc>
              <a:spcAft>
                <a:spcPts val="200"/>
              </a:spcAft>
            </a:pPr>
            <a:r>
              <a:rPr sz="1600" b="0">
                <a:solidFill>
                  <a:srgbClr val="6E6E6E"/>
                </a:solidFill>
                <a:latin typeface="Helvetica Neue"/>
              </a:rPr>
              <a:t>Y una línea diciendo qué hiciste con IA.</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ED7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822960" y="1600200"/>
            <a:ext cx="10607040" cy="3200400"/>
          </a:xfrm>
          <a:prstGeom prst="roundRect">
            <a:avLst>
              <a:gd name="adj" fmla="val 5000"/>
            </a:avLst>
          </a:prstGeom>
          <a:solidFill>
            <a:srgbClr val="F5F3EF"/>
          </a:solidFill>
          <a:ln w="11430">
            <a:solidFill>
              <a:srgbClr val="E3E0D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371600" y="2103120"/>
            <a:ext cx="9509760" cy="1554480"/>
          </a:xfrm>
          <a:prstGeom prst="rect">
            <a:avLst/>
          </a:prstGeom>
          <a:noFill/>
        </p:spPr>
        <p:txBody>
          <a:bodyPr wrap="square" lIns="0" rIns="0" tIns="0" bIns="0">
            <a:spAutoFit/>
          </a:bodyPr>
          <a:lstStyle/>
          <a:p>
            <a:pPr algn="l">
              <a:lnSpc>
                <a:spcPct val="100000"/>
              </a:lnSpc>
              <a:spcAft>
                <a:spcPts val="0"/>
              </a:spcAft>
            </a:pPr>
            <a:r>
              <a:rPr sz="4000" b="1">
                <a:solidFill>
                  <a:srgbClr val="11406E"/>
                </a:solidFill>
                <a:latin typeface="Helvetica Neue"/>
              </a:rPr>
              <a:t>Lo difícil nunca</a:t>
            </a:r>
          </a:p>
          <a:p>
            <a:pPr algn="l">
              <a:lnSpc>
                <a:spcPct val="100000"/>
              </a:lnSpc>
              <a:spcAft>
                <a:spcPts val="0"/>
              </a:spcAft>
            </a:pPr>
            <a:r>
              <a:rPr sz="4000" b="1">
                <a:solidFill>
                  <a:srgbClr val="ED7623"/>
                </a:solidFill>
                <a:latin typeface="Helvetica Neue"/>
              </a:rPr>
              <a:t>fue la tecnología</a:t>
            </a:r>
          </a:p>
        </p:txBody>
      </p:sp>
      <p:sp>
        <p:nvSpPr>
          <p:cNvPr id="5" name="TextBox 4"/>
          <p:cNvSpPr txBox="1"/>
          <p:nvPr/>
        </p:nvSpPr>
        <p:spPr>
          <a:xfrm>
            <a:off x="1371600" y="3886200"/>
            <a:ext cx="9509760" cy="822960"/>
          </a:xfrm>
          <a:prstGeom prst="rect">
            <a:avLst/>
          </a:prstGeom>
          <a:noFill/>
        </p:spPr>
        <p:txBody>
          <a:bodyPr wrap="square" lIns="0" rIns="0" tIns="0" bIns="0">
            <a:spAutoFit/>
          </a:bodyPr>
          <a:lstStyle/>
          <a:p>
            <a:pPr algn="l">
              <a:lnSpc>
                <a:spcPct val="125000"/>
              </a:lnSpc>
              <a:spcAft>
                <a:spcPts val="600"/>
              </a:spcAft>
            </a:pPr>
            <a:r>
              <a:rPr sz="2100" b="0">
                <a:solidFill>
                  <a:srgbClr val="6E6E6E"/>
                </a:solidFill>
                <a:latin typeface="Helvetica Neue"/>
              </a:rPr>
              <a:t>Fue decidir qué valía la pena contar, y decirlo en cuatro frases.</a:t>
            </a:r>
          </a:p>
        </p:txBody>
      </p:sp>
      <p:pic>
        <p:nvPicPr>
          <p:cNvPr id="6" name="Picture 5" descr="logo_ucaldas.png"/>
          <p:cNvPicPr>
            <a:picLocks noChangeAspect="1"/>
          </p:cNvPicPr>
          <p:nvPr/>
        </p:nvPicPr>
        <p:blipFill>
          <a:blip r:embed="rId3"/>
          <a:stretch>
            <a:fillRect/>
          </a:stretch>
        </p:blipFill>
        <p:spPr>
          <a:xfrm>
            <a:off x="822960" y="5349240"/>
            <a:ext cx="1721725" cy="420624"/>
          </a:xfrm>
          <a:prstGeom prst="rect">
            <a:avLst/>
          </a:prstGeom>
        </p:spPr>
      </p:pic>
      <p:sp>
        <p:nvSpPr>
          <p:cNvPr id="7" name="TextBox 6"/>
          <p:cNvSpPr txBox="1"/>
          <p:nvPr/>
        </p:nvSpPr>
        <p:spPr>
          <a:xfrm>
            <a:off x="850392" y="5861303"/>
            <a:ext cx="6400800" cy="274320"/>
          </a:xfrm>
          <a:prstGeom prst="rect">
            <a:avLst/>
          </a:prstGeom>
          <a:noFill/>
        </p:spPr>
        <p:txBody>
          <a:bodyPr wrap="square" lIns="0" rIns="0" tIns="0" bIns="0">
            <a:spAutoFit/>
          </a:bodyPr>
          <a:lstStyle/>
          <a:p>
            <a:pPr algn="l">
              <a:spcAft>
                <a:spcPts val="600"/>
              </a:spcAft>
            </a:pPr>
            <a:r>
              <a:rPr sz="1000" b="1">
                <a:solidFill>
                  <a:srgbClr val="ED7623"/>
                </a:solidFill>
                <a:latin typeface="Helvetica Neue"/>
              </a:rPr>
              <a:t>FACULTAD DE INTELIGENCIA ARTIFICIAL E INGENIERÍAS</a:t>
            </a:r>
          </a:p>
        </p:txBody>
      </p:sp>
      <p:sp>
        <p:nvSpPr>
          <p:cNvPr id="8" name="TextBox 7"/>
          <p:cNvSpPr txBox="1"/>
          <p:nvPr/>
        </p:nvSpPr>
        <p:spPr>
          <a:xfrm>
            <a:off x="822960" y="6355080"/>
            <a:ext cx="10515600" cy="365760"/>
          </a:xfrm>
          <a:prstGeom prst="rect">
            <a:avLst/>
          </a:prstGeom>
          <a:noFill/>
        </p:spPr>
        <p:txBody>
          <a:bodyPr wrap="square" lIns="0" rIns="0" tIns="0" bIns="0">
            <a:spAutoFit/>
          </a:bodyPr>
          <a:lstStyle/>
          <a:p>
            <a:pPr algn="l">
              <a:spcAft>
                <a:spcPts val="600"/>
              </a:spcAft>
            </a:pPr>
            <a:r>
              <a:rPr sz="1300" b="0">
                <a:solidFill>
                  <a:srgbClr val="6E6E6E"/>
                </a:solidFill>
                <a:latin typeface="Helvetica Neue"/>
              </a:rPr>
              <a:t>Universidad de Caldas · 2026-2</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