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 corta. Hoy es un taller de producción: cada persona sale con un video de un minuto en el que ella misma, con su cara y su voz, explica algo de su carrera.</a:t>
            </a:r>
          </a:p>
          <a:p/>
          <a:p>
            <a:r>
              <a:t>Mostrar primero el ejemplo terminado y después desarmarlo. Que vean el resultado antes del procedimiento.</a:t>
            </a:r>
          </a:p>
          <a:p/>
          <a:p>
            <a:r>
              <a:t>AVISO QUE HAY QUE DAR DE ENTRADA: esto necesita cuenta de Google personal; la institucional no sirve para generar video (comprobado en UCaldas y en la UAM).</a:t>
            </a:r>
          </a:p>
          <a:p/>
          <a:p>
            <a:r>
              <a:t>Y OJO CON DÓNDE: en la app de Gemini, Crear video solo aparece con plan de pago. En cuenta gratuita NO está; lo comprobé. La puerta gratuita es Google Flow: 50 créditos diarios según la página de precios de Google. Verifícalo tú antes de la clase. Si no sirve ese día, Ruta B (diapositiva 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entregable. Mostrarlo, no explicarlo.</a:t>
            </a:r>
          </a:p>
          <a:p/>
          <a:p>
            <a:r>
              <a:t>Reproducir el ejemplo. Preguntar después: ¿cuántos videos distintos creen que hay aquí? La respuesta —son clips pegados— es la agenda de la clase.</a:t>
            </a:r>
          </a:p>
          <a:p/>
          <a:p>
            <a:r>
              <a:t>El punto pedagógico: no se hace un video de corrido. Se hacen pedazos de diez segundos y se pegan. Eso es lo que lo vuelve alcanzable.</a:t>
            </a:r>
          </a:p>
          <a:p/>
          <a:p>
            <a:r>
              <a:t>POR QUÉ TRES Y NO SEIS: no es una decisión pedagógica, es aritmética. Flow da 50 créditos gratis al día y cada clip de 10 segundos cuesta 15. Son tres clips, ni uno más.</a:t>
            </a:r>
          </a:p>
          <a:p/>
          <a:p>
            <a:r>
              <a:t>APROVECHA ESO: como no hay créditos para ensayar, el guion TIENE que estar bien antes de generar. Es el mejor argumento que vas a tener para que no se salten el paso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camino completo. Cuatro pasos obligatorios y dos opcionales.</a:t>
            </a:r>
          </a:p>
          <a:p/>
          <a:p>
            <a:r>
              <a:t>Insistir en el orden: el guion primero, siempre. El error más común es empezar por la imagen bonita y después no saber qué decir.</a:t>
            </a:r>
          </a:p>
          <a:p/>
          <a:p>
            <a:r>
              <a:t>Los pasos 5 y 6 son mejoras, no requisitos. Un video con los cuatro primeros ya está terminado.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herramientas, nada más. Y una advertencia que hay que dar en voz alta.</a:t>
            </a:r>
          </a:p>
          <a:p/>
          <a:p>
            <a:r>
              <a:t>COMPROBADO al preparar la clase, cuenta por cuenta:</a:t>
            </a:r>
          </a:p>
          <a:p>
            <a:r>
              <a:t>· Institucional (UCaldas y UAM): NO tiene Crear video. El menú llega hasta Deep Research.</a:t>
            </a:r>
          </a:p>
          <a:p>
            <a:r>
              <a:t>· Gmail personal GRATUITA: tampoco. Crear video no aparece en el menú. Esto fue una sorpresa y cambió el diseño de la clase.</a:t>
            </a:r>
          </a:p>
          <a:p>
            <a:r>
              <a:t>· Gmail personal con plan PRO: sí lo tiene, unos 3 videos al día.</a:t>
            </a:r>
          </a:p>
          <a:p>
            <a:r>
              <a:t>· GOOGLE FLOW (flow.google.com): PROBADO de punta a punta en una cuenta de Google gratuita, sin suscripción. Funciona. 50 créditos diarios que se renuevan a las 12:35 a.m. Un clip de 10 segundos con Omni 1.1 Flash cuesta 15 créditos: alcanza para TRES clips al día, exactamente el encargo. El clip sale en 720p con audio; 1080p y 4K piden plan.</a:t>
            </a:r>
          </a:p>
          <a:p>
            <a:r>
              <a:t>· OJO CON EL MODELO EN FLOW: por defecto usa Veo 3.1 Lite, que solo llega a 8 segundos, y falló tres veces seguidas con un error genérico. Hay que pedir Omni 1.1 Flash explícitamente («usa omni»). Decírselo a los estudiantes de entrada, o van a perder clips en errores.</a:t>
            </a:r>
          </a:p>
          <a:p>
            <a:r>
              <a:t>· Gemini NO une videos: ejecuta código pero sin herramientas de video, y devuelve un comando de terminal. ChatGPT sí, en unos quince segundos.</a:t>
            </a:r>
          </a:p>
          <a:p/>
          <a:p>
            <a:r>
              <a:t>Por eso la Ruta B de la diapositiva 13 no es un adorno.</a:t>
            </a:r>
          </a:p>
          <a:p/>
          <a:p>
            <a:r>
              <a:t>SI ALGUIEN PREGUNTA POR OTRAS RUTAS, las dos obvias están descartadas y lo comprobé:</a:t>
            </a:r>
          </a:p>
          <a:p>
            <a:r>
              <a:t>· SORA (OpenAI) ya no existe. Lo descontinuaron el 26 de abril de 2026, web y app; la API se apaga el 24 de septiembre de 2026. Está en el centro de ayuda de OpenAI.</a:t>
            </a:r>
          </a:p>
          <a:p>
            <a:r>
              <a:t>· GOOGLE AI STUDIO sí tiene generación de video, pero es de pago: el único modelo de la categoría Video está marcado "Paid" y cuesta unos 7,50 dólares por salida. El nivel gratuito de AI Studio cubre texto y audio —por eso la voz sí funciona ahí— pero no video.</a:t>
            </a:r>
          </a:p>
          <a:p/>
          <a:p>
            <a:r>
              <a:t>O sea: para video gratis, la app de Gemini con cuenta personal es la única puerta. No hay plan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bloque va antes de producir nada.</a:t>
            </a:r>
          </a:p>
          <a:p/>
          <a:p>
            <a:r>
              <a:t>Tres reglas:</a:t>
            </a:r>
          </a:p>
          <a:p>
            <a:r>
              <a:t>1. Solo tu propia cara y tu propia voz. Nunca la de un compañero sin que lo sepa, nunca la de alguien famoso, nunca la de un profesor.</a:t>
            </a:r>
          </a:p>
          <a:p>
            <a:r>
              <a:t>2. Se declara. En el video o en la descripción: qué se hizo con IA.</a:t>
            </a:r>
          </a:p>
          <a:p>
            <a:r>
              <a:t>3. Nada confidencial en las herramientas.</a:t>
            </a:r>
          </a:p>
          <a:p/>
          <a:p>
            <a:r>
              <a:t>Esta sesión lo hace más urgente que antes: ahora adjuntan una foto y sale esa persona hablando. Es exactamente la mecánica de un deepfake. Por eso la regla 1 deja de ser abstracta.</a:t>
            </a:r>
          </a:p>
          <a:p/>
          <a:p>
            <a:r>
              <a:t>Conectar con la sesión de ética: hacerlo con la cara de otro sin su consentimiento puede ser delito en Colombia.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PARA EL GUION:</a:t>
            </a:r>
          </a:p>
          <a:p/>
          <a:p>
            <a:r>
              <a:t>«Eres guionista de videos educativos cortos. Escríbeme un guion de 75 palabras para un video de 30 segundos.</a:t>
            </a:r>
          </a:p>
          <a:p>
            <a:r>
              <a:t>Tema: [lo que haces en tu carrera, o un concepto que te costó entender].</a:t>
            </a:r>
          </a:p>
          <a:p>
            <a:r>
              <a:t>Para: alguien que no sabe nada del tema y no es de tu área.</a:t>
            </a:r>
          </a:p>
          <a:p>
            <a:r>
              <a:t>Estructura: una primera frase que enganche, una idea central explicada con una comparación cotidiana, y un cierre que deje una pregunta.</a:t>
            </a:r>
          </a:p>
          <a:p>
            <a:r>
              <a:t>Reglas: frases cortas, para decir en voz alta. Sin tecnicismos sin explicar. Nada de "en el mundo actual" ni "hoy en día". Al final, dime cuántas palabras tiene.»</a:t>
            </a:r>
          </a:p>
          <a:p/>
          <a:p>
            <a:r>
              <a:t>Y ENSEGUIDA, EL QUE DE VERDAD IMPORTA HOY:</a:t>
            </a:r>
          </a:p>
          <a:p/>
          <a:p>
            <a:r>
              <a:t>«Parte este guion en 3 frases de unas 25 palabras cada una. Cada frase tiene que poder decirse sola en 10 segundos y entenderse sin la anterior. Numéralas.»</a:t>
            </a:r>
          </a:p>
          <a:p/>
          <a:p>
            <a:r>
              <a:t>LA CUENTA: se habla a unas 150 palabras por minuto, o sea 25 palabras cada 10 segundos. Tres clips = 75 palabras = 30 segundos. Hacer la cuenta en el tablero con ellos; es lo que vuelve el encargo concreto.</a:t>
            </a:r>
          </a:p>
          <a:p/>
          <a:p>
            <a:r>
              <a:t>Que lean cada frase en voz alta y la cronometren. Si una no cabe en 10 segundos, hay que partirla.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 es el "voz a texto" del título y funciona mejor como truco que como tema.</a:t>
            </a:r>
          </a:p>
          <a:p/>
          <a:p>
            <a:r>
              <a:t>Demostración: abrir un Google Doc, Herramientas → Dictado por voz, hablar treinta segundos explicando algo y ver el texto aparecer.</a:t>
            </a:r>
          </a:p>
          <a:p/>
          <a:p>
            <a:r>
              <a:t>Para quien habla mejor de lo que escribe, esto cambia la vida. Y el texto dictado suena natural al decirlo en voz alta, que es justo lo que necesita un guion.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FOTO. Parece el paso tonto y es el que decide si el video se ve bien o ridículo.</a:t>
            </a:r>
          </a:p>
          <a:p/>
          <a:p>
            <a:r>
              <a:t>La misma foto en los tres clips. Si cambian de foto, cambia la persona.</a:t>
            </a:r>
          </a:p>
          <a:p/>
          <a:p>
            <a:r>
              <a:t>Qué pedirles: de frente, cara bien iluminada, sin gafas de sol, sin otras personas en la imagen. Una foto de documento sirve; una foto de fiesta no.</a:t>
            </a:r>
          </a:p>
          <a:p/>
          <a:p>
            <a:r>
              <a:t>PARA QUIEN NO QUIERA PONER SU CARA: que no adjunte nada y describa un personaje inventado, repitiendo la MISMA descripción palabra por palabra en los tres clips. Queda menos consistente, pero funciona. Nadie está obligado.</a:t>
            </a:r>
          </a:p>
          <a:p/>
          <a:p>
            <a:r>
              <a:t>Aquí es donde conviene repetir la regla 1: la foto es tuya, de nadie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PASO CENTRAL. Aquí se va la mayor parte de la clase.</a:t>
            </a:r>
          </a:p>
          <a:p/>
          <a:p>
            <a:r>
              <a:t>DOS PUERTAS, el mismo prompt en las dos:</a:t>
            </a:r>
          </a:p>
          <a:p>
            <a:r>
              <a:t>· GOOGLE FLOW (flow.google.com): entras con la cuenta de Google y escribes el prompt. 50 créditos diarios; cada clip cuesta 15. Es la puerta de todo el salón.</a:t>
            </a:r>
          </a:p>
          <a:p>
            <a:r>
              <a:t>· APP DE GEMINI: botón + → Crear video. Solo con plan de pago.</a:t>
            </a:r>
          </a:p>
          <a:p/>
          <a:p>
            <a:r>
              <a:t>EN FLOW HAY QUE PEDIR EL MODELO POR SU NOMBRE: el que usa por defecto (Veo 3.1 Lite) solo llega a 8 segundos y al probarlo falló tres veces. Hay que decirle «usa omni» para que use Omni 1.1 Flash y dé los 10 segundos. Dilo antes de soltarlos, o van a quemar créditos en errores.</a:t>
            </a:r>
          </a:p>
          <a:p/>
          <a:p>
            <a:r>
              <a:t>PARA DESCARGAR: menú ⋮ del clip → Descargar → 720p. Las de 1080p y 4K piden plan.</a:t>
            </a:r>
          </a:p>
          <a:p/>
          <a:p>
            <a:r>
              <a:t>PROMPT, uno por frase:</a:t>
            </a:r>
          </a:p>
          <a:p>
            <a:r>
              <a:t>«La persona de la foto, en plano medio dentro de [el lugar: un laboratorio, una sala de audiencias, un taller, una cancha, un afloramiento rocoso], con luz natural suave.</a:t>
            </a:r>
          </a:p>
          <a:p>
            <a:r>
              <a:t>Mira a la cámara y dice en español latinoamericano, tono cercano y pausado: «[una de tus frases]»</a:t>
            </a:r>
          </a:p>
          <a:p>
            <a:r>
              <a:t>Cámara fija, sin texto en pantalla.»</a:t>
            </a:r>
          </a:p>
          <a:p/>
          <a:p>
            <a:r>
              <a:t>EL ERROR QUE VA A PASAR Y HAY QUE ANTICIPAR (solo en la app de Gemini): si adjuntan la foto ANTES de activar Crear video, Gemini se sale del modo video y contesta por escrito. Me pasó dos veces al preparar la clase.</a:t>
            </a:r>
          </a:p>
          <a:p>
            <a:r>
              <a:t>EL ORDEN ES: botón + → Crear video → DESPUÉS la foto → después el prompt.</a:t>
            </a:r>
          </a:p>
          <a:p>
            <a:r>
              <a:t>Antes de enviar, que comprueben que abajo diga «Videos» y aparezca «Horizontal».</a:t>
            </a:r>
          </a:p>
          <a:p/>
          <a:p>
            <a:r>
              <a:t>Cada clip tarda entre dos y cuatro minutos. Que los lancen seguidos, no de a uno esperando.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UNIR LOS CLIPS.</a:t>
            </a:r>
          </a:p>
          <a:p/>
          <a:p>
            <a:r>
              <a:t>COMPROBADO: Gemini NO puede. Ejecuta código, pero su entorno no tiene herramientas de video, así que responde con un comando de terminal para que lo corras tú. Inútil aquí.</a:t>
            </a:r>
          </a:p>
          <a:p/>
          <a:p>
            <a:r>
              <a:t>ChatGPT SÍ. Subes los clips y le dices:</a:t>
            </a:r>
          </a:p>
          <a:p>
            <a:r>
              <a:t>«Une estos clips en un solo video, en este orden: clip1, clip2, clip3. Conserva el audio de cada uno. Déjame el archivo mp4 para descargar.»</a:t>
            </a:r>
          </a:p>
          <a:p/>
          <a:p>
            <a:r>
              <a:t>Tarda unos quince segundos. Devuelve el MP4 completo, con el audio intacto y en 1280x720.</a:t>
            </a:r>
          </a:p>
          <a:p/>
          <a:p>
            <a:r>
              <a:t>Un detalle honesto: recodifica el video, así que pierde algo de calidad. Para la clase no se nota.</a:t>
            </a:r>
          </a:p>
          <a:p/>
          <a:p>
            <a:r>
              <a:t>ESTE ES UN BUEN MOMENTO PARA UNA PREGUNTA: ¿por qué una IA puede hacer esto y la otra no? Respuesta: no es "inteligencia", son las herramientas que le conectaron. Es la misma idea de la sesión del asistente.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VOZ. Paso opcional: los clips ya vienen con voz.</a:t>
            </a:r>
          </a:p>
          <a:p/>
          <a:p>
            <a:r>
              <a:t>Cuándo vale la pena hacerlo aparte: cuando la voz que eligió Veo no les gusta, o cuando quieren que suene igual en los tres clips (Veo puede variarla un poco entre uno y otro).</a:t>
            </a:r>
          </a:p>
          <a:p/>
          <a:p>
            <a:r>
              <a:t>ELEVENLABS, capa gratuita: unos 10.000 créditos al mes, que son unos 10 minutos de audio. De sobra para un minuto. Tiene voces en español sin pedir tarjeta. No incluye licencia comercial: hay que mencionar la herramienta, cosa que ya hacen igual por la regla 2. Tampoco incluye clonación de voz: eso empieza en el plan de pago.</a:t>
            </a:r>
          </a:p>
          <a:p/>
          <a:p>
            <a:r>
              <a:t>GOOGLE AI STUDIO: ojo, las voces filtradas como "Spanish" piden clave de pago. Filtrar por Gender y usar una genérica: leen español perfectamente.</a:t>
            </a:r>
          </a:p>
          <a:p/>
          <a:p>
            <a:r>
              <a:t>LA RUTA MÁS DIRECTA SI QUIEREN QUE SUENE COMO ELLOS: grabarse. Clonar la voz cuesta plata; grabarla no.</a:t>
            </a:r>
          </a:p>
          <a:p/>
          <a:p>
            <a:r>
              <a:t>INDICACIÓN DE ESTILO: «Español latinoamericano, tono cercano y pausado, como quien le explica algo a un amigo. No leas como noticiero.»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REMATES, en CapCut sobre el video ya unido. Opcional, pero sube mucho el resultado.</a:t>
            </a:r>
          </a:p>
          <a:p/>
          <a:p>
            <a:r>
              <a:t>1. Subtítulos automáticos. CapCut los saca del audio. REVISARLOS: siempre hay dos o tres palabras mal, y los nombres propios casi nunca salen bien.</a:t>
            </a:r>
          </a:p>
          <a:p>
            <a:r>
              <a:t>2. Música de fondo al 10 o 15 % del volumen. Si compite con la voz, está muy alta.</a:t>
            </a:r>
          </a:p>
          <a:p>
            <a:r>
              <a:t>3. Cortar los silencios entre clip y clip: Veo suele dejar medio segundo muerto al final de cada uno.</a:t>
            </a:r>
          </a:p>
          <a:p/>
          <a:p>
            <a:r>
              <a:t>TRUCO PARA DECIR EN VOZ ALTA: música muy alta y subtítulos sin revisar son las dos marcas de un video amateur. Arreglar esas dos cosas sube el resultado más que cualquier 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RUTA B. Esta diapositiva no es un adorno: es el plan para quien solo tenga la cuenta institucional, se quede sin créditos, o para todo el salón si Flow no funciona ese día.</a:t>
            </a:r>
          </a:p>
          <a:p/>
          <a:p>
            <a:r>
              <a:t>Importante decirlo sin dramatismo: el video sale bien igual. Lo que pesa es lo bien contado, no el movimiento.</a:t>
            </a:r>
          </a:p>
          <a:p/>
          <a:p>
            <a:r>
              <a:t>Los cuatro pasos:</a:t>
            </a:r>
          </a:p>
          <a:p>
            <a:r>
              <a:t>1. AMBIENTE: «Genera una imagen horizontal 16:9 de [el lugar]. Fotografía realista, luz natural suave. Sin personas. Sin texto. Deja espacio libre en el lado derecho.»</a:t>
            </a:r>
          </a:p>
          <a:p>
            <a:r>
              <a:t>2. PERSONAJE: «Con esta foto mía como referencia, genera un retrato de medio cuerpo del mismo personaje. Fondo gris liso y uniforme, sin sombras ni degradados. Formato vertical.» El fondo liso es lo que permite recortarlo.</a:t>
            </a:r>
          </a:p>
          <a:p>
            <a:r>
              <a:t>3. VOZ: ElevenLabs con el guion completo.</a:t>
            </a:r>
          </a:p>
          <a:p>
            <a:r>
              <a:t>4. MONTAJE en CapCut: ambiente de fondo, avatar encima con «quitar fondo», la voz debajo, subtítulos, y un zoom lento sobre la imagen para que algo quieto se vea vivo.</a:t>
            </a:r>
          </a:p>
          <a:p/>
          <a:p>
            <a:r>
              <a:t>Todo esto funciona en cualquier cuenta y sin cupos.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EJEMPLO. Desarmarlo en vivo mostrando las piezas.</a:t>
            </a:r>
          </a:p>
          <a:p/>
          <a:p>
            <a:r>
              <a:t>Tema: qué es la inteligencia artificial y cómo se entrena, para gente de áreas no ingenieriles.</a:t>
            </a:r>
          </a:p>
          <a:p/>
          <a:p>
            <a:r>
              <a:t>EL GUION COMPLETO. El ejemplo que se proyecta son las dos primeras frases; a ellos se les piden tres. Dejo las seis por si quieres mostrar la versión larga:</a:t>
            </a:r>
          </a:p>
          <a:p>
            <a:r>
              <a:t>1. «¿Alguna vez le enseñaste algo a un niño mostrándole ejemplos? Así se entrena la inteligencia artificial.»</a:t>
            </a:r>
          </a:p>
          <a:p>
            <a:r>
              <a:t>2. «Nadie le explica las reglas. Le muestran miles de fotos de perros, hasta que reconoce uno que nunca había visto.»</a:t>
            </a:r>
          </a:p>
          <a:p>
            <a:r>
              <a:t>3. «Nadie le dijo que un perro tiene cuatro patas. Lo fue deduciendo de los ejemplos que le pusieron enfrente.»</a:t>
            </a:r>
          </a:p>
          <a:p>
            <a:r>
              <a:t>4. «Por eso aprende lo que le mostramos. Y también aprende nuestros errores, sin que nadie se lo proponga.»</a:t>
            </a:r>
          </a:p>
          <a:p>
            <a:r>
              <a:t>5. «Si solo le mostramos un tipo de perro, se equivoca con todos los demás. No por maldad: por falta de ejemplos.»</a:t>
            </a:r>
          </a:p>
          <a:p>
            <a:r>
              <a:t>6. «Entonces la pregunta no es qué puede hacer la inteligencia artificial. Es qué ejemplos le estamos mostrando nosotros.»</a:t>
            </a:r>
          </a:p>
          <a:p/>
          <a:p>
            <a:r>
              <a:t>PROMPT DE CADA CLIP (cambiando solo la frase):</a:t>
            </a:r>
          </a:p>
          <a:p>
            <a:r>
              <a:t>«La persona de la foto, en plano medio dentro de un salón de clase universitario vacío con luz natural suave. Mira a la cámara y dice en español latinoamericano, tono cercano y pausado: «[la frase]». Cámara fija, sin texto en pantalla.»</a:t>
            </a:r>
          </a:p>
          <a:p/>
          <a:p>
            <a:r>
              <a:t>MOSTRAR QUE EL PERSONAJE SE MANTIENE: misma cara, misma camisa, mismo salón en los dos clips. Eso lo logra adjuntar la misma foto, nada más.</a:t>
            </a:r>
          </a:p>
          <a:p/>
          <a:p>
            <a:r>
              <a:t>Si quieres las tres frases justas para el encargo de clase, usa la 1, la 2 y la 6: enganchan, explican y cierran con pregunta.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ENCARGO. Leerlo y soltarlos a trabajar.</a:t>
            </a:r>
          </a:p>
          <a:p/>
          <a:p>
            <a:r>
              <a:t>Dos opciones de tema, para que nadie se quede en blanco:</a:t>
            </a:r>
          </a:p>
          <a:p>
            <a:r>
              <a:t>· Qué hace alguien de tu carrera un día normal de trabajo.</a:t>
            </a:r>
          </a:p>
          <a:p>
            <a:r>
              <a:t>· Un concepto que a ti te costó entender, explicado como te hubiera gustado que te lo explicaran.</a:t>
            </a:r>
          </a:p>
          <a:p/>
          <a:p>
            <a:r>
              <a:t>La segunda suele dar mejores videos: hay algo personal adentro.</a:t>
            </a:r>
          </a:p>
          <a:p/>
          <a:p>
            <a:r>
              <a:t>Mientras circulas, lo que más vas a tener que decir:</a:t>
            </a:r>
          </a:p>
          <a:p>
            <a:r>
              <a:t>· «Devuélvete al guion» — a quien empezó por los clips.</a:t>
            </a:r>
          </a:p>
          <a:p>
            <a:r>
              <a:t>· «Cuenta las palabras» — a quien metió cuarenta en una frase de diez segundos.</a:t>
            </a:r>
          </a:p>
          <a:p>
            <a:r>
              <a:t>· «Crear video primero, la foto después» — a quien Gemini le contestó por escrito.</a:t>
            </a:r>
          </a:p>
          <a:p>
            <a:r>
              <a:t>· «Es la misma foto en todos» — a quien le salieron tres personas distintas.</a:t>
            </a:r>
          </a:p>
          <a:p>
            <a:r>
              <a:t>· «Prueba Flow» — a quien no le aparece Crear video en Gemini.</a:t>
            </a:r>
          </a:p>
          <a:p>
            <a:r>
              <a:t>· «Revisa los subtítulos» — a todos.</a:t>
            </a:r>
          </a:p>
          <a:p/>
          <a:p>
            <a:r>
              <a:t>Y para quien no tenga cupo: Ruta B, sin drama.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corto.</a:t>
            </a:r>
          </a:p>
          <a:p/>
          <a:p>
            <a:r>
              <a:t>Que tres o cuatro proyecten lo suyo. No pedir voluntarios al aire: durante la clase, identificar dos o tres que vayan bien y pedírselo con anticipación.</a:t>
            </a:r>
          </a:p>
          <a:p/>
          <a:p>
            <a:r>
              <a:t>Preguntas para cerrar:</a:t>
            </a:r>
          </a:p>
          <a:p>
            <a:r>
              <a:t>· ¿Qué parte costó más? (casi siempre: partir el guion, no la tecnología)</a:t>
            </a:r>
          </a:p>
          <a:p>
            <a:r>
              <a:t>· ¿En qué se nota que es IA?</a:t>
            </a:r>
          </a:p>
          <a:p>
            <a:r>
              <a:t>· Hoy pusiste tu cara a decir algo que tú escribiste. ¿Qué pasaría si alguien pusiera tu cara a decir algo que tú no escribiste?</a:t>
            </a:r>
          </a:p>
          <a:p/>
          <a:p>
            <a:r>
              <a:t>La última conecta directo con la sesión de ética y deepfakes. Déjala sin responder; se responde la próxima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cal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7200"/>
            <a:ext cx="1946298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" y="10241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ED7623"/>
                </a:solidFill>
                <a:latin typeface="Helvetica Neue"/>
              </a:rPr>
              <a:t>FACULTAD DE INTELIGENCIA ARTIFICIAL E INGENIERÍAS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5789C"/>
                </a:solidFill>
                <a:latin typeface="Helvetica Neue"/>
              </a:rPr>
              <a:t>SESIÓN 6 · INTRODUCCIÓN A LA INFORMÁTICA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7863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600" b="1">
                <a:solidFill>
                  <a:srgbClr val="11406E"/>
                </a:solidFill>
                <a:latin typeface="Helvetica Neue"/>
              </a:rPr>
              <a:t>Tu voz,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600" b="1">
                <a:solidFill>
                  <a:srgbClr val="ED7623"/>
                </a:solidFill>
                <a:latin typeface="Helvetica Neue"/>
              </a:rPr>
              <a:t>tu cara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600" b="1">
                <a:solidFill>
                  <a:srgbClr val="11406E"/>
                </a:solidFill>
                <a:latin typeface="Helvetica Neue"/>
              </a:rPr>
              <a:t>y tu historia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>
                <a:solidFill>
                  <a:srgbClr val="6E6E6E"/>
                </a:solidFill>
                <a:latin typeface="Helvetica Neue"/>
              </a:rPr>
              <a:t>Tres clips de diez segundos y medio minuto de video con tu propia cara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651760"/>
            <a:ext cx="21945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0">
                <a:solidFill>
                  <a:srgbClr val="11406E"/>
                </a:solidFill>
                <a:latin typeface="Helvetica Neue"/>
              </a:rPr>
              <a:t>🎬</a:t>
            </a:r>
          </a:p>
          <a:p>
            <a:pPr algn="l">
              <a:spcAft>
                <a:spcPts val="400"/>
              </a:spcAft>
            </a:pPr>
            <a:r>
              <a:rPr sz="5400" b="0">
                <a:solidFill>
                  <a:srgbClr val="11406E"/>
                </a:solidFill>
                <a:latin typeface="Helvetica Neue"/>
              </a:rPr>
              <a:t>🧑</a:t>
            </a:r>
          </a:p>
          <a:p>
            <a:pPr algn="l">
              <a:spcAft>
                <a:spcPts val="400"/>
              </a:spcAft>
            </a:pPr>
            <a:r>
              <a:rPr sz="5400" b="0">
                <a:solidFill>
                  <a:srgbClr val="11406E"/>
                </a:solidFill>
                <a:latin typeface="Helvetica Neue"/>
              </a:rP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E6E"/>
                </a:solidFill>
                <a:latin typeface="Helvetica Neue"/>
              </a:rPr>
              <a:t>Universidad de Caldas · 2026-2 · Todo con herramientas gratuitas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D7623"/>
                </a:solidFill>
                <a:latin typeface="Helvetica Neue"/>
              </a:rPr>
              <a:t>LO QUE VAS A TENER AL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1406E"/>
                </a:solidFill>
                <a:latin typeface="Helvetica Neue"/>
              </a:rPr>
              <a:t>Medio minuto, en tres pedazos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0">
                <a:solidFill>
                  <a:srgbClr val="6E6E6E"/>
                </a:solidFill>
                <a:latin typeface="Helvetica Neue"/>
              </a:rPr>
              <a:t>Nadie hace un video de corrido de una sola vez.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0">
                <a:solidFill>
                  <a:srgbClr val="6E6E6E"/>
                </a:solidFill>
                <a:latin typeface="Helvetica Neue"/>
              </a:rPr>
              <a:t>Se hacen tres de diez segundos y se pegan. Así sí se puede.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77639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11406E"/>
                </a:solidFill>
                <a:latin typeface="Helvetica Neue"/>
              </a:rPr>
              <a:t>📝 Guion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8463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Helvetica Neue"/>
              </a:rPr>
              <a:t>partido en 3 frases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6576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977639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11406E"/>
                </a:solidFill>
                <a:latin typeface="Helvetica Neue"/>
              </a:rPr>
              <a:t>🧑 Tu foto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8463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Helvetica Neue"/>
              </a:rPr>
              <a:t>la misma en todos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977639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11406E"/>
                </a:solidFill>
                <a:latin typeface="Helvetica Neue"/>
              </a:rPr>
              <a:t>🎬 3 clips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8463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Helvetica Neue"/>
              </a:rPr>
              <a:t>10 segundos cada uno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6576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977639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11406E"/>
                </a:solidFill>
                <a:latin typeface="Helvetica Neue"/>
              </a:rPr>
              <a:t>🔗 Unirlos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8463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Helvetica Neue"/>
              </a:rPr>
              <a:t>en ChatGPT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D7623"/>
                </a:solidFill>
                <a:latin typeface="Helvetica Neue"/>
              </a:rPr>
              <a:t>EL CAMINO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1406E"/>
                </a:solidFill>
                <a:latin typeface="Helvetica Neue"/>
              </a:rPr>
              <a:t>Cuatro pasos, y dos de remate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3291840" cy="16916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0487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D7623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871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1406E"/>
                </a:solidFill>
                <a:latin typeface="Helvetica Neue"/>
              </a:rPr>
              <a:t>El guion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6E6E6E"/>
                </a:solidFill>
                <a:latin typeface="Helvetica Neue"/>
              </a:rPr>
              <a:t>Partido en tres frases de 25 palabras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291840" cy="16916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40487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D7623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4871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1406E"/>
                </a:solidFill>
                <a:latin typeface="Helvetica Neue"/>
              </a:rPr>
              <a:t>Tu foto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200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6E6E6E"/>
                </a:solidFill>
                <a:latin typeface="Helvetica Neue"/>
              </a:rPr>
              <a:t>Una sola, de frente. La misma siempre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40280"/>
            <a:ext cx="3291840" cy="16916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0487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D7623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4871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1406E"/>
                </a:solidFill>
                <a:latin typeface="Helvetica Neue"/>
              </a:rPr>
              <a:t>Los clips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6E6E6E"/>
                </a:solidFill>
                <a:latin typeface="Helvetica Neue"/>
              </a:rPr>
              <a:t>Uno por frase, en Flow o Gemini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06240"/>
            <a:ext cx="3291840" cy="16916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370831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D7623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53127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1406E"/>
                </a:solidFill>
                <a:latin typeface="Helvetica Neue"/>
              </a:rPr>
              <a:t>Unirlos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6635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6E6E6E"/>
                </a:solidFill>
                <a:latin typeface="Helvetica Neue"/>
              </a:rPr>
              <a:t>En ChatGPT, en un solo archivo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206240"/>
            <a:ext cx="3291840" cy="16916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370831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35789C"/>
                </a:solidFill>
                <a:latin typeface="Helvetica Neue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453127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1406E"/>
                </a:solidFill>
                <a:latin typeface="Helvetica Neue"/>
              </a:rPr>
              <a:t>La voz  (opcional)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16635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6E6E6E"/>
                </a:solidFill>
                <a:latin typeface="Helvetica Neue"/>
              </a:rPr>
              <a:t>Otra narración encima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06240"/>
            <a:ext cx="3291840" cy="16916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370831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35789C"/>
                </a:solidFill>
                <a:latin typeface="Helvetica Neue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453127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1406E"/>
                </a:solidFill>
                <a:latin typeface="Helvetica Neue"/>
              </a:rPr>
              <a:t>Remates  (opcional)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16635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6E6E6E"/>
                </a:solidFill>
                <a:latin typeface="Helvetica Neue"/>
              </a:rPr>
              <a:t>Subtítulos y música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D7623"/>
                </a:solidFill>
                <a:latin typeface="Helvetica Neue"/>
              </a:rPr>
              <a:t>LAS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>
                <a:solidFill>
                  <a:srgbClr val="11406E"/>
                </a:solidFill>
                <a:latin typeface="Helvetica Neue"/>
              </a:rPr>
              <a:t>Tres, y una advertencia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06040"/>
            <a:ext cx="10607040" cy="20116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35789C"/>
                </a:solidFill>
                <a:latin typeface="Helvetica Neue"/>
              </a:rPr>
              <a:t>PARA QUÉ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10312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35789C"/>
                </a:solidFill>
                <a:latin typeface="Helvetica Neue"/>
              </a:rPr>
              <a:t>HERRAMIENTA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D7623"/>
                </a:solidFill>
                <a:latin typeface="Helvetica Neue"/>
              </a:rPr>
              <a:t>Guion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670048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6E6E6E"/>
                </a:solidFill>
                <a:latin typeface="Helvetica Neue"/>
              </a:rPr>
              <a:t>Gemini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72968"/>
            <a:ext cx="10607040" cy="7315"/>
          </a:xfrm>
          <a:prstGeom prst="rect">
            <a:avLst/>
          </a:prstGeom>
          <a:solidFill>
            <a:srgbClr val="E3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36976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D7623"/>
                </a:solidFill>
                <a:latin typeface="Helvetica Neue"/>
              </a:rPr>
              <a:t>Los tres clips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236976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6E6E6E"/>
                </a:solidFill>
                <a:latin typeface="Helvetica Neue"/>
              </a:rPr>
              <a:t>Google Flow (gratis) o Gemini (plan de pago)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39896"/>
            <a:ext cx="10607040" cy="7315"/>
          </a:xfrm>
          <a:prstGeom prst="rect">
            <a:avLst/>
          </a:prstGeom>
          <a:solidFill>
            <a:srgbClr val="E3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03904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D7623"/>
                </a:solidFill>
                <a:latin typeface="Helvetica Neue"/>
              </a:rPr>
              <a:t>Unirlos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03904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6E6E6E"/>
                </a:solidFill>
                <a:latin typeface="Helvetica Neue"/>
              </a:rPr>
              <a:t>ChatGPT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06824"/>
            <a:ext cx="10607040" cy="7315"/>
          </a:xfrm>
          <a:prstGeom prst="rect">
            <a:avLst/>
          </a:prstGeom>
          <a:solidFill>
            <a:srgbClr val="E3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7083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D7623"/>
                </a:solidFill>
                <a:latin typeface="Helvetica Neue"/>
              </a:rPr>
              <a:t>Voz aparte (opcional)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370832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6E6E6E"/>
                </a:solidFill>
                <a:latin typeface="Helvetica Neue"/>
              </a:rPr>
              <a:t>ElevenLabs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873752"/>
            <a:ext cx="10607040" cy="7315"/>
          </a:xfrm>
          <a:prstGeom prst="rect">
            <a:avLst/>
          </a:prstGeom>
          <a:solidFill>
            <a:srgbClr val="E3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D7623"/>
                </a:solidFill>
                <a:latin typeface="Helvetica Neue"/>
              </a:rPr>
              <a:t>Subtítulos y música (opcional)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9377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6E6E6E"/>
                </a:solidFill>
                <a:latin typeface="Helvetica Neue"/>
              </a:rPr>
              <a:t>CapCut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607040" cy="1005840"/>
          </a:xfrm>
          <a:prstGeom prst="roundRect">
            <a:avLst>
              <a:gd name="adj" fmla="val 5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7607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ED7623"/>
                </a:solidFill>
                <a:latin typeface="Helvetica Neue"/>
              </a:rPr>
              <a:t>La puerta gratuita es Google Flow: 50 créditos al día, 15 por clip.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Te alcanza para tres clips. Ni uno de sobra: el guion tiene que estar listo 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D7623"/>
                </a:solidFill>
                <a:latin typeface="Helvetica Neue"/>
              </a:rPr>
              <a:t>ANTES DE PRODUCIR 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1406E"/>
                </a:solidFill>
                <a:latin typeface="Helvetica Neue"/>
              </a:rPr>
              <a:t>Tres reglas que no se negocian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10607040" cy="114300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ED7623"/>
                </a:solidFill>
                <a:latin typeface="Helvetica Neue"/>
              </a:rPr>
              <a:t>Tu cara y tu voz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633472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6E6E6E"/>
                </a:solidFill>
                <a:latin typeface="Helvetica Neue"/>
              </a:rPr>
              <a:t>Solo las tuyas. Adjuntar la foto de otro es hacer un deepfake de esa persona.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49039"/>
            <a:ext cx="10607040" cy="114300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ED7623"/>
                </a:solidFill>
                <a:latin typeface="Helvetica Neue"/>
              </a:rPr>
              <a:t>Se declara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005072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6E6E6E"/>
                </a:solidFill>
                <a:latin typeface="Helvetica Neue"/>
              </a:rPr>
              <a:t>En el video o en la descripción: qué parte se hizo con IA y con qué herramienta.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120640"/>
            <a:ext cx="10607040" cy="114300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ED7623"/>
                </a:solidFill>
                <a:latin typeface="Helvetica Neue"/>
              </a:rPr>
              <a:t>Nada confidencial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376672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6E6E6E"/>
                </a:solidFill>
                <a:latin typeface="Helvetica Neue"/>
              </a:rPr>
              <a:t>Ni datos de pacientes, ni de clientes, ni de menores, ni expedientes.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D7623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05156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1406E"/>
                </a:solidFill>
                <a:latin typeface="Helvetica Neue"/>
              </a:rPr>
              <a:t>El guion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659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5789C"/>
                </a:solidFill>
                <a:latin typeface="Helvetica Neue"/>
              </a:rPr>
              <a:t>Y enseguida, partirlo en 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697480"/>
            <a:ext cx="8778240" cy="21031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017520"/>
            <a:ext cx="8046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400" b="1">
                <a:solidFill>
                  <a:srgbClr val="11406E"/>
                </a:solidFill>
                <a:latin typeface="Helvetica Neue"/>
              </a:rPr>
              <a:t>Se habla a 150 palabras por minuto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400" b="1">
                <a:solidFill>
                  <a:srgbClr val="ED7623"/>
                </a:solidFill>
                <a:latin typeface="Helvetica Neue"/>
              </a:rPr>
              <a:t>3 clips × 10 segundos  =  75 palabras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6E6E6E"/>
                </a:solidFill>
                <a:latin typeface="Helvetica Neue"/>
              </a:rPr>
              <a:t>Cada frase tiene que entenderse sola, sin la anterior.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5074920"/>
            <a:ext cx="8778240" cy="1005840"/>
          </a:xfrm>
          <a:prstGeom prst="roundRect">
            <a:avLst>
              <a:gd name="adj" fmla="val 5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53035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ED7623"/>
                </a:solidFill>
                <a:latin typeface="Helvetica Neue"/>
              </a:rPr>
              <a:t>Lee cada frase en voz alta y cronométrala.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Si no cabe en diez segundos, pártela.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D7623"/>
                </a:solidFill>
                <a:latin typeface="Helvetica Neue"/>
              </a:rPr>
              <a:t>TRUCO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800" b="1">
                <a:solidFill>
                  <a:srgbClr val="11406E"/>
                </a:solidFill>
                <a:latin typeface="Helvetica Neue"/>
              </a:rPr>
              <a:t>Dicta el guion en vez de escribirlo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6E6E6E"/>
                </a:solidFill>
                <a:latin typeface="Helvetica Neue"/>
              </a:rPr>
              <a:t>Un texto dictado suena a persona hablando. Uno escrito suena a texto escrito.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4290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5789C"/>
                </a:solidFill>
                <a:latin typeface="Helvetica Neue"/>
              </a:rPr>
              <a:t>Google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16052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6E6E6E"/>
                </a:solidFill>
                <a:latin typeface="Helvetica Neue"/>
              </a:rPr>
              <a:t>Herramientas → Dictado por voz. Hablas, aparece escrito.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0896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42900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5789C"/>
                </a:solidFill>
                <a:latin typeface="Helvetica Neue"/>
              </a:rPr>
              <a:t>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6052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6E6E6E"/>
                </a:solidFill>
                <a:latin typeface="Helvetica Neue"/>
              </a:rPr>
              <a:t>Grabas una nota de voz en el celular, la subes y le pides la transcripción limpia.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D7623"/>
                </a:solidFill>
                <a:latin typeface="Helvetica Neue"/>
              </a:rPr>
              <a:t>Después lo pules: «Limpia este dictado, quita las muletillas y déjalo en 75 palabras».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D7623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05156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1406E"/>
                </a:solidFill>
                <a:latin typeface="Helvetica Neue"/>
              </a:rPr>
              <a:t>Tu foto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659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5789C"/>
                </a:solidFill>
                <a:latin typeface="Helvetica Neue"/>
              </a:rPr>
              <a:t>La misma en los tres clips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697480"/>
            <a:ext cx="4206240" cy="224028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9718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2200" b="1">
                <a:solidFill>
                  <a:srgbClr val="ED7623"/>
                </a:solidFill>
                <a:latin typeface="Helvetica Neue"/>
              </a:rPr>
              <a:t>Qué sirve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De frente, cara bien iluminada, sin gafas de sol, sin otras personas.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697480"/>
            <a:ext cx="4206240" cy="224028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9718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2200" b="1">
                <a:solidFill>
                  <a:srgbClr val="35789C"/>
                </a:solidFill>
                <a:latin typeface="Helvetica Neue"/>
              </a:rPr>
              <a:t>Sin tu cara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No adjuntes nada y describe un personaje. La misma descripción en los 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5166360"/>
            <a:ext cx="8778240" cy="914400"/>
          </a:xfrm>
          <a:prstGeom prst="roundRect">
            <a:avLst>
              <a:gd name="adj" fmla="val 5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541324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D7623"/>
                </a:solidFill>
                <a:latin typeface="Helvetica Neue"/>
              </a:rPr>
              <a:t>Si cambias de foto entre clips, cambias de persona.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D7623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05156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1406E"/>
                </a:solidFill>
                <a:latin typeface="Helvetica Neue"/>
              </a:rPr>
              <a:t>Los clips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659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5789C"/>
                </a:solidFill>
                <a:latin typeface="Helvetica Neue"/>
              </a:rPr>
              <a:t>Tres, uno por frase. Diez segundos cada uno, con voz incluida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697480"/>
            <a:ext cx="8778240" cy="182880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971800"/>
            <a:ext cx="8046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ED7623"/>
                </a:solidFill>
                <a:latin typeface="Helvetica Neue"/>
              </a:rPr>
              <a:t>Google Flow — 50 créditos al día, 15 por clip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35789C"/>
                </a:solidFill>
                <a:latin typeface="Helvetica Neue"/>
              </a:rPr>
              <a:t>Pídele «usa omni» o te dará solo 8 segundos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Dos a cuatro minutos por clip. Lánzalos seguidos. El prompt está en las notas.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4800600"/>
            <a:ext cx="8778240" cy="1325880"/>
          </a:xfrm>
          <a:prstGeom prst="roundRect">
            <a:avLst>
              <a:gd name="adj" fmla="val 5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5029200"/>
            <a:ext cx="8046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700" b="1">
                <a:solidFill>
                  <a:srgbClr val="ED7623"/>
                </a:solidFill>
                <a:latin typeface="Helvetica Neue"/>
              </a:rPr>
              <a:t>En la app de Gemini: primero Crear video, después la foto.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Al revés se sale del modo video y te contesta por escrito.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Antes de enviar, comprueba que abajo diga «Videos».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D7623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05156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1406E"/>
                </a:solidFill>
                <a:latin typeface="Helvetica Neue"/>
              </a:rPr>
              <a:t>Unirlos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659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5789C"/>
                </a:solidFill>
                <a:latin typeface="Helvetica Neue"/>
              </a:rPr>
              <a:t>Los tres en un solo archivo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697480"/>
            <a:ext cx="4206240" cy="224028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9718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2200" b="1">
                <a:solidFill>
                  <a:srgbClr val="35789C"/>
                </a:solidFill>
                <a:latin typeface="Helvetica Neue"/>
              </a:rPr>
              <a:t>Gemini  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Ejecuta código, pero sin herramientas de video. Te devuelve un comando de terminal.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697480"/>
            <a:ext cx="4206240" cy="224028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97180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2200" b="1">
                <a:solidFill>
                  <a:srgbClr val="ED7623"/>
                </a:solidFill>
                <a:latin typeface="Helvetica Neue"/>
              </a:rPr>
              <a:t>ChatGPT  ✓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Subes los clips, le pides que los una. Quince segundos y te da el MP4.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5166360"/>
            <a:ext cx="8778240" cy="914400"/>
          </a:xfrm>
          <a:prstGeom prst="roundRect">
            <a:avLst>
              <a:gd name="adj" fmla="val 5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541324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5789C"/>
                </a:solidFill>
                <a:latin typeface="Helvetica Neue"/>
              </a:rPr>
              <a:t>¿Por qué una puede y la otra no? No es inteligencia: son las herramientas que le conectaron.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D7623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05156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1406E"/>
                </a:solidFill>
                <a:latin typeface="Helvetica Neue"/>
              </a:rPr>
              <a:t>La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659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5789C"/>
                </a:solidFill>
                <a:latin typeface="Helvetica Neue"/>
              </a:rPr>
              <a:t>Opcional: los clips ya vienen con voz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697480"/>
            <a:ext cx="8778240" cy="10058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28986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D7623"/>
                </a:solidFill>
                <a:latin typeface="Helvetica Neue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87121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1406E"/>
                </a:solidFill>
                <a:latin typeface="Helvetica Neue"/>
              </a:rPr>
              <a:t>ElevenLabs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92608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Gratis: ~10 min al mes. Voces en español sin pedir tarjeta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886200"/>
            <a:ext cx="8778240" cy="10058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408736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D7623"/>
                </a:solidFill>
                <a:latin typeface="Helvetica Neue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05993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1406E"/>
                </a:solidFill>
                <a:latin typeface="Helvetica Neue"/>
              </a:rPr>
              <a:t>Google AI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1148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Filtra por Gender, no por Language: las de español cobran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5074920"/>
            <a:ext cx="8778240" cy="10058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527608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D7623"/>
                </a:solidFill>
                <a:latin typeface="Helvetica Neue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24865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1406E"/>
                </a:solidFill>
                <a:latin typeface="Helvetica Neue"/>
              </a:rPr>
              <a:t>Tu propia voz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3035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Grabarla es gratis. Clonarla cuesta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630936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Hazlo aparte solo si la voz de los clips no te gusta o te suena distinta entre uno y otro.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ED7623"/>
                </a:solidFill>
                <a:latin typeface="Helvetica Neue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05156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1406E"/>
                </a:solidFill>
                <a:latin typeface="Helvetica Neue"/>
              </a:rPr>
              <a:t>Los remates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659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5789C"/>
                </a:solidFill>
                <a:latin typeface="Helvetica Neue"/>
              </a:rPr>
              <a:t>En CapCut, sobre el video ya unido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697480"/>
            <a:ext cx="8778240" cy="82296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82549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D7623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88036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11406E"/>
                </a:solidFill>
                <a:latin typeface="Helvetica Neue"/>
              </a:rPr>
              <a:t>Subtítulos automáticos — y revisarlos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3703320"/>
            <a:ext cx="8778240" cy="82296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83133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D7623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88620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11406E"/>
                </a:solidFill>
                <a:latin typeface="Helvetica Neue"/>
              </a:rPr>
              <a:t>Música de fondo al 10 o 15 % del volumen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709160"/>
            <a:ext cx="8778240" cy="82296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83717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D7623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89204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11406E"/>
                </a:solidFill>
                <a:latin typeface="Helvetica Neue"/>
              </a:rPr>
              <a:t>Cortar el silencio entre clip y clip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5806440"/>
            <a:ext cx="8778240" cy="777240"/>
          </a:xfrm>
          <a:prstGeom prst="roundRect">
            <a:avLst>
              <a:gd name="adj" fmla="val 5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6007608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5789C"/>
                </a:solidFill>
                <a:latin typeface="Helvetica Neue"/>
              </a:rPr>
              <a:t>Música muy alta y subtítulos sin revisar: las dos marcas de un video amateur.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5789C"/>
                </a:solidFill>
                <a:latin typeface="Helvetica Neue"/>
              </a:rPr>
              <a:t>SI NO TIENES CUPO DE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>
                <a:solidFill>
                  <a:srgbClr val="11406E"/>
                </a:solidFill>
                <a:latin typeface="Helvetica Neue"/>
              </a:rPr>
              <a:t>Ruta B: funciona en cualquier cuenta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E6E6E"/>
                </a:solidFill>
                <a:latin typeface="Helvetica Neue"/>
              </a:rPr>
              <a:t>Sale un video quieto pero bien contado. Y lo bien contado pesa más que el movimiento.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2608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5409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D7623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09981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406E"/>
                </a:solidFill>
                <a:latin typeface="Helvetica Neue"/>
              </a:rPr>
              <a:t>Ambiente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118104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Una imagen 16:9 del lugar, sin personas y con espacio libre a un lado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2277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D7623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6849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406E"/>
                </a:solidFill>
                <a:latin typeface="Helvetica Neue"/>
              </a:rPr>
              <a:t>Personaje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986784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Tu foto → retrato con fondo gris liso, para poder recortarlo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6344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91455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D7623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3717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406E"/>
                </a:solidFill>
                <a:latin typeface="Helvetica Neue"/>
              </a:rPr>
              <a:t>Voz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855464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ElevenLabs, con el guion completo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66013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D7623"/>
                </a:solidFill>
                <a:latin typeface="Helvetica Neu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0585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406E"/>
                </a:solidFill>
                <a:latin typeface="Helvetica Neue"/>
              </a:rPr>
              <a:t>Montaje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724144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E6E6E"/>
                </a:solidFill>
                <a:latin typeface="Helvetica Neue"/>
              </a:rPr>
              <a:t>CapCut: fondo, avatar sin fondo, voz, subtítulos y zoom lento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Helvetica Neue"/>
              </a:rPr>
              <a:t>Los prompts completos están en las notas.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D7623"/>
                </a:solidFill>
                <a:latin typeface="Helvetica Neue"/>
              </a:rPr>
              <a:t>EL 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>
                <a:solidFill>
                  <a:srgbClr val="11406E"/>
                </a:solidFill>
                <a:latin typeface="Helvetica Neue"/>
              </a:rPr>
              <a:t>Dos clips, el mismo personaje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6E6E6E"/>
                </a:solidFill>
                <a:latin typeface="Helvetica Neue"/>
              </a:rPr>
              <a:t>Misma cara, misma camisa, mismo salón. Lo único que lo logra es adjuntar la misma foto.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1810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ED7623"/>
                </a:solidFill>
                <a:latin typeface="Helvetica Neue"/>
              </a:rPr>
              <a:t>Clip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14553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6E6E6E"/>
                </a:solidFill>
                <a:latin typeface="Helvetica Neue"/>
              </a:rPr>
              <a:t>«¿Alguna vez le enseñaste algo a un niño mostrándole ejemplos?»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4048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8678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ED7623"/>
                </a:solidFill>
                <a:latin typeface="Helvetica Neue"/>
              </a:rPr>
              <a:t>Clip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01421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6E6E6E"/>
                </a:solidFill>
                <a:latin typeface="Helvetica Neue"/>
              </a:rPr>
              <a:t>«Nadie le explica las reglas. Le muestran miles de fotos de perros...»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0916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5546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ED7623"/>
                </a:solidFill>
                <a:latin typeface="Helvetica Neue"/>
              </a:rPr>
              <a:t>Lo que cambia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88289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6E6E6E"/>
                </a:solidFill>
                <a:latin typeface="Helvetica Neue"/>
              </a:rPr>
              <a:t>Solo la frase del prompt. Todo lo demás, idéntico.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577840"/>
            <a:ext cx="10607040" cy="73152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72414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ED7623"/>
                </a:solidFill>
                <a:latin typeface="Helvetica Neue"/>
              </a:rPr>
              <a:t>Lo que los 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75157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6E6E6E"/>
                </a:solidFill>
                <a:latin typeface="Helvetica Neue"/>
              </a:rPr>
              <a:t>ChatGPT, en quince segundos.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E6E6E"/>
                </a:solidFill>
                <a:latin typeface="Helvetica Neue"/>
              </a:rPr>
              <a:t>El guion completo está en las notas. A ti te piden tres frases.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D7623"/>
                </a:solidFill>
                <a:latin typeface="Helvetica Neue"/>
              </a:rPr>
              <a:t>TU TURNO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1406E"/>
                </a:solidFill>
                <a:latin typeface="Helvetica Neue"/>
              </a:rPr>
              <a:t>Elige uno de los 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029200" cy="23774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6974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00" b="1">
                <a:solidFill>
                  <a:srgbClr val="35789C"/>
                </a:solidFill>
                <a:latin typeface="Helvetica Neue"/>
              </a:rPr>
              <a:t>Qué hago en mi carrera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65760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6E6E6E"/>
                </a:solidFill>
                <a:latin typeface="Helvetica Neue"/>
              </a:rPr>
              <a:t>Un día normal de trabajo de alguien de tu programa. Lo que nadie se imagina que haces.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5029200" cy="237744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6974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00" b="1">
                <a:solidFill>
                  <a:srgbClr val="35789C"/>
                </a:solidFill>
                <a:latin typeface="Helvetica Neue"/>
              </a:rPr>
              <a:t>Lo que me costó entender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65760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6E6E6E"/>
                </a:solidFill>
                <a:latin typeface="Helvetica Neue"/>
              </a:rPr>
              <a:t>Un concepto que te costó, explicado como te hubiera gustado que te lo explicaran.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2920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52578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000" b="1">
                <a:solidFill>
                  <a:srgbClr val="ED7623"/>
                </a:solidFill>
                <a:latin typeface="Helvetica Neue"/>
              </a:rPr>
              <a:t>Treinta segundos: tres frases, tres clips, un archivo.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>
                <a:solidFill>
                  <a:srgbClr val="6E6E6E"/>
                </a:solidFill>
                <a:latin typeface="Helvetica Neue"/>
              </a:rPr>
              <a:t>Y una línea diciendo qué hiciste con 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D7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10607040" cy="3200400"/>
          </a:xfrm>
          <a:prstGeom prst="roundRect">
            <a:avLst>
              <a:gd name="adj" fmla="val 5000"/>
            </a:avLst>
          </a:prstGeom>
          <a:solidFill>
            <a:srgbClr val="F5F3EF"/>
          </a:solidFill>
          <a:ln w="11430">
            <a:solidFill>
              <a:srgbClr val="E3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509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11406E"/>
                </a:solidFill>
                <a:latin typeface="Helvetica Neue"/>
              </a:rPr>
              <a:t>Lo difícil nunca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D7623"/>
                </a:solidFill>
                <a:latin typeface="Helvetica Neue"/>
              </a:rPr>
              <a:t>fue la tecnología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8620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0">
                <a:solidFill>
                  <a:srgbClr val="6E6E6E"/>
                </a:solidFill>
                <a:latin typeface="Helvetica Neue"/>
              </a:rPr>
              <a:t>Fue decidir qué valía la pena contar, y decirlo en tres frases.</a:t>
            </a:r>
          </a:p>
        </p:txBody>
      </p:sp>
      <p:pic>
        <p:nvPicPr>
          <p:cNvPr id="6" name="Picture 5" descr="logo_ucal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49240"/>
            <a:ext cx="1721725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" y="5861303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ED7623"/>
                </a:solidFill>
                <a:latin typeface="Helvetica Neue"/>
              </a:rPr>
              <a:t>FACULTAD DE INTELIGENCIA ARTIFICIAL E INGENIERÍAS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E6E"/>
                </a:solidFill>
                <a:latin typeface="Helvetica Neue"/>
              </a:rPr>
              <a:t>Universidad de Caldas · 2026-2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