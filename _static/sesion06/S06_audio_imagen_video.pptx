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Bienvenida corta. Hoy la clase es un taller de producción: cada persona sale con un video de 60 a 90 segundos en el que su propio avatar explica algo de su carrera.</a:t>
            </a:r>
          </a:p>
          <a:p/>
          <a:p>
            <a:r>
              <a:t>Mostrar primero el ejemplo terminado (el del docente) y después desarmarlo paso por paso. Que vean el resultado antes de entender el procedimiento.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entregable. Mostrarlo, no explicarlo.</a:t>
            </a:r>
          </a:p>
          <a:p/>
          <a:p>
            <a:r>
              <a:t>Si tienes el video de ejemplo listo, reprodúcelo aquí completo. Dura menos de dos minutos y ahorra diez de explicación.</a:t>
            </a:r>
          </a:p>
          <a:p/>
          <a:p>
            <a:r>
              <a:t>Pregunta después: ¿cuántas piezas distintas creen que tiene esto adentro? Ir recogiendo: guion, imagen, voz, movimiento, subtítulos, música. Esa lista es la agenda.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orden importa: cada paso alimenta al siguiente.</a:t>
            </a:r>
          </a:p>
          <a:p/>
          <a:p>
            <a:r>
              <a:t>El guion primero, siempre. Es el error más común: empezar por la imagen bonita y después no saber qué decir.</a:t>
            </a:r>
          </a:p>
          <a:p/>
          <a:p>
            <a:r>
              <a:t>Señalar que el paso 5 (hacerlo hablar) es el único que depende de herramientas con cupo limitado. Si falla, el video funciona igual con el personaje quieto y buenos subtítulos: no es un paso indispensable.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Todas tienen capa gratuita. Dos advertencias que hay que decir en voz alta:</a:t>
            </a:r>
          </a:p>
          <a:p/>
          <a:p>
            <a:r>
              <a:t>1) Los cupos gratis cambian cada mes. Lo que hoy da 10 videos, el otro mes da 3. Por eso la clase no depende de ninguna herramienta en particular.</a:t>
            </a:r>
          </a:p>
          <a:p/>
          <a:p>
            <a:r>
              <a:t>2) Casi todas las capas gratuitas ponen marca de agua y no dan derechos comerciales. Para una tarea de clase está bien; para el portafolio de un cliente, no.</a:t>
            </a:r>
          </a:p>
          <a:p/>
          <a:p>
            <a:r>
              <a:t>Si alguna no abre, hay alternativa en la misma fila.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bloque va antes de producir nada, no al final.</a:t>
            </a:r>
          </a:p>
          <a:p/>
          <a:p>
            <a:r>
              <a:t>Tres reglas:</a:t>
            </a:r>
          </a:p>
          <a:p>
            <a:r>
              <a:t>1. Solo tu propia cara y tu propia voz. Nunca la de un compañero sin que lo sepa, nunca la de alguien famoso, nunca la de un profesor.</a:t>
            </a:r>
          </a:p>
          <a:p>
            <a:r>
              <a:t>2. Se declara. En el video o en la descripción: qué se hizo con IA.</a:t>
            </a:r>
          </a:p>
          <a:p>
            <a:r>
              <a:t>3. Nada confidencial en las herramientas: ni datos de pacientes, ni de clientes, ni de menores.</a:t>
            </a:r>
          </a:p>
          <a:p/>
          <a:p>
            <a:r>
              <a:t>Conectar con la sesión de ética que viene: hacer un deepfake de alguien sin su consentimiento puede ser delito en Colombia.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GUION — proyéctalo y que lo adapten:</a:t>
            </a:r>
          </a:p>
          <a:p/>
          <a:p>
            <a:r>
              <a:t>«Eres guionista de videos educativos cortos. Escríbeme un guion de 80 palabras para un video de 60 segundos.</a:t>
            </a:r>
          </a:p>
          <a:p>
            <a:r>
              <a:t>Tema: [lo que haces en tu carrera, o un concepto que te costó entender].</a:t>
            </a:r>
          </a:p>
          <a:p>
            <a:r>
              <a:t>Para: alguien que no sabe nada del tema y no es de tu área.</a:t>
            </a:r>
          </a:p>
          <a:p>
            <a:r>
              <a:t>Estructura: una primera frase que enganche, una idea central explicada con una comparación cotidiana, y un cierre que deje una pregunta.</a:t>
            </a:r>
          </a:p>
          <a:p>
            <a:r>
              <a:t>Reglas: frases cortas, para decir en voz alta. Sin tecnicismos sin explicar. Nada de "en el mundo actual" ni "hoy en día". Al final, dime cuántas palabras tiene.»</a:t>
            </a:r>
          </a:p>
          <a:p/>
          <a:p>
            <a:r>
              <a:t>Después de generarlo: que lo LEAN EN VOZ ALTA y cronometren. 80 palabras son unos 45 segundos. Si se traban al leerlo, está mal escrito y hay que pedirle que lo simplifique.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Esto es el "voz a texto" del título, y funciona mejor como truco que como tema.</a:t>
            </a:r>
          </a:p>
          <a:p/>
          <a:p>
            <a:r>
              <a:t>Demostración: abrir un Google Doc, Herramientas → Dictado por voz, hablar treinta segundos explicando algo y ver el texto aparecer.</a:t>
            </a:r>
          </a:p>
          <a:p/>
          <a:p>
            <a:r>
              <a:t>Para quien habla mejor de lo que escribe, esto cambia la vida. Y el texto dictado suena natural al leerlo en voz alta, que es justo lo que necesita un guion.</a:t>
            </a:r>
          </a:p>
          <a:p/>
          <a:p>
            <a:r>
              <a:t>Otra ruta: grabar una nota de voz en el celular y subirla a Gemini pidiéndole la transcripción limpia.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AMBIENTE — en Gemini:</a:t>
            </a:r>
          </a:p>
          <a:p/>
          <a:p>
            <a:r>
              <a:t>«Genera una imagen horizontal, formato 16:9, de [describe el lugar: un laboratorio de microbiología, una sala de audiencias, un taller de pintura, una planta de alimentos, una cancha de atletismo, un afloramiento rocoso].</a:t>
            </a:r>
          </a:p>
          <a:p>
            <a:r>
              <a:t>Estilo: fotografía realista, luz natural suave, profundidad de campo.</a:t>
            </a:r>
          </a:p>
          <a:p>
            <a:r>
              <a:t>Sin personas en la escena.</a:t>
            </a:r>
          </a:p>
          <a:p>
            <a:r>
              <a:t>Sin texto ni letreros.</a:t>
            </a:r>
          </a:p>
          <a:p>
            <a:r>
              <a:t>Deja espacio libre en el lado derecho para colocar un personaje después.»</a:t>
            </a:r>
          </a:p>
          <a:p/>
          <a:p>
            <a:r>
              <a:t>ESE ÚLTIMO RENGLÓN ES EL IMPORTANTE. Si no lo pides, la imagen queda llena y el avatar no cabe.</a:t>
            </a:r>
          </a:p>
          <a:p/>
          <a:p>
            <a:r>
              <a:t>Variante: pedir tres propuestas y elegir. «Dame tres versiones: una de día, una de noche y una en interior.»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PROMPT PARA EL AVATAR — en Gemini, adjuntando SU PROPIA FOTO:</a:t>
            </a:r>
          </a:p>
          <a:p/>
          <a:p>
            <a:r>
              <a:t>«Con esta foto mía como referencia, genera un retrato de medio cuerpo del mismo personaje, mirando al frente, con expresión amable.</a:t>
            </a:r>
          </a:p>
          <a:p>
            <a:r>
              <a:t>Vestuario: [bata de laboratorio / toga / ropa de taller / uniforme deportivo / camisa formal].</a:t>
            </a:r>
          </a:p>
          <a:p>
            <a:r>
              <a:t>Fondo: gris liso y neutro.</a:t>
            </a:r>
          </a:p>
          <a:p>
            <a:r>
              <a:t>Estilo: [ilustración digital limpia / fotografía realista].</a:t>
            </a:r>
          </a:p>
          <a:p>
            <a:r>
              <a:t>Formato vertical. Hombros y cabeza completos, sin cortar la coronilla.»</a:t>
            </a:r>
          </a:p>
          <a:p/>
          <a:p>
            <a:r>
              <a:t>POR QUÉ FONDO LISO: para poder recortarlo y montarlo sobre el ambiente del paso 2. Si el fondo tiene detalles, el recorte queda feo.</a:t>
            </a:r>
          </a:p>
          <a:p/>
          <a:p>
            <a:r>
              <a:t>PARA QUIEN NO QUIERA USAR SU CARA: que describa un personaje inventado. «Un ingeniero de alimentos de unos 40 años, pelo corto, bata blanca.» Funciona igual. Nadie está obligado a poner su cara.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VOZ — tres rutas, las tres gratis:</a:t>
            </a:r>
          </a:p>
          <a:p/>
          <a:p>
            <a:r>
              <a:t>RUTA A · Google AI Studio (aistudio.google.com), modo Speech/TTS.</a:t>
            </a:r>
          </a:p>
          <a:p>
            <a:r>
              <a:t>Pegas el guion, eliges voz y le das una indicación de estilo:</a:t>
            </a:r>
          </a:p>
          <a:p>
            <a:r>
              <a:t>«Léelo en español latinoamericano, tono cercano y pausado, como quien le explica algo a un amigo. No lo leas como noticiero.»</a:t>
            </a:r>
          </a:p>
          <a:p>
            <a:r>
              <a:t>Las voces en español están marcadas como preview: pruébalas antes de clase.</a:t>
            </a:r>
          </a:p>
          <a:p/>
          <a:p>
            <a:r>
              <a:t>RUTA B · ElevenLabs. Plan gratuito de unos 10 minutos de audio al mes, de sobra para 60 segundos. Sin derechos comerciales: para una tarea está bien.</a:t>
            </a:r>
          </a:p>
          <a:p/>
          <a:p>
            <a:r>
              <a:t>RUTA C · Tu propia voz, grabada con el celular. Gratis, es tuya, y a veces suena mejor.</a:t>
            </a:r>
          </a:p>
          <a:p/>
          <a:p>
            <a:r>
              <a:t>PRUEBA QUE SIEMPRE FUNCIONA: generar la misma frase con dos voces distintas y preguntarle al grupo a cuál le creen más.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PASO FRÁGIL. Decirlo con todas las letras.</a:t>
            </a:r>
          </a:p>
          <a:p/>
          <a:p>
            <a:r>
              <a:t>Las herramientas de lip sync tienen cupos gratuitos muy pequeños y cambian cada mes. Al preparar esta clase, los órdenes de magnitud eran:</a:t>
            </a:r>
          </a:p>
          <a:p>
            <a:r>
              <a:t>· HeyGen: unos pocos videos al mes, con marca de agua.</a:t>
            </a:r>
          </a:p>
          <a:p>
            <a:r>
              <a:t>· Hedra: gratis pero con audio corto, de unos 20 segundos.</a:t>
            </a:r>
          </a:p>
          <a:p>
            <a:r>
              <a:t>· Vidnoz: más cupo diario, siempre con marca de agua.</a:t>
            </a:r>
          </a:p>
          <a:p>
            <a:r>
              <a:t>· Google Vids: avatares gratis para cuentas personales, pero el despliegue empezó por Estados Unidos y puede que todavía no esté disponible aquí.</a:t>
            </a:r>
          </a:p>
          <a:p/>
          <a:p>
            <a:r>
              <a:t>ESTRATEGIA: probar una. Si no funciona, la siguiente. Si ninguna funciona, el video se arma igual con el personaje quieto, un zoom lento y buenos subtítulos.</a:t>
            </a:r>
          </a:p>
          <a:p/>
          <a:p>
            <a:r>
              <a:t>No dejar que nadie se quede veinte minutos peleando con un cupo.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MONTAJE EN CAPCUT — el orden que funciona:</a:t>
            </a:r>
          </a:p>
          <a:p>
            <a:r>
              <a:t>1. Importa el ambiente como fondo.</a:t>
            </a:r>
          </a:p>
          <a:p>
            <a:r>
              <a:t>2. Encima, tu avatar. Si tiene fondo gris, usar «quitar fondo».</a:t>
            </a:r>
          </a:p>
          <a:p>
            <a:r>
              <a:t>3. Debajo de todo, el audio de la voz.</a:t>
            </a:r>
          </a:p>
          <a:p>
            <a:r>
              <a:t>4. Corta los silencios largos. Es lo que más mejora un video.</a:t>
            </a:r>
          </a:p>
          <a:p>
            <a:r>
              <a:t>5. Subtítulos automáticos: CapCut los genera del audio. REVISARLOS: siempre hay dos o tres palabras mal.</a:t>
            </a:r>
          </a:p>
          <a:p>
            <a:r>
              <a:t>6. Música de fondo al 10 o 15% del volumen. Si compite con la voz, está muy alta.</a:t>
            </a:r>
          </a:p>
          <a:p>
            <a:r>
              <a:t>7. Un zoom lento sobre la imagen hace que una imagen quieta se vea viva.</a:t>
            </a:r>
          </a:p>
          <a:p/>
          <a:p>
            <a:r>
              <a:t>TRUCO: la mayoría pone la música muy alta y los subtítulos sin revisar. Esas dos cosas separan un video amateur de uno decente.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EJEMPLO DEL DOCENTE. Desarmarlo en vivo, mostrando cada pieza por separado.</a:t>
            </a:r>
          </a:p>
          <a:p/>
          <a:p>
            <a:r>
              <a:t>Tema: qué es la inteligencia artificial y cómo se entrena, para gente de áreas no ingenieriles.</a:t>
            </a:r>
          </a:p>
          <a:p/>
          <a:p>
            <a:r>
              <a:t>PROMPT DEL GUION:</a:t>
            </a:r>
          </a:p>
          <a:p>
            <a:r>
              <a:t>«Eres guionista de videos educativos. Escribe un guion de 80 palabras para un video de 60 segundos sobre qué es la inteligencia artificial y cómo se entrena. Para: personas que no son de ingeniería y nunca han visto cómo funciona por dentro. Explícalo con una comparación cotidiana, sin usar las palabras algoritmo, modelo ni red neuronal. Frases cortas, para decir en voz alta. Cierra con una pregunta.»</a:t>
            </a:r>
          </a:p>
          <a:p/>
          <a:p>
            <a:r>
              <a:t>PROMPT DEL AVATAR:</a:t>
            </a:r>
          </a:p>
          <a:p>
            <a:r>
              <a:t>«Con esta foto mía como referencia, genera un retrato de medio cuerpo del mismo personaje: ingeniero de sistemas, camisa oscura, expresión amable, mirando al frente. Fondo gris liso. Ilustración digital limpia. Formato vertical.»</a:t>
            </a:r>
          </a:p>
          <a:p/>
          <a:p>
            <a:r>
              <a:t>PROMPT DEL AMBIENTE:</a:t>
            </a:r>
          </a:p>
          <a:p>
            <a:r>
              <a:t>«Imagen 16:9, fotografía realista: un salón de clase universitario vacío con un tablero al fondo, luz natural suave. Sin personas, sin texto. Deja espacio libre a la derecha.»</a:t>
            </a:r>
          </a:p>
          <a:p/>
          <a:p>
            <a:r>
              <a:t>INDICACIÓN DE VOZ:</a:t>
            </a:r>
          </a:p>
          <a:p>
            <a:r>
              <a:t>«Léelo en español latinoamericano, tono cercano y pausado, como quien le explica algo a un amigo. No lo leas como noticiero.»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ENCARGO. Leerlo y soltarlos a trabajar.</a:t>
            </a:r>
          </a:p>
          <a:p/>
          <a:p>
            <a:r>
              <a:t>Dos opciones de tema, para que nadie se quede en blanco:</a:t>
            </a:r>
          </a:p>
          <a:p>
            <a:r>
              <a:t>· Qué hace alguien de tu carrera un día normal de trabajo.</a:t>
            </a:r>
          </a:p>
          <a:p>
            <a:r>
              <a:t>· Un concepto que a ti te costó entender, explicado como te hubiera gustado que te lo explicaran.</a:t>
            </a:r>
          </a:p>
          <a:p/>
          <a:p>
            <a:r>
              <a:t>La segunda suele dar mejores videos: hay algo personal adentro.</a:t>
            </a:r>
          </a:p>
          <a:p/>
          <a:p>
            <a:r>
              <a:t>Mientras circulas, lo que más vas a tener que decir:</a:t>
            </a:r>
          </a:p>
          <a:p>
            <a:r>
              <a:t>· «Devuélvete al guion» — a quien empezó por la imagen.</a:t>
            </a:r>
          </a:p>
          <a:p>
            <a:r>
              <a:t>· «Léelo en voz alta» — a quien escribió un guion que nadie puede decir.</a:t>
            </a:r>
          </a:p>
          <a:p>
            <a:r>
              <a:t>· «Bájale a la música» — a todos.</a:t>
            </a:r>
          </a:p>
          <a:p>
            <a:r>
              <a:t>· «Revisa los subtítulos» — a todos.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corto.</a:t>
            </a:r>
          </a:p>
          <a:p/>
          <a:p>
            <a:r>
              <a:t>Que tres o cuatro proyecten lo suyo. No pedir voluntarios al aire: durante la clase, identificar dos o tres que vayan bien y pedírselo con anticipación.</a:t>
            </a:r>
          </a:p>
          <a:p/>
          <a:p>
            <a:r>
              <a:t>Preguntas para cerrar:</a:t>
            </a:r>
          </a:p>
          <a:p>
            <a:r>
              <a:t>· ¿Qué parte costó más? (casi siempre: el guion, no la tecnología)</a:t>
            </a:r>
          </a:p>
          <a:p>
            <a:r>
              <a:t>· ¿En qué se nota que es IA?</a:t>
            </a:r>
          </a:p>
          <a:p>
            <a:r>
              <a:t>· ¿Dónde usarían esto fuera de la clase?</a:t>
            </a:r>
          </a:p>
          <a:p/>
          <a:p>
            <a:r>
              <a:t>La respuesta a la última suele ser lo mejor de la sesión.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463040"/>
            <a:ext cx="6766560" cy="32004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0" y="1783080"/>
            <a:ext cx="5943600" cy="457200"/>
          </a:xfrm>
          <a:prstGeom prst="rect">
            <a:avLst/>
          </a:prstGeom>
          <a:noFill/>
        </p:spPr>
        <p:txBody>
          <a:bodyPr wrap="square" lIns="0" rIns="0" tIns="0" bIns="0">
            <a:spAutoFit/>
          </a:bodyPr>
          <a:lstStyle/>
          <a:p>
            <a:pPr algn="l">
              <a:spcAft>
                <a:spcPts val="600"/>
              </a:spcAft>
            </a:pPr>
            <a:r>
              <a:rPr sz="1300" b="1">
                <a:solidFill>
                  <a:srgbClr val="45E0C8"/>
                </a:solidFill>
                <a:latin typeface="Helvetica Neue"/>
              </a:rPr>
              <a:t>SESIÓN 6 · INTRODUCCIÓN A LA INFORMÁTICA</a:t>
            </a:r>
          </a:p>
        </p:txBody>
      </p:sp>
      <p:sp>
        <p:nvSpPr>
          <p:cNvPr id="5" name="TextBox 4"/>
          <p:cNvSpPr txBox="1"/>
          <p:nvPr/>
        </p:nvSpPr>
        <p:spPr>
          <a:xfrm>
            <a:off x="1280160" y="2286000"/>
            <a:ext cx="6035040" cy="2194560"/>
          </a:xfrm>
          <a:prstGeom prst="rect">
            <a:avLst/>
          </a:prstGeom>
          <a:noFill/>
        </p:spPr>
        <p:txBody>
          <a:bodyPr wrap="square" lIns="0" rIns="0" tIns="0" bIns="0">
            <a:spAutoFit/>
          </a:bodyPr>
          <a:lstStyle/>
          <a:p>
            <a:pPr algn="l">
              <a:lnSpc>
                <a:spcPct val="95000"/>
              </a:lnSpc>
              <a:spcAft>
                <a:spcPts val="0"/>
              </a:spcAft>
            </a:pPr>
            <a:r>
              <a:rPr sz="5400" b="1">
                <a:solidFill>
                  <a:srgbClr val="F2EFEA"/>
                </a:solidFill>
                <a:latin typeface="Helvetica Neue"/>
              </a:rPr>
              <a:t>Tu voz,</a:t>
            </a:r>
          </a:p>
          <a:p>
            <a:pPr algn="l">
              <a:lnSpc>
                <a:spcPct val="95000"/>
              </a:lnSpc>
              <a:spcAft>
                <a:spcPts val="0"/>
              </a:spcAft>
            </a:pPr>
            <a:r>
              <a:rPr sz="5400" b="1">
                <a:solidFill>
                  <a:srgbClr val="FF5C7A"/>
                </a:solidFill>
                <a:latin typeface="Helvetica Neue"/>
              </a:rPr>
              <a:t>tu cara</a:t>
            </a:r>
          </a:p>
          <a:p>
            <a:pPr algn="l">
              <a:lnSpc>
                <a:spcPct val="95000"/>
              </a:lnSpc>
              <a:spcAft>
                <a:spcPts val="0"/>
              </a:spcAft>
            </a:pPr>
            <a:r>
              <a:rPr sz="5400" b="1">
                <a:solidFill>
                  <a:srgbClr val="F2EFEA"/>
                </a:solidFill>
                <a:latin typeface="Helvetica Neue"/>
              </a:rPr>
              <a:t>y tu historia</a:t>
            </a:r>
          </a:p>
        </p:txBody>
      </p:sp>
      <p:sp>
        <p:nvSpPr>
          <p:cNvPr id="6" name="TextBox 5"/>
          <p:cNvSpPr txBox="1"/>
          <p:nvPr/>
        </p:nvSpPr>
        <p:spPr>
          <a:xfrm>
            <a:off x="822960" y="4892040"/>
            <a:ext cx="7315200" cy="822960"/>
          </a:xfrm>
          <a:prstGeom prst="rect">
            <a:avLst/>
          </a:prstGeom>
          <a:noFill/>
        </p:spPr>
        <p:txBody>
          <a:bodyPr wrap="square" lIns="0" rIns="0" tIns="0" bIns="0">
            <a:spAutoFit/>
          </a:bodyPr>
          <a:lstStyle/>
          <a:p>
            <a:pPr algn="l">
              <a:lnSpc>
                <a:spcPct val="120000"/>
              </a:lnSpc>
              <a:spcAft>
                <a:spcPts val="600"/>
              </a:spcAft>
            </a:pPr>
            <a:r>
              <a:rPr sz="1900" b="0">
                <a:solidFill>
                  <a:srgbClr val="8A94A0"/>
                </a:solidFill>
                <a:latin typeface="Helvetica Neue"/>
              </a:rPr>
              <a:t>Audio, imagen y video con IA: haz que un personaje tuyo cuente lo que haces</a:t>
            </a:r>
          </a:p>
        </p:txBody>
      </p:sp>
      <p:sp>
        <p:nvSpPr>
          <p:cNvPr id="7" name="TextBox 6"/>
          <p:cNvSpPr txBox="1"/>
          <p:nvPr/>
        </p:nvSpPr>
        <p:spPr>
          <a:xfrm>
            <a:off x="8503920" y="2011680"/>
            <a:ext cx="2926080" cy="2377440"/>
          </a:xfrm>
          <a:prstGeom prst="rect">
            <a:avLst/>
          </a:prstGeom>
          <a:noFill/>
        </p:spPr>
        <p:txBody>
          <a:bodyPr wrap="square" lIns="0" rIns="0" tIns="0" bIns="0">
            <a:spAutoFit/>
          </a:bodyPr>
          <a:lstStyle/>
          <a:p>
            <a:pPr algn="l">
              <a:spcAft>
                <a:spcPts val="400"/>
              </a:spcAft>
            </a:pPr>
            <a:r>
              <a:rPr sz="5400" b="0">
                <a:solidFill>
                  <a:srgbClr val="F2EFEA"/>
                </a:solidFill>
                <a:latin typeface="Helvetica Neue"/>
              </a:rPr>
              <a:t>🎙️</a:t>
            </a:r>
          </a:p>
          <a:p>
            <a:pPr algn="l">
              <a:spcAft>
                <a:spcPts val="400"/>
              </a:spcAft>
            </a:pPr>
            <a:r>
              <a:rPr sz="5400" b="0">
                <a:solidFill>
                  <a:srgbClr val="F2EFEA"/>
                </a:solidFill>
                <a:latin typeface="Helvetica Neue"/>
              </a:rPr>
              <a:t>🖼️</a:t>
            </a:r>
          </a:p>
          <a:p>
            <a:pPr algn="l">
              <a:spcAft>
                <a:spcPts val="400"/>
              </a:spcAft>
            </a:pPr>
            <a:r>
              <a:rPr sz="5400" b="0">
                <a:solidFill>
                  <a:srgbClr val="F2EFEA"/>
                </a:solidFill>
                <a:latin typeface="Helvetica Neue"/>
              </a:rPr>
              <a:t>🎬</a:t>
            </a:r>
          </a:p>
        </p:txBody>
      </p:sp>
      <p:sp>
        <p:nvSpPr>
          <p:cNvPr id="8" name="TextBox 7"/>
          <p:cNvSpPr txBox="1"/>
          <p:nvPr/>
        </p:nvSpPr>
        <p:spPr>
          <a:xfrm>
            <a:off x="822960" y="6035040"/>
            <a:ext cx="10515600" cy="457200"/>
          </a:xfrm>
          <a:prstGeom prst="rect">
            <a:avLst/>
          </a:prstGeom>
          <a:noFill/>
        </p:spPr>
        <p:txBody>
          <a:bodyPr wrap="square" lIns="0" rIns="0" tIns="0" bIns="0">
            <a:spAutoFit/>
          </a:bodyPr>
          <a:lstStyle/>
          <a:p>
            <a:pPr algn="l">
              <a:spcAft>
                <a:spcPts val="600"/>
              </a:spcAft>
            </a:pPr>
            <a:r>
              <a:rPr sz="1300" b="0">
                <a:solidFill>
                  <a:srgbClr val="8A94A0"/>
                </a:solidFill>
                <a:latin typeface="Helvetica Neue"/>
              </a:rPr>
              <a:t>Universidad de Caldas · 2026-2 · Todo con herramientas gratuitas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45E0C8"/>
                </a:solidFill>
                <a:latin typeface="Helvetica Neue"/>
              </a:rPr>
              <a:t>LO QUE VAS A TENER AL FINAL</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F2EFEA"/>
                </a:solidFill>
                <a:latin typeface="Helvetica Neue"/>
              </a:rPr>
              <a:t>Un video de 60 a 90 segundos</a:t>
            </a:r>
          </a:p>
        </p:txBody>
      </p:sp>
      <p:sp>
        <p:nvSpPr>
          <p:cNvPr id="5" name="TextBox 4"/>
          <p:cNvSpPr txBox="1"/>
          <p:nvPr/>
        </p:nvSpPr>
        <p:spPr>
          <a:xfrm>
            <a:off x="822960" y="2194560"/>
            <a:ext cx="10515600" cy="822960"/>
          </a:xfrm>
          <a:prstGeom prst="rect">
            <a:avLst/>
          </a:prstGeom>
          <a:noFill/>
        </p:spPr>
        <p:txBody>
          <a:bodyPr wrap="square" lIns="0" rIns="0" tIns="0" bIns="0">
            <a:spAutoFit/>
          </a:bodyPr>
          <a:lstStyle/>
          <a:p>
            <a:pPr algn="l">
              <a:lnSpc>
                <a:spcPct val="130000"/>
              </a:lnSpc>
              <a:spcAft>
                <a:spcPts val="400"/>
              </a:spcAft>
            </a:pPr>
            <a:r>
              <a:rPr sz="2200" b="0">
                <a:solidFill>
                  <a:srgbClr val="8A94A0"/>
                </a:solidFill>
                <a:latin typeface="Helvetica Neue"/>
              </a:rPr>
              <a:t>Un personaje tuyo, en un lugar que tú elegiste, con una voz que tú escogiste,</a:t>
            </a:r>
          </a:p>
          <a:p>
            <a:pPr algn="l">
              <a:lnSpc>
                <a:spcPct val="130000"/>
              </a:lnSpc>
              <a:spcAft>
                <a:spcPts val="400"/>
              </a:spcAft>
            </a:pPr>
            <a:r>
              <a:rPr sz="2200" b="0">
                <a:solidFill>
                  <a:srgbClr val="8A94A0"/>
                </a:solidFill>
                <a:latin typeface="Helvetica Neue"/>
              </a:rPr>
              <a:t>explicando algo de tu carrera a alguien que no sabe nada del tema.</a:t>
            </a:r>
          </a:p>
        </p:txBody>
      </p:sp>
      <p:sp>
        <p:nvSpPr>
          <p:cNvPr id="6" name="Rounded Rectangle 5"/>
          <p:cNvSpPr/>
          <p:nvPr/>
        </p:nvSpPr>
        <p:spPr>
          <a:xfrm>
            <a:off x="822960" y="3657600"/>
            <a:ext cx="2377440" cy="18288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F2EFEA"/>
                </a:solidFill>
                <a:latin typeface="Helvetica Neue"/>
              </a:rPr>
              <a:t>🎬 Guion</a:t>
            </a:r>
          </a:p>
        </p:txBody>
      </p:sp>
      <p:sp>
        <p:nvSpPr>
          <p:cNvPr id="8" name="TextBox 7"/>
          <p:cNvSpPr txBox="1"/>
          <p:nvPr/>
        </p:nvSpPr>
        <p:spPr>
          <a:xfrm>
            <a:off x="1143000" y="4846320"/>
            <a:ext cx="1920240" cy="45720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lo que se dice</a:t>
            </a:r>
          </a:p>
        </p:txBody>
      </p:sp>
      <p:sp>
        <p:nvSpPr>
          <p:cNvPr id="9" name="Rounded Rectangle 8"/>
          <p:cNvSpPr/>
          <p:nvPr/>
        </p:nvSpPr>
        <p:spPr>
          <a:xfrm>
            <a:off x="3520440" y="3657600"/>
            <a:ext cx="2377440" cy="18288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F2EFEA"/>
                </a:solidFill>
                <a:latin typeface="Helvetica Neue"/>
              </a:rPr>
              <a:t>🖼️ Ambiente</a:t>
            </a:r>
          </a:p>
        </p:txBody>
      </p:sp>
      <p:sp>
        <p:nvSpPr>
          <p:cNvPr id="11" name="TextBox 10"/>
          <p:cNvSpPr txBox="1"/>
          <p:nvPr/>
        </p:nvSpPr>
        <p:spPr>
          <a:xfrm>
            <a:off x="3840480" y="4846320"/>
            <a:ext cx="1920240" cy="45720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dónde ocurre</a:t>
            </a:r>
          </a:p>
        </p:txBody>
      </p:sp>
      <p:sp>
        <p:nvSpPr>
          <p:cNvPr id="12" name="Rounded Rectangle 11"/>
          <p:cNvSpPr/>
          <p:nvPr/>
        </p:nvSpPr>
        <p:spPr>
          <a:xfrm>
            <a:off x="6217920" y="3657600"/>
            <a:ext cx="2377440" cy="18288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3796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F2EFEA"/>
                </a:solidFill>
                <a:latin typeface="Helvetica Neue"/>
              </a:rPr>
              <a:t>🧑 Avatar</a:t>
            </a:r>
          </a:p>
        </p:txBody>
      </p:sp>
      <p:sp>
        <p:nvSpPr>
          <p:cNvPr id="14" name="TextBox 13"/>
          <p:cNvSpPr txBox="1"/>
          <p:nvPr/>
        </p:nvSpPr>
        <p:spPr>
          <a:xfrm>
            <a:off x="6537960" y="4846320"/>
            <a:ext cx="1920240" cy="45720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quién lo dice</a:t>
            </a:r>
          </a:p>
        </p:txBody>
      </p:sp>
      <p:sp>
        <p:nvSpPr>
          <p:cNvPr id="15" name="Rounded Rectangle 14"/>
          <p:cNvSpPr/>
          <p:nvPr/>
        </p:nvSpPr>
        <p:spPr>
          <a:xfrm>
            <a:off x="8915400" y="3657600"/>
            <a:ext cx="2377440" cy="18288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0" y="3977639"/>
            <a:ext cx="1920240" cy="822960"/>
          </a:xfrm>
          <a:prstGeom prst="rect">
            <a:avLst/>
          </a:prstGeom>
          <a:noFill/>
        </p:spPr>
        <p:txBody>
          <a:bodyPr wrap="square" lIns="0" rIns="0" tIns="0" bIns="0">
            <a:spAutoFit/>
          </a:bodyPr>
          <a:lstStyle/>
          <a:p>
            <a:pPr algn="l">
              <a:lnSpc>
                <a:spcPct val="110000"/>
              </a:lnSpc>
              <a:spcAft>
                <a:spcPts val="600"/>
              </a:spcAft>
            </a:pPr>
            <a:r>
              <a:rPr sz="2000" b="1">
                <a:solidFill>
                  <a:srgbClr val="F2EFEA"/>
                </a:solidFill>
                <a:latin typeface="Helvetica Neue"/>
              </a:rPr>
              <a:t>🎙️ Voz</a:t>
            </a:r>
          </a:p>
        </p:txBody>
      </p:sp>
      <p:sp>
        <p:nvSpPr>
          <p:cNvPr id="17" name="TextBox 16"/>
          <p:cNvSpPr txBox="1"/>
          <p:nvPr/>
        </p:nvSpPr>
        <p:spPr>
          <a:xfrm>
            <a:off x="9235440" y="4846320"/>
            <a:ext cx="1920240" cy="45720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cómo suena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45E0C8"/>
                </a:solidFill>
                <a:latin typeface="Helvetica Neue"/>
              </a:rPr>
              <a:t>EL CAMINO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F2EFEA"/>
                </a:solidFill>
                <a:latin typeface="Helvetica Neue"/>
              </a:rPr>
              <a:t>Seis pasos, en este orden</a:t>
            </a:r>
          </a:p>
        </p:txBody>
      </p:sp>
      <p:sp>
        <p:nvSpPr>
          <p:cNvPr id="5" name="Rounded Rectangle 4"/>
          <p:cNvSpPr/>
          <p:nvPr/>
        </p:nvSpPr>
        <p:spPr>
          <a:xfrm>
            <a:off x="822960" y="224028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404872"/>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1</a:t>
            </a:r>
          </a:p>
        </p:txBody>
      </p:sp>
      <p:sp>
        <p:nvSpPr>
          <p:cNvPr id="7" name="TextBox 6"/>
          <p:cNvSpPr txBox="1"/>
          <p:nvPr/>
        </p:nvSpPr>
        <p:spPr>
          <a:xfrm>
            <a:off x="1737360" y="2487168"/>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Guion</a:t>
            </a:r>
          </a:p>
        </p:txBody>
      </p:sp>
      <p:sp>
        <p:nvSpPr>
          <p:cNvPr id="8" name="TextBox 7"/>
          <p:cNvSpPr txBox="1"/>
          <p:nvPr/>
        </p:nvSpPr>
        <p:spPr>
          <a:xfrm>
            <a:off x="109728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Qué vas a decir y en qué orden</a:t>
            </a:r>
          </a:p>
        </p:txBody>
      </p:sp>
      <p:sp>
        <p:nvSpPr>
          <p:cNvPr id="9" name="Rounded Rectangle 8"/>
          <p:cNvSpPr/>
          <p:nvPr/>
        </p:nvSpPr>
        <p:spPr>
          <a:xfrm>
            <a:off x="4434840" y="224028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09160" y="2404872"/>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2</a:t>
            </a:r>
          </a:p>
        </p:txBody>
      </p:sp>
      <p:sp>
        <p:nvSpPr>
          <p:cNvPr id="11" name="TextBox 10"/>
          <p:cNvSpPr txBox="1"/>
          <p:nvPr/>
        </p:nvSpPr>
        <p:spPr>
          <a:xfrm>
            <a:off x="5349240" y="2487168"/>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Ambiente</a:t>
            </a:r>
          </a:p>
        </p:txBody>
      </p:sp>
      <p:sp>
        <p:nvSpPr>
          <p:cNvPr id="12" name="TextBox 11"/>
          <p:cNvSpPr txBox="1"/>
          <p:nvPr/>
        </p:nvSpPr>
        <p:spPr>
          <a:xfrm>
            <a:off x="470916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La imagen del lugar donde ocurre</a:t>
            </a:r>
          </a:p>
        </p:txBody>
      </p:sp>
      <p:sp>
        <p:nvSpPr>
          <p:cNvPr id="13" name="Rounded Rectangle 12"/>
          <p:cNvSpPr/>
          <p:nvPr/>
        </p:nvSpPr>
        <p:spPr>
          <a:xfrm>
            <a:off x="8046720" y="224028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404872"/>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3</a:t>
            </a:r>
          </a:p>
        </p:txBody>
      </p:sp>
      <p:sp>
        <p:nvSpPr>
          <p:cNvPr id="15" name="TextBox 14"/>
          <p:cNvSpPr txBox="1"/>
          <p:nvPr/>
        </p:nvSpPr>
        <p:spPr>
          <a:xfrm>
            <a:off x="8961120" y="2487168"/>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Avatar</a:t>
            </a:r>
          </a:p>
        </p:txBody>
      </p:sp>
      <p:sp>
        <p:nvSpPr>
          <p:cNvPr id="16" name="TextBox 15"/>
          <p:cNvSpPr txBox="1"/>
          <p:nvPr/>
        </p:nvSpPr>
        <p:spPr>
          <a:xfrm>
            <a:off x="8321040" y="3200400"/>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Tu personaje, a partir de tu propia foto</a:t>
            </a:r>
          </a:p>
        </p:txBody>
      </p:sp>
      <p:sp>
        <p:nvSpPr>
          <p:cNvPr id="17" name="Rounded Rectangle 16"/>
          <p:cNvSpPr/>
          <p:nvPr/>
        </p:nvSpPr>
        <p:spPr>
          <a:xfrm>
            <a:off x="822960" y="420624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370831"/>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4</a:t>
            </a:r>
          </a:p>
        </p:txBody>
      </p:sp>
      <p:sp>
        <p:nvSpPr>
          <p:cNvPr id="19" name="TextBox 18"/>
          <p:cNvSpPr txBox="1"/>
          <p:nvPr/>
        </p:nvSpPr>
        <p:spPr>
          <a:xfrm>
            <a:off x="1737360" y="4453127"/>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Voz</a:t>
            </a:r>
          </a:p>
        </p:txBody>
      </p:sp>
      <p:sp>
        <p:nvSpPr>
          <p:cNvPr id="20" name="TextBox 19"/>
          <p:cNvSpPr txBox="1"/>
          <p:nvPr/>
        </p:nvSpPr>
        <p:spPr>
          <a:xfrm>
            <a:off x="109728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La narración, generada o grabada</a:t>
            </a:r>
          </a:p>
        </p:txBody>
      </p:sp>
      <p:sp>
        <p:nvSpPr>
          <p:cNvPr id="21" name="Rounded Rectangle 20"/>
          <p:cNvSpPr/>
          <p:nvPr/>
        </p:nvSpPr>
        <p:spPr>
          <a:xfrm>
            <a:off x="4434840" y="420624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9160" y="4370831"/>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5</a:t>
            </a:r>
          </a:p>
        </p:txBody>
      </p:sp>
      <p:sp>
        <p:nvSpPr>
          <p:cNvPr id="23" name="TextBox 22"/>
          <p:cNvSpPr txBox="1"/>
          <p:nvPr/>
        </p:nvSpPr>
        <p:spPr>
          <a:xfrm>
            <a:off x="5349240" y="4453127"/>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Movimiento</a:t>
            </a:r>
          </a:p>
        </p:txBody>
      </p:sp>
      <p:sp>
        <p:nvSpPr>
          <p:cNvPr id="24" name="TextBox 23"/>
          <p:cNvSpPr txBox="1"/>
          <p:nvPr/>
        </p:nvSpPr>
        <p:spPr>
          <a:xfrm>
            <a:off x="470916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Que el personaje hable (opcional)</a:t>
            </a:r>
          </a:p>
        </p:txBody>
      </p:sp>
      <p:sp>
        <p:nvSpPr>
          <p:cNvPr id="25" name="Rounded Rectangle 24"/>
          <p:cNvSpPr/>
          <p:nvPr/>
        </p:nvSpPr>
        <p:spPr>
          <a:xfrm>
            <a:off x="8046720" y="4206240"/>
            <a:ext cx="3291840" cy="16916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4370831"/>
            <a:ext cx="731520" cy="640080"/>
          </a:xfrm>
          <a:prstGeom prst="rect">
            <a:avLst/>
          </a:prstGeom>
          <a:noFill/>
        </p:spPr>
        <p:txBody>
          <a:bodyPr wrap="square" lIns="0" rIns="0" tIns="0" bIns="0">
            <a:spAutoFit/>
          </a:bodyPr>
          <a:lstStyle/>
          <a:p>
            <a:pPr algn="l">
              <a:spcAft>
                <a:spcPts val="600"/>
              </a:spcAft>
            </a:pPr>
            <a:r>
              <a:rPr sz="3400" b="1">
                <a:solidFill>
                  <a:srgbClr val="FF5C7A"/>
                </a:solidFill>
                <a:latin typeface="Helvetica Neue"/>
              </a:rPr>
              <a:t>6</a:t>
            </a:r>
          </a:p>
        </p:txBody>
      </p:sp>
      <p:sp>
        <p:nvSpPr>
          <p:cNvPr id="27" name="TextBox 26"/>
          <p:cNvSpPr txBox="1"/>
          <p:nvPr/>
        </p:nvSpPr>
        <p:spPr>
          <a:xfrm>
            <a:off x="8961120" y="4453127"/>
            <a:ext cx="2194560" cy="457200"/>
          </a:xfrm>
          <a:prstGeom prst="rect">
            <a:avLst/>
          </a:prstGeom>
          <a:noFill/>
        </p:spPr>
        <p:txBody>
          <a:bodyPr wrap="square" lIns="0" rIns="0" tIns="0" bIns="0">
            <a:spAutoFit/>
          </a:bodyPr>
          <a:lstStyle/>
          <a:p>
            <a:pPr algn="l">
              <a:spcAft>
                <a:spcPts val="600"/>
              </a:spcAft>
            </a:pPr>
            <a:r>
              <a:rPr sz="2100" b="1">
                <a:solidFill>
                  <a:srgbClr val="F2EFEA"/>
                </a:solidFill>
                <a:latin typeface="Helvetica Neue"/>
              </a:rPr>
              <a:t>Montaje</a:t>
            </a:r>
          </a:p>
        </p:txBody>
      </p:sp>
      <p:sp>
        <p:nvSpPr>
          <p:cNvPr id="28" name="TextBox 27"/>
          <p:cNvSpPr txBox="1"/>
          <p:nvPr/>
        </p:nvSpPr>
        <p:spPr>
          <a:xfrm>
            <a:off x="8321040" y="5166359"/>
            <a:ext cx="2743200" cy="640080"/>
          </a:xfrm>
          <a:prstGeom prst="rect">
            <a:avLst/>
          </a:prstGeom>
          <a:noFill/>
        </p:spPr>
        <p:txBody>
          <a:bodyPr wrap="square" lIns="0" rIns="0" tIns="0" bIns="0">
            <a:spAutoFit/>
          </a:bodyPr>
          <a:lstStyle/>
          <a:p>
            <a:pPr algn="l">
              <a:lnSpc>
                <a:spcPct val="120000"/>
              </a:lnSpc>
              <a:spcAft>
                <a:spcPts val="600"/>
              </a:spcAft>
            </a:pPr>
            <a:r>
              <a:rPr sz="1350" b="0">
                <a:solidFill>
                  <a:srgbClr val="8A94A0"/>
                </a:solidFill>
                <a:latin typeface="Helvetica Neue"/>
              </a:rPr>
              <a:t>Todo junto, con subtítulos y música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45E0C8"/>
                </a:solidFill>
                <a:latin typeface="Helvetica Neue"/>
              </a:rPr>
              <a:t>TODO GRATIS</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F2EFEA"/>
                </a:solidFill>
                <a:latin typeface="Helvetica Neue"/>
              </a:rPr>
              <a:t>Las herramientas del día</a:t>
            </a:r>
          </a:p>
        </p:txBody>
      </p:sp>
      <p:sp>
        <p:nvSpPr>
          <p:cNvPr id="5" name="Rectangle 4"/>
          <p:cNvSpPr/>
          <p:nvPr/>
        </p:nvSpPr>
        <p:spPr>
          <a:xfrm>
            <a:off x="822960" y="2651760"/>
            <a:ext cx="10607040" cy="20116"/>
          </a:xfrm>
          <a:prstGeom prst="rect">
            <a:avLst/>
          </a:prstGeom>
          <a:solidFill>
            <a:srgbClr val="45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148840"/>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45E0C8"/>
                </a:solidFill>
                <a:latin typeface="Helvetica Neue"/>
              </a:rPr>
              <a:t>PARA QUÉ</a:t>
            </a:r>
          </a:p>
        </p:txBody>
      </p:sp>
      <p:sp>
        <p:nvSpPr>
          <p:cNvPr id="7" name="TextBox 6"/>
          <p:cNvSpPr txBox="1"/>
          <p:nvPr/>
        </p:nvSpPr>
        <p:spPr>
          <a:xfrm>
            <a:off x="4114800" y="2148840"/>
            <a:ext cx="3840480" cy="566928"/>
          </a:xfrm>
          <a:prstGeom prst="rect">
            <a:avLst/>
          </a:prstGeom>
          <a:noFill/>
        </p:spPr>
        <p:txBody>
          <a:bodyPr wrap="square" lIns="0" rIns="0" tIns="0" bIns="0">
            <a:spAutoFit/>
          </a:bodyPr>
          <a:lstStyle/>
          <a:p>
            <a:pPr algn="l">
              <a:lnSpc>
                <a:spcPct val="112000"/>
              </a:lnSpc>
              <a:spcAft>
                <a:spcPts val="0"/>
              </a:spcAft>
            </a:pPr>
            <a:r>
              <a:rPr sz="1600" b="1">
                <a:solidFill>
                  <a:srgbClr val="45E0C8"/>
                </a:solidFill>
                <a:latin typeface="Helvetica Neue"/>
              </a:rPr>
              <a:t>PRINCIPAL</a:t>
            </a:r>
          </a:p>
        </p:txBody>
      </p:sp>
      <p:sp>
        <p:nvSpPr>
          <p:cNvPr id="8" name="TextBox 7"/>
          <p:cNvSpPr txBox="1"/>
          <p:nvPr/>
        </p:nvSpPr>
        <p:spPr>
          <a:xfrm>
            <a:off x="7955279" y="2148840"/>
            <a:ext cx="3474720" cy="566928"/>
          </a:xfrm>
          <a:prstGeom prst="rect">
            <a:avLst/>
          </a:prstGeom>
          <a:noFill/>
        </p:spPr>
        <p:txBody>
          <a:bodyPr wrap="square" lIns="0" rIns="0" tIns="0" bIns="0">
            <a:spAutoFit/>
          </a:bodyPr>
          <a:lstStyle/>
          <a:p>
            <a:pPr algn="l">
              <a:lnSpc>
                <a:spcPct val="112000"/>
              </a:lnSpc>
              <a:spcAft>
                <a:spcPts val="0"/>
              </a:spcAft>
            </a:pPr>
            <a:r>
              <a:rPr sz="1600" b="1">
                <a:solidFill>
                  <a:srgbClr val="45E0C8"/>
                </a:solidFill>
                <a:latin typeface="Helvetica Neue"/>
              </a:rPr>
              <a:t>ALTERNATIVA</a:t>
            </a:r>
          </a:p>
        </p:txBody>
      </p:sp>
      <p:sp>
        <p:nvSpPr>
          <p:cNvPr id="9" name="TextBox 8"/>
          <p:cNvSpPr txBox="1"/>
          <p:nvPr/>
        </p:nvSpPr>
        <p:spPr>
          <a:xfrm>
            <a:off x="822960" y="2715768"/>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Guion</a:t>
            </a:r>
          </a:p>
        </p:txBody>
      </p:sp>
      <p:sp>
        <p:nvSpPr>
          <p:cNvPr id="10" name="TextBox 9"/>
          <p:cNvSpPr txBox="1"/>
          <p:nvPr/>
        </p:nvSpPr>
        <p:spPr>
          <a:xfrm>
            <a:off x="4114800" y="2715768"/>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Gemini</a:t>
            </a:r>
          </a:p>
        </p:txBody>
      </p:sp>
      <p:sp>
        <p:nvSpPr>
          <p:cNvPr id="11" name="TextBox 10"/>
          <p:cNvSpPr txBox="1"/>
          <p:nvPr/>
        </p:nvSpPr>
        <p:spPr>
          <a:xfrm>
            <a:off x="7955279" y="2715768"/>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ChatGPT o Claude</a:t>
            </a:r>
          </a:p>
        </p:txBody>
      </p:sp>
      <p:sp>
        <p:nvSpPr>
          <p:cNvPr id="12" name="Rectangle 11"/>
          <p:cNvSpPr/>
          <p:nvPr/>
        </p:nvSpPr>
        <p:spPr>
          <a:xfrm>
            <a:off x="822960" y="3218688"/>
            <a:ext cx="106070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282696"/>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Voz a texto</a:t>
            </a:r>
          </a:p>
        </p:txBody>
      </p:sp>
      <p:sp>
        <p:nvSpPr>
          <p:cNvPr id="14" name="TextBox 13"/>
          <p:cNvSpPr txBox="1"/>
          <p:nvPr/>
        </p:nvSpPr>
        <p:spPr>
          <a:xfrm>
            <a:off x="4114800" y="3282696"/>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Dictado por voz de Google Docs</a:t>
            </a:r>
          </a:p>
        </p:txBody>
      </p:sp>
      <p:sp>
        <p:nvSpPr>
          <p:cNvPr id="15" name="TextBox 14"/>
          <p:cNvSpPr txBox="1"/>
          <p:nvPr/>
        </p:nvSpPr>
        <p:spPr>
          <a:xfrm>
            <a:off x="7955279" y="3282696"/>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Subir el audio a Gemini</a:t>
            </a:r>
          </a:p>
        </p:txBody>
      </p:sp>
      <p:sp>
        <p:nvSpPr>
          <p:cNvPr id="16" name="Rectangle 15"/>
          <p:cNvSpPr/>
          <p:nvPr/>
        </p:nvSpPr>
        <p:spPr>
          <a:xfrm>
            <a:off x="822960" y="3785615"/>
            <a:ext cx="106070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849624"/>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Imagen</a:t>
            </a:r>
          </a:p>
        </p:txBody>
      </p:sp>
      <p:sp>
        <p:nvSpPr>
          <p:cNvPr id="18" name="TextBox 17"/>
          <p:cNvSpPr txBox="1"/>
          <p:nvPr/>
        </p:nvSpPr>
        <p:spPr>
          <a:xfrm>
            <a:off x="4114800" y="3849624"/>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Gemini</a:t>
            </a:r>
          </a:p>
        </p:txBody>
      </p:sp>
      <p:sp>
        <p:nvSpPr>
          <p:cNvPr id="19" name="TextBox 18"/>
          <p:cNvSpPr txBox="1"/>
          <p:nvPr/>
        </p:nvSpPr>
        <p:spPr>
          <a:xfrm>
            <a:off x="7955279" y="3849624"/>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Bing Image Creator · Ideogram</a:t>
            </a:r>
          </a:p>
        </p:txBody>
      </p:sp>
      <p:sp>
        <p:nvSpPr>
          <p:cNvPr id="20" name="Rectangle 19"/>
          <p:cNvSpPr/>
          <p:nvPr/>
        </p:nvSpPr>
        <p:spPr>
          <a:xfrm>
            <a:off x="822960" y="4352544"/>
            <a:ext cx="106070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416552"/>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Texto a voz</a:t>
            </a:r>
          </a:p>
        </p:txBody>
      </p:sp>
      <p:sp>
        <p:nvSpPr>
          <p:cNvPr id="22" name="TextBox 21"/>
          <p:cNvSpPr txBox="1"/>
          <p:nvPr/>
        </p:nvSpPr>
        <p:spPr>
          <a:xfrm>
            <a:off x="4114800" y="4416552"/>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Google AI Studio (Gemini TTS)</a:t>
            </a:r>
          </a:p>
        </p:txBody>
      </p:sp>
      <p:sp>
        <p:nvSpPr>
          <p:cNvPr id="23" name="TextBox 22"/>
          <p:cNvSpPr txBox="1"/>
          <p:nvPr/>
        </p:nvSpPr>
        <p:spPr>
          <a:xfrm>
            <a:off x="7955279" y="4416552"/>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ElevenLabs · TTSMaker</a:t>
            </a:r>
          </a:p>
        </p:txBody>
      </p:sp>
      <p:sp>
        <p:nvSpPr>
          <p:cNvPr id="24" name="Rectangle 23"/>
          <p:cNvSpPr/>
          <p:nvPr/>
        </p:nvSpPr>
        <p:spPr>
          <a:xfrm>
            <a:off x="822960" y="4919472"/>
            <a:ext cx="106070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983480"/>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Que el avatar hable</a:t>
            </a:r>
          </a:p>
        </p:txBody>
      </p:sp>
      <p:sp>
        <p:nvSpPr>
          <p:cNvPr id="26" name="TextBox 25"/>
          <p:cNvSpPr txBox="1"/>
          <p:nvPr/>
        </p:nvSpPr>
        <p:spPr>
          <a:xfrm>
            <a:off x="4114800" y="4983480"/>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HeyGen</a:t>
            </a:r>
          </a:p>
        </p:txBody>
      </p:sp>
      <p:sp>
        <p:nvSpPr>
          <p:cNvPr id="27" name="TextBox 26"/>
          <p:cNvSpPr txBox="1"/>
          <p:nvPr/>
        </p:nvSpPr>
        <p:spPr>
          <a:xfrm>
            <a:off x="7955279" y="4983480"/>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Hedra · Vidnoz · Google Vids</a:t>
            </a:r>
          </a:p>
        </p:txBody>
      </p:sp>
      <p:sp>
        <p:nvSpPr>
          <p:cNvPr id="28" name="Rectangle 27"/>
          <p:cNvSpPr/>
          <p:nvPr/>
        </p:nvSpPr>
        <p:spPr>
          <a:xfrm>
            <a:off x="822960" y="5486400"/>
            <a:ext cx="106070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550408"/>
            <a:ext cx="3291840" cy="566928"/>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Montaje</a:t>
            </a:r>
          </a:p>
        </p:txBody>
      </p:sp>
      <p:sp>
        <p:nvSpPr>
          <p:cNvPr id="30" name="TextBox 29"/>
          <p:cNvSpPr txBox="1"/>
          <p:nvPr/>
        </p:nvSpPr>
        <p:spPr>
          <a:xfrm>
            <a:off x="4114800" y="5550408"/>
            <a:ext cx="384048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CapCut</a:t>
            </a:r>
          </a:p>
        </p:txBody>
      </p:sp>
      <p:sp>
        <p:nvSpPr>
          <p:cNvPr id="31" name="TextBox 30"/>
          <p:cNvSpPr txBox="1"/>
          <p:nvPr/>
        </p:nvSpPr>
        <p:spPr>
          <a:xfrm>
            <a:off x="7955279" y="5550408"/>
            <a:ext cx="3474720" cy="566928"/>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Clipchamp · Canva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FF5C7A"/>
                </a:solidFill>
                <a:latin typeface="Helvetica Neue"/>
              </a:rPr>
              <a:t>ANTES DE PRODUCIR NADA</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F2EFEA"/>
                </a:solidFill>
                <a:latin typeface="Helvetica Neue"/>
              </a:rPr>
              <a:t>Tres reglas que no se negocian</a:t>
            </a:r>
          </a:p>
        </p:txBody>
      </p:sp>
      <p:sp>
        <p:nvSpPr>
          <p:cNvPr id="5" name="Rounded Rectangle 4"/>
          <p:cNvSpPr/>
          <p:nvPr/>
        </p:nvSpPr>
        <p:spPr>
          <a:xfrm>
            <a:off x="822960" y="2377440"/>
            <a:ext cx="10607040" cy="11430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5603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FF5C7A"/>
                </a:solidFill>
                <a:latin typeface="Helvetica Neue"/>
              </a:rPr>
              <a:t>Tu cara y tu voz</a:t>
            </a:r>
          </a:p>
        </p:txBody>
      </p:sp>
      <p:sp>
        <p:nvSpPr>
          <p:cNvPr id="7" name="TextBox 6"/>
          <p:cNvSpPr txBox="1"/>
          <p:nvPr/>
        </p:nvSpPr>
        <p:spPr>
          <a:xfrm>
            <a:off x="4480560" y="26334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F2EFEA"/>
                </a:solidFill>
                <a:latin typeface="Helvetica Neue"/>
              </a:rPr>
              <a:t>Solo las tuyas. De nadie más, aunque sea un chiste, aunque sea tu amigo.</a:t>
            </a:r>
          </a:p>
        </p:txBody>
      </p:sp>
      <p:sp>
        <p:nvSpPr>
          <p:cNvPr id="8" name="Rounded Rectangle 7"/>
          <p:cNvSpPr/>
          <p:nvPr/>
        </p:nvSpPr>
        <p:spPr>
          <a:xfrm>
            <a:off x="822960" y="3749039"/>
            <a:ext cx="10607040" cy="11430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9319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FF5C7A"/>
                </a:solidFill>
                <a:latin typeface="Helvetica Neue"/>
              </a:rPr>
              <a:t>Se declara</a:t>
            </a:r>
          </a:p>
        </p:txBody>
      </p:sp>
      <p:sp>
        <p:nvSpPr>
          <p:cNvPr id="10" name="TextBox 9"/>
          <p:cNvSpPr txBox="1"/>
          <p:nvPr/>
        </p:nvSpPr>
        <p:spPr>
          <a:xfrm>
            <a:off x="4480560" y="40050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F2EFEA"/>
                </a:solidFill>
                <a:latin typeface="Helvetica Neue"/>
              </a:rPr>
              <a:t>En el video o en la descripción: qué parte se hizo con IA y con qué herramienta.</a:t>
            </a:r>
          </a:p>
        </p:txBody>
      </p:sp>
      <p:sp>
        <p:nvSpPr>
          <p:cNvPr id="11" name="Rounded Rectangle 10"/>
          <p:cNvSpPr/>
          <p:nvPr/>
        </p:nvSpPr>
        <p:spPr>
          <a:xfrm>
            <a:off x="822960" y="5120640"/>
            <a:ext cx="10607040" cy="114300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5303520"/>
            <a:ext cx="3108960" cy="548640"/>
          </a:xfrm>
          <a:prstGeom prst="rect">
            <a:avLst/>
          </a:prstGeom>
          <a:noFill/>
        </p:spPr>
        <p:txBody>
          <a:bodyPr wrap="square" lIns="0" rIns="0" tIns="0" bIns="0">
            <a:spAutoFit/>
          </a:bodyPr>
          <a:lstStyle/>
          <a:p>
            <a:pPr algn="l">
              <a:lnSpc>
                <a:spcPct val="110000"/>
              </a:lnSpc>
              <a:spcAft>
                <a:spcPts val="600"/>
              </a:spcAft>
            </a:pPr>
            <a:r>
              <a:rPr sz="2100" b="1">
                <a:solidFill>
                  <a:srgbClr val="FF5C7A"/>
                </a:solidFill>
                <a:latin typeface="Helvetica Neue"/>
              </a:rPr>
              <a:t>Nada confidencial</a:t>
            </a:r>
          </a:p>
        </p:txBody>
      </p:sp>
      <p:sp>
        <p:nvSpPr>
          <p:cNvPr id="13" name="TextBox 12"/>
          <p:cNvSpPr txBox="1"/>
          <p:nvPr/>
        </p:nvSpPr>
        <p:spPr>
          <a:xfrm>
            <a:off x="4480560" y="5376672"/>
            <a:ext cx="6675120" cy="731520"/>
          </a:xfrm>
          <a:prstGeom prst="rect">
            <a:avLst/>
          </a:prstGeom>
          <a:noFill/>
        </p:spPr>
        <p:txBody>
          <a:bodyPr wrap="square" lIns="0" rIns="0" tIns="0" bIns="0">
            <a:spAutoFit/>
          </a:bodyPr>
          <a:lstStyle/>
          <a:p>
            <a:pPr algn="l">
              <a:lnSpc>
                <a:spcPct val="125000"/>
              </a:lnSpc>
              <a:spcAft>
                <a:spcPts val="600"/>
              </a:spcAft>
            </a:pPr>
            <a:r>
              <a:rPr sz="1600" b="0">
                <a:solidFill>
                  <a:srgbClr val="F2EFEA"/>
                </a:solidFill>
                <a:latin typeface="Helvetica Neue"/>
              </a:rPr>
              <a:t>Ni datos de pacientes, ni de clientes, ni de menores, ni expedientes.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1</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El guion</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Primero qué se dice. Siempre.</a:t>
            </a:r>
          </a:p>
        </p:txBody>
      </p:sp>
      <p:sp>
        <p:nvSpPr>
          <p:cNvPr id="6" name="Rounded Rectangle 5"/>
          <p:cNvSpPr/>
          <p:nvPr/>
        </p:nvSpPr>
        <p:spPr>
          <a:xfrm>
            <a:off x="2103120" y="2697480"/>
            <a:ext cx="8778240" cy="219456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737360"/>
          </a:xfrm>
          <a:prstGeom prst="rect">
            <a:avLst/>
          </a:prstGeom>
          <a:noFill/>
        </p:spPr>
        <p:txBody>
          <a:bodyPr wrap="square" lIns="0" rIns="0" tIns="0" bIns="0">
            <a:spAutoFit/>
          </a:bodyPr>
          <a:lstStyle/>
          <a:p>
            <a:pPr algn="l">
              <a:lnSpc>
                <a:spcPct val="135000"/>
              </a:lnSpc>
              <a:spcAft>
                <a:spcPts val="400"/>
              </a:spcAft>
            </a:pPr>
            <a:r>
              <a:rPr sz="1900" b="0">
                <a:solidFill>
                  <a:srgbClr val="F2EFEA"/>
                </a:solidFill>
                <a:latin typeface="Helvetica Neue"/>
              </a:rPr>
              <a:t>· Una primera frase que enganche</a:t>
            </a:r>
          </a:p>
          <a:p>
            <a:pPr algn="l">
              <a:lnSpc>
                <a:spcPct val="135000"/>
              </a:lnSpc>
              <a:spcAft>
                <a:spcPts val="400"/>
              </a:spcAft>
            </a:pPr>
            <a:r>
              <a:rPr sz="1900" b="0">
                <a:solidFill>
                  <a:srgbClr val="F2EFEA"/>
                </a:solidFill>
                <a:latin typeface="Helvetica Neue"/>
              </a:rPr>
              <a:t>· Una idea central, explicada con una comparación cotidiana</a:t>
            </a:r>
          </a:p>
          <a:p>
            <a:pPr algn="l">
              <a:lnSpc>
                <a:spcPct val="135000"/>
              </a:lnSpc>
              <a:spcAft>
                <a:spcPts val="400"/>
              </a:spcAft>
            </a:pPr>
            <a:r>
              <a:rPr sz="1900" b="0">
                <a:solidFill>
                  <a:srgbClr val="F2EFEA"/>
                </a:solidFill>
                <a:latin typeface="Helvetica Neue"/>
              </a:rPr>
              <a:t>· Un cierre que deje una pregunta</a:t>
            </a:r>
          </a:p>
          <a:p>
            <a:pPr algn="l">
              <a:lnSpc>
                <a:spcPct val="135000"/>
              </a:lnSpc>
              <a:spcAft>
                <a:spcPts val="400"/>
              </a:spcAft>
            </a:pPr>
          </a:p>
          <a:p>
            <a:pPr algn="l">
              <a:lnSpc>
                <a:spcPct val="135000"/>
              </a:lnSpc>
              <a:spcAft>
                <a:spcPts val="400"/>
              </a:spcAft>
            </a:pPr>
            <a:r>
              <a:rPr sz="1500" b="0">
                <a:solidFill>
                  <a:srgbClr val="8A94A0"/>
                </a:solidFill>
                <a:latin typeface="Helvetica Neue"/>
              </a:rPr>
              <a:t>80 palabras son unos 45 segundos. El prompt está en las notas.</a:t>
            </a:r>
          </a:p>
        </p:txBody>
      </p:sp>
      <p:sp>
        <p:nvSpPr>
          <p:cNvPr id="8" name="Rounded Rectangle 7"/>
          <p:cNvSpPr/>
          <p:nvPr/>
        </p:nvSpPr>
        <p:spPr>
          <a:xfrm>
            <a:off x="2103120" y="5166360"/>
            <a:ext cx="8778240" cy="914400"/>
          </a:xfrm>
          <a:prstGeom prst="roundRect">
            <a:avLst>
              <a:gd name="adj" fmla="val 6000"/>
            </a:avLst>
          </a:prstGeom>
          <a:solidFill>
            <a:srgbClr val="2A1A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700" b="1">
                <a:solidFill>
                  <a:srgbClr val="FF5C7A"/>
                </a:solidFill>
                <a:latin typeface="Helvetica Neue"/>
              </a:rPr>
              <a:t>Pruébalo: léelo en voz alta. Si te trabas, está mal escrito.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45E0C8"/>
                </a:solidFill>
                <a:latin typeface="Helvetica Neue"/>
              </a:rPr>
              <a:t>TRUCO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800" b="1">
                <a:solidFill>
                  <a:srgbClr val="F2EFEA"/>
                </a:solidFill>
                <a:latin typeface="Helvetica Neue"/>
              </a:rPr>
              <a:t>Dicta el guion en vez de escribirlo</a:t>
            </a:r>
          </a:p>
        </p:txBody>
      </p:sp>
      <p:sp>
        <p:nvSpPr>
          <p:cNvPr id="5" name="TextBox 4"/>
          <p:cNvSpPr txBox="1"/>
          <p:nvPr/>
        </p:nvSpPr>
        <p:spPr>
          <a:xfrm>
            <a:off x="822960" y="2103120"/>
            <a:ext cx="10424160" cy="731520"/>
          </a:xfrm>
          <a:prstGeom prst="rect">
            <a:avLst/>
          </a:prstGeom>
          <a:noFill/>
        </p:spPr>
        <p:txBody>
          <a:bodyPr wrap="square" lIns="0" rIns="0" tIns="0" bIns="0">
            <a:spAutoFit/>
          </a:bodyPr>
          <a:lstStyle/>
          <a:p>
            <a:pPr algn="l">
              <a:lnSpc>
                <a:spcPct val="130000"/>
              </a:lnSpc>
              <a:spcAft>
                <a:spcPts val="600"/>
              </a:spcAft>
            </a:pPr>
            <a:r>
              <a:rPr sz="2000" b="0">
                <a:solidFill>
                  <a:srgbClr val="8A94A0"/>
                </a:solidFill>
                <a:latin typeface="Helvetica Neue"/>
              </a:rPr>
              <a:t>Un texto dictado suena a persona hablando. Uno escrito suena a texto escrito.</a:t>
            </a:r>
          </a:p>
        </p:txBody>
      </p:sp>
      <p:sp>
        <p:nvSpPr>
          <p:cNvPr id="6" name="Rounded Rectangle 5"/>
          <p:cNvSpPr/>
          <p:nvPr/>
        </p:nvSpPr>
        <p:spPr>
          <a:xfrm>
            <a:off x="822960" y="3108960"/>
            <a:ext cx="5029200" cy="21031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3429000"/>
            <a:ext cx="4206240" cy="548640"/>
          </a:xfrm>
          <a:prstGeom prst="rect">
            <a:avLst/>
          </a:prstGeom>
          <a:noFill/>
        </p:spPr>
        <p:txBody>
          <a:bodyPr wrap="square" lIns="0" rIns="0" tIns="0" bIns="0">
            <a:spAutoFit/>
          </a:bodyPr>
          <a:lstStyle/>
          <a:p>
            <a:pPr algn="l">
              <a:spcAft>
                <a:spcPts val="600"/>
              </a:spcAft>
            </a:pPr>
            <a:r>
              <a:rPr sz="2400" b="1">
                <a:solidFill>
                  <a:srgbClr val="45E0C8"/>
                </a:solidFill>
                <a:latin typeface="Helvetica Neue"/>
              </a:rPr>
              <a:t>Google Docs</a:t>
            </a:r>
          </a:p>
        </p:txBody>
      </p:sp>
      <p:sp>
        <p:nvSpPr>
          <p:cNvPr id="8" name="TextBox 7"/>
          <p:cNvSpPr txBox="1"/>
          <p:nvPr/>
        </p:nvSpPr>
        <p:spPr>
          <a:xfrm>
            <a:off x="123444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F2EFEA"/>
                </a:solidFill>
                <a:latin typeface="Helvetica Neue"/>
              </a:rPr>
              <a:t>Herramientas → Dictado por voz. Hablas, aparece escrito.</a:t>
            </a:r>
          </a:p>
        </p:txBody>
      </p:sp>
      <p:sp>
        <p:nvSpPr>
          <p:cNvPr id="9" name="Rounded Rectangle 8"/>
          <p:cNvSpPr/>
          <p:nvPr/>
        </p:nvSpPr>
        <p:spPr>
          <a:xfrm>
            <a:off x="6217920" y="3108960"/>
            <a:ext cx="5029200" cy="21031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3429000"/>
            <a:ext cx="4206240" cy="548640"/>
          </a:xfrm>
          <a:prstGeom prst="rect">
            <a:avLst/>
          </a:prstGeom>
          <a:noFill/>
        </p:spPr>
        <p:txBody>
          <a:bodyPr wrap="square" lIns="0" rIns="0" tIns="0" bIns="0">
            <a:spAutoFit/>
          </a:bodyPr>
          <a:lstStyle/>
          <a:p>
            <a:pPr algn="l">
              <a:spcAft>
                <a:spcPts val="600"/>
              </a:spcAft>
            </a:pPr>
            <a:r>
              <a:rPr sz="2400" b="1">
                <a:solidFill>
                  <a:srgbClr val="45E0C8"/>
                </a:solidFill>
                <a:latin typeface="Helvetica Neue"/>
              </a:rPr>
              <a:t>Gemini</a:t>
            </a:r>
          </a:p>
        </p:txBody>
      </p:sp>
      <p:sp>
        <p:nvSpPr>
          <p:cNvPr id="11" name="TextBox 10"/>
          <p:cNvSpPr txBox="1"/>
          <p:nvPr/>
        </p:nvSpPr>
        <p:spPr>
          <a:xfrm>
            <a:off x="6629400" y="416052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F2EFEA"/>
                </a:solidFill>
                <a:latin typeface="Helvetica Neue"/>
              </a:rPr>
              <a:t>Grabas una nota de voz en el celular, la subes y le pides la transcripción limpia.</a:t>
            </a:r>
          </a:p>
        </p:txBody>
      </p:sp>
      <p:sp>
        <p:nvSpPr>
          <p:cNvPr id="12" name="TextBox 11"/>
          <p:cNvSpPr txBox="1"/>
          <p:nvPr/>
        </p:nvSpPr>
        <p:spPr>
          <a:xfrm>
            <a:off x="822960" y="5577840"/>
            <a:ext cx="10424160" cy="548640"/>
          </a:xfrm>
          <a:prstGeom prst="rect">
            <a:avLst/>
          </a:prstGeom>
          <a:noFill/>
        </p:spPr>
        <p:txBody>
          <a:bodyPr wrap="square" lIns="0" rIns="0" tIns="0" bIns="0">
            <a:spAutoFit/>
          </a:bodyPr>
          <a:lstStyle/>
          <a:p>
            <a:pPr algn="l">
              <a:spcAft>
                <a:spcPts val="600"/>
              </a:spcAft>
            </a:pPr>
            <a:r>
              <a:rPr sz="1600" b="0">
                <a:solidFill>
                  <a:srgbClr val="FF5C7A"/>
                </a:solidFill>
                <a:latin typeface="Helvetica Neue"/>
              </a:rPr>
              <a:t>Después lo pules: «Limpia este dictado, quita las muletillas y déjalo en 80 palabras».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2</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El ambiente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El lugar donde ocurre lo que cuentas</a:t>
            </a:r>
          </a:p>
        </p:txBody>
      </p:sp>
      <p:sp>
        <p:nvSpPr>
          <p:cNvPr id="6" name="Rounded Rectangle 5"/>
          <p:cNvSpPr/>
          <p:nvPr/>
        </p:nvSpPr>
        <p:spPr>
          <a:xfrm>
            <a:off x="2103120" y="2697480"/>
            <a:ext cx="8778240" cy="19202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0" y="3017520"/>
            <a:ext cx="8046720" cy="1463040"/>
          </a:xfrm>
          <a:prstGeom prst="rect">
            <a:avLst/>
          </a:prstGeom>
          <a:noFill/>
        </p:spPr>
        <p:txBody>
          <a:bodyPr wrap="square" lIns="0" rIns="0" tIns="0" bIns="0">
            <a:spAutoFit/>
          </a:bodyPr>
          <a:lstStyle/>
          <a:p>
            <a:pPr algn="l">
              <a:lnSpc>
                <a:spcPct val="135000"/>
              </a:lnSpc>
              <a:spcAft>
                <a:spcPts val="400"/>
              </a:spcAft>
            </a:pPr>
            <a:r>
              <a:rPr sz="1900" b="0">
                <a:solidFill>
                  <a:srgbClr val="F2EFEA"/>
                </a:solidFill>
                <a:latin typeface="Helvetica Neue"/>
              </a:rPr>
              <a:t>Pide la imagen en 16:9, sin personas y sin texto.</a:t>
            </a:r>
          </a:p>
          <a:p>
            <a:pPr algn="l">
              <a:lnSpc>
                <a:spcPct val="135000"/>
              </a:lnSpc>
              <a:spcAft>
                <a:spcPts val="400"/>
              </a:spcAft>
            </a:pPr>
            <a:r>
              <a:rPr sz="1900" b="0">
                <a:solidFill>
                  <a:srgbClr val="F2EFEA"/>
                </a:solidFill>
                <a:latin typeface="Helvetica Neue"/>
              </a:rPr>
              <a:t>Y pide algo que casi nadie pide: deja espacio libre a un lado</a:t>
            </a:r>
          </a:p>
          <a:p>
            <a:pPr algn="l">
              <a:lnSpc>
                <a:spcPct val="135000"/>
              </a:lnSpc>
              <a:spcAft>
                <a:spcPts val="400"/>
              </a:spcAft>
            </a:pPr>
            <a:r>
              <a:rPr sz="1900" b="0">
                <a:solidFill>
                  <a:srgbClr val="F2EFEA"/>
                </a:solidFill>
                <a:latin typeface="Helvetica Neue"/>
              </a:rPr>
              <a:t>para que quepa tu personaje.</a:t>
            </a:r>
          </a:p>
        </p:txBody>
      </p:sp>
      <p:sp>
        <p:nvSpPr>
          <p:cNvPr id="8" name="Rounded Rectangle 7"/>
          <p:cNvSpPr/>
          <p:nvPr/>
        </p:nvSpPr>
        <p:spPr>
          <a:xfrm>
            <a:off x="2103120" y="4892040"/>
            <a:ext cx="8778240" cy="1234440"/>
          </a:xfrm>
          <a:prstGeom prst="roundRect">
            <a:avLst>
              <a:gd name="adj" fmla="val 6000"/>
            </a:avLst>
          </a:prstGeom>
          <a:solidFill>
            <a:srgbClr val="1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560320" y="5120640"/>
            <a:ext cx="8046720" cy="914400"/>
          </a:xfrm>
          <a:prstGeom prst="rect">
            <a:avLst/>
          </a:prstGeom>
          <a:noFill/>
        </p:spPr>
        <p:txBody>
          <a:bodyPr wrap="square" lIns="0" rIns="0" tIns="0" bIns="0">
            <a:spAutoFit/>
          </a:bodyPr>
          <a:lstStyle/>
          <a:p>
            <a:pPr algn="l">
              <a:lnSpc>
                <a:spcPct val="130000"/>
              </a:lnSpc>
              <a:spcAft>
                <a:spcPts val="200"/>
              </a:spcAft>
            </a:pPr>
            <a:r>
              <a:rPr sz="1700" b="0">
                <a:solidFill>
                  <a:srgbClr val="45E0C8"/>
                </a:solidFill>
                <a:latin typeface="Helvetica Neue"/>
              </a:rPr>
              <a:t>Un laboratorio · una sala de audiencias · un taller de pintura</a:t>
            </a:r>
          </a:p>
          <a:p>
            <a:pPr algn="l">
              <a:lnSpc>
                <a:spcPct val="130000"/>
              </a:lnSpc>
              <a:spcAft>
                <a:spcPts val="200"/>
              </a:spcAft>
            </a:pPr>
            <a:r>
              <a:rPr sz="1700" b="0">
                <a:solidFill>
                  <a:srgbClr val="45E0C8"/>
                </a:solidFill>
                <a:latin typeface="Helvetica Neue"/>
              </a:rPr>
              <a:t>una planta de alimentos · una cancha · un afloramiento rocoso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3</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Tu avatar</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Tu personaje, a partir de tu propia foto</a:t>
            </a:r>
          </a:p>
        </p:txBody>
      </p:sp>
      <p:sp>
        <p:nvSpPr>
          <p:cNvPr id="6" name="Rounded Rectangle 5"/>
          <p:cNvSpPr/>
          <p:nvPr/>
        </p:nvSpPr>
        <p:spPr>
          <a:xfrm>
            <a:off x="2103120" y="2697480"/>
            <a:ext cx="4206240" cy="22402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68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FF5C7A"/>
                </a:solidFill>
                <a:latin typeface="Helvetica Neue"/>
              </a:rPr>
              <a:t>Con tu foto</a:t>
            </a:r>
          </a:p>
          <a:p>
            <a:pPr algn="l">
              <a:lnSpc>
                <a:spcPct val="130000"/>
              </a:lnSpc>
              <a:spcAft>
                <a:spcPts val="300"/>
              </a:spcAft>
            </a:pPr>
          </a:p>
          <a:p>
            <a:pPr algn="l">
              <a:lnSpc>
                <a:spcPct val="130000"/>
              </a:lnSpc>
              <a:spcAft>
                <a:spcPts val="300"/>
              </a:spcAft>
            </a:pPr>
            <a:r>
              <a:rPr sz="1500" b="0">
                <a:solidFill>
                  <a:srgbClr val="F2EFEA"/>
                </a:solidFill>
                <a:latin typeface="Helvetica Neue"/>
              </a:rPr>
              <a:t>Gemini toma tu cara como referencia y te devuelve el personaje con el vestuario que pidas.</a:t>
            </a:r>
          </a:p>
        </p:txBody>
      </p:sp>
      <p:sp>
        <p:nvSpPr>
          <p:cNvPr id="8" name="Rounded Rectangle 7"/>
          <p:cNvSpPr/>
          <p:nvPr/>
        </p:nvSpPr>
        <p:spPr>
          <a:xfrm>
            <a:off x="6675120" y="2697480"/>
            <a:ext cx="4206240" cy="22402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0" y="2971800"/>
            <a:ext cx="3566160" cy="1828800"/>
          </a:xfrm>
          <a:prstGeom prst="rect">
            <a:avLst/>
          </a:prstGeom>
          <a:noFill/>
        </p:spPr>
        <p:txBody>
          <a:bodyPr wrap="square" lIns="0" rIns="0" tIns="0" bIns="0">
            <a:spAutoFit/>
          </a:bodyPr>
          <a:lstStyle/>
          <a:p>
            <a:pPr algn="l">
              <a:lnSpc>
                <a:spcPct val="130000"/>
              </a:lnSpc>
              <a:spcAft>
                <a:spcPts val="300"/>
              </a:spcAft>
            </a:pPr>
            <a:r>
              <a:rPr sz="2200" b="1">
                <a:solidFill>
                  <a:srgbClr val="45E0C8"/>
                </a:solidFill>
                <a:latin typeface="Helvetica Neue"/>
              </a:rPr>
              <a:t>Sin tu foto</a:t>
            </a:r>
          </a:p>
          <a:p>
            <a:pPr algn="l">
              <a:lnSpc>
                <a:spcPct val="130000"/>
              </a:lnSpc>
              <a:spcAft>
                <a:spcPts val="300"/>
              </a:spcAft>
            </a:pPr>
          </a:p>
          <a:p>
            <a:pPr algn="l">
              <a:lnSpc>
                <a:spcPct val="130000"/>
              </a:lnSpc>
              <a:spcAft>
                <a:spcPts val="300"/>
              </a:spcAft>
            </a:pPr>
            <a:r>
              <a:rPr sz="1500" b="0">
                <a:solidFill>
                  <a:srgbClr val="F2EFEA"/>
                </a:solidFill>
                <a:latin typeface="Helvetica Neue"/>
              </a:rPr>
              <a:t>Describes un personaje inventado y listo. Nadie está obligado a poner su cara.</a:t>
            </a:r>
          </a:p>
        </p:txBody>
      </p:sp>
      <p:sp>
        <p:nvSpPr>
          <p:cNvPr id="10" name="Rounded Rectangle 9"/>
          <p:cNvSpPr/>
          <p:nvPr/>
        </p:nvSpPr>
        <p:spPr>
          <a:xfrm>
            <a:off x="2103120" y="5166360"/>
            <a:ext cx="8778240" cy="914400"/>
          </a:xfrm>
          <a:prstGeom prst="roundRect">
            <a:avLst>
              <a:gd name="adj" fmla="val 6000"/>
            </a:avLst>
          </a:prstGeom>
          <a:solidFill>
            <a:srgbClr val="2A1A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5413248"/>
            <a:ext cx="8046720" cy="548640"/>
          </a:xfrm>
          <a:prstGeom prst="rect">
            <a:avLst/>
          </a:prstGeom>
          <a:noFill/>
        </p:spPr>
        <p:txBody>
          <a:bodyPr wrap="square" lIns="0" rIns="0" tIns="0" bIns="0">
            <a:spAutoFit/>
          </a:bodyPr>
          <a:lstStyle/>
          <a:p>
            <a:pPr algn="l">
              <a:spcAft>
                <a:spcPts val="600"/>
              </a:spcAft>
            </a:pPr>
            <a:r>
              <a:rPr sz="1700" b="1">
                <a:solidFill>
                  <a:srgbClr val="FF5C7A"/>
                </a:solidFill>
                <a:latin typeface="Helvetica Neue"/>
              </a:rPr>
              <a:t>Pide fondo gris liso: es lo que te deja recortarlo y montarlo sobre el ambiente.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4</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La voz</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Generada o tuya: las dos valen</a:t>
            </a:r>
          </a:p>
        </p:txBody>
      </p:sp>
      <p:sp>
        <p:nvSpPr>
          <p:cNvPr id="6" name="Rounded Rectangle 5"/>
          <p:cNvSpPr/>
          <p:nvPr/>
        </p:nvSpPr>
        <p:spPr>
          <a:xfrm>
            <a:off x="2103120" y="2697480"/>
            <a:ext cx="8778240" cy="10058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23160" y="2898648"/>
            <a:ext cx="548640" cy="548640"/>
          </a:xfrm>
          <a:prstGeom prst="rect">
            <a:avLst/>
          </a:prstGeom>
          <a:noFill/>
        </p:spPr>
        <p:txBody>
          <a:bodyPr wrap="square" lIns="0" rIns="0" tIns="0" bIns="0">
            <a:spAutoFit/>
          </a:bodyPr>
          <a:lstStyle/>
          <a:p>
            <a:pPr algn="l">
              <a:spcAft>
                <a:spcPts val="600"/>
              </a:spcAft>
            </a:pPr>
            <a:r>
              <a:rPr sz="2600" b="1">
                <a:solidFill>
                  <a:srgbClr val="FF5C7A"/>
                </a:solidFill>
                <a:latin typeface="Helvetica Neue"/>
              </a:rPr>
              <a:t>A</a:t>
            </a:r>
          </a:p>
        </p:txBody>
      </p:sp>
      <p:sp>
        <p:nvSpPr>
          <p:cNvPr id="8" name="TextBox 7"/>
          <p:cNvSpPr txBox="1"/>
          <p:nvPr/>
        </p:nvSpPr>
        <p:spPr>
          <a:xfrm>
            <a:off x="3108960" y="2871216"/>
            <a:ext cx="3017520" cy="457200"/>
          </a:xfrm>
          <a:prstGeom prst="rect">
            <a:avLst/>
          </a:prstGeom>
          <a:noFill/>
        </p:spPr>
        <p:txBody>
          <a:bodyPr wrap="square" lIns="0" rIns="0" tIns="0" bIns="0">
            <a:spAutoFit/>
          </a:bodyPr>
          <a:lstStyle/>
          <a:p>
            <a:pPr algn="l">
              <a:spcAft>
                <a:spcPts val="600"/>
              </a:spcAft>
            </a:pPr>
            <a:r>
              <a:rPr sz="2000" b="1">
                <a:solidFill>
                  <a:srgbClr val="F2EFEA"/>
                </a:solidFill>
                <a:latin typeface="Helvetica Neue"/>
              </a:rPr>
              <a:t>Google AI Studio</a:t>
            </a:r>
          </a:p>
        </p:txBody>
      </p:sp>
      <p:sp>
        <p:nvSpPr>
          <p:cNvPr id="9" name="TextBox 8"/>
          <p:cNvSpPr txBox="1"/>
          <p:nvPr/>
        </p:nvSpPr>
        <p:spPr>
          <a:xfrm>
            <a:off x="6217920" y="292608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8A94A0"/>
                </a:solidFill>
                <a:latin typeface="Helvetica Neue"/>
              </a:rPr>
              <a:t>Pegas el guion, eliges voz y das una indicación de estilo</a:t>
            </a:r>
          </a:p>
        </p:txBody>
      </p:sp>
      <p:sp>
        <p:nvSpPr>
          <p:cNvPr id="10" name="Rounded Rectangle 9"/>
          <p:cNvSpPr/>
          <p:nvPr/>
        </p:nvSpPr>
        <p:spPr>
          <a:xfrm>
            <a:off x="2103120" y="3886200"/>
            <a:ext cx="8778240" cy="10058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23160" y="4087368"/>
            <a:ext cx="548640" cy="548640"/>
          </a:xfrm>
          <a:prstGeom prst="rect">
            <a:avLst/>
          </a:prstGeom>
          <a:noFill/>
        </p:spPr>
        <p:txBody>
          <a:bodyPr wrap="square" lIns="0" rIns="0" tIns="0" bIns="0">
            <a:spAutoFit/>
          </a:bodyPr>
          <a:lstStyle/>
          <a:p>
            <a:pPr algn="l">
              <a:spcAft>
                <a:spcPts val="600"/>
              </a:spcAft>
            </a:pPr>
            <a:r>
              <a:rPr sz="2600" b="1">
                <a:solidFill>
                  <a:srgbClr val="FF5C7A"/>
                </a:solidFill>
                <a:latin typeface="Helvetica Neue"/>
              </a:rPr>
              <a:t>B</a:t>
            </a:r>
          </a:p>
        </p:txBody>
      </p:sp>
      <p:sp>
        <p:nvSpPr>
          <p:cNvPr id="12" name="TextBox 11"/>
          <p:cNvSpPr txBox="1"/>
          <p:nvPr/>
        </p:nvSpPr>
        <p:spPr>
          <a:xfrm>
            <a:off x="3108960" y="4059936"/>
            <a:ext cx="3017520" cy="457200"/>
          </a:xfrm>
          <a:prstGeom prst="rect">
            <a:avLst/>
          </a:prstGeom>
          <a:noFill/>
        </p:spPr>
        <p:txBody>
          <a:bodyPr wrap="square" lIns="0" rIns="0" tIns="0" bIns="0">
            <a:spAutoFit/>
          </a:bodyPr>
          <a:lstStyle/>
          <a:p>
            <a:pPr algn="l">
              <a:spcAft>
                <a:spcPts val="600"/>
              </a:spcAft>
            </a:pPr>
            <a:r>
              <a:rPr sz="2000" b="1">
                <a:solidFill>
                  <a:srgbClr val="F2EFEA"/>
                </a:solidFill>
                <a:latin typeface="Helvetica Neue"/>
              </a:rPr>
              <a:t>ElevenLabs</a:t>
            </a:r>
          </a:p>
        </p:txBody>
      </p:sp>
      <p:sp>
        <p:nvSpPr>
          <p:cNvPr id="13" name="TextBox 12"/>
          <p:cNvSpPr txBox="1"/>
          <p:nvPr/>
        </p:nvSpPr>
        <p:spPr>
          <a:xfrm>
            <a:off x="6217920" y="411480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8A94A0"/>
                </a:solidFill>
                <a:latin typeface="Helvetica Neue"/>
              </a:rPr>
              <a:t>Plan gratis: unos 10 minutos de audio al mes</a:t>
            </a:r>
          </a:p>
        </p:txBody>
      </p:sp>
      <p:sp>
        <p:nvSpPr>
          <p:cNvPr id="14" name="Rounded Rectangle 13"/>
          <p:cNvSpPr/>
          <p:nvPr/>
        </p:nvSpPr>
        <p:spPr>
          <a:xfrm>
            <a:off x="2103120" y="5074920"/>
            <a:ext cx="8778240" cy="10058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276088"/>
            <a:ext cx="548640" cy="548640"/>
          </a:xfrm>
          <a:prstGeom prst="rect">
            <a:avLst/>
          </a:prstGeom>
          <a:noFill/>
        </p:spPr>
        <p:txBody>
          <a:bodyPr wrap="square" lIns="0" rIns="0" tIns="0" bIns="0">
            <a:spAutoFit/>
          </a:bodyPr>
          <a:lstStyle/>
          <a:p>
            <a:pPr algn="l">
              <a:spcAft>
                <a:spcPts val="600"/>
              </a:spcAft>
            </a:pPr>
            <a:r>
              <a:rPr sz="2600" b="1">
                <a:solidFill>
                  <a:srgbClr val="FF5C7A"/>
                </a:solidFill>
                <a:latin typeface="Helvetica Neue"/>
              </a:rPr>
              <a:t>C</a:t>
            </a:r>
          </a:p>
        </p:txBody>
      </p:sp>
      <p:sp>
        <p:nvSpPr>
          <p:cNvPr id="16" name="TextBox 15"/>
          <p:cNvSpPr txBox="1"/>
          <p:nvPr/>
        </p:nvSpPr>
        <p:spPr>
          <a:xfrm>
            <a:off x="3108960" y="5248656"/>
            <a:ext cx="3017520" cy="457200"/>
          </a:xfrm>
          <a:prstGeom prst="rect">
            <a:avLst/>
          </a:prstGeom>
          <a:noFill/>
        </p:spPr>
        <p:txBody>
          <a:bodyPr wrap="square" lIns="0" rIns="0" tIns="0" bIns="0">
            <a:spAutoFit/>
          </a:bodyPr>
          <a:lstStyle/>
          <a:p>
            <a:pPr algn="l">
              <a:spcAft>
                <a:spcPts val="600"/>
              </a:spcAft>
            </a:pPr>
            <a:r>
              <a:rPr sz="2000" b="1">
                <a:solidFill>
                  <a:srgbClr val="F2EFEA"/>
                </a:solidFill>
                <a:latin typeface="Helvetica Neue"/>
              </a:rPr>
              <a:t>Tu propia voz</a:t>
            </a:r>
          </a:p>
        </p:txBody>
      </p:sp>
      <p:sp>
        <p:nvSpPr>
          <p:cNvPr id="17" name="TextBox 16"/>
          <p:cNvSpPr txBox="1"/>
          <p:nvPr/>
        </p:nvSpPr>
        <p:spPr>
          <a:xfrm>
            <a:off x="6217920" y="5303520"/>
            <a:ext cx="4480560" cy="548640"/>
          </a:xfrm>
          <a:prstGeom prst="rect">
            <a:avLst/>
          </a:prstGeom>
          <a:noFill/>
        </p:spPr>
        <p:txBody>
          <a:bodyPr wrap="square" lIns="0" rIns="0" tIns="0" bIns="0">
            <a:spAutoFit/>
          </a:bodyPr>
          <a:lstStyle/>
          <a:p>
            <a:pPr algn="l">
              <a:lnSpc>
                <a:spcPct val="120000"/>
              </a:lnSpc>
              <a:spcAft>
                <a:spcPts val="600"/>
              </a:spcAft>
            </a:pPr>
            <a:r>
              <a:rPr sz="1500" b="0">
                <a:solidFill>
                  <a:srgbClr val="8A94A0"/>
                </a:solidFill>
                <a:latin typeface="Helvetica Neue"/>
              </a:rPr>
              <a:t>El celular. Gratis, tuya, y a veces suena mejor</a:t>
            </a:r>
          </a:p>
        </p:txBody>
      </p:sp>
      <p:sp>
        <p:nvSpPr>
          <p:cNvPr id="18" name="TextBox 17"/>
          <p:cNvSpPr txBox="1"/>
          <p:nvPr/>
        </p:nvSpPr>
        <p:spPr>
          <a:xfrm>
            <a:off x="2103120" y="6309360"/>
            <a:ext cx="8778240" cy="457200"/>
          </a:xfrm>
          <a:prstGeom prst="rect">
            <a:avLst/>
          </a:prstGeom>
          <a:noFill/>
        </p:spPr>
        <p:txBody>
          <a:bodyPr wrap="square" lIns="0" rIns="0" tIns="0" bIns="0">
            <a:spAutoFit/>
          </a:bodyPr>
          <a:lstStyle/>
          <a:p>
            <a:pPr algn="l">
              <a:spcAft>
                <a:spcPts val="600"/>
              </a:spcAft>
            </a:pPr>
            <a:r>
              <a:rPr sz="1500" b="0">
                <a:solidFill>
                  <a:srgbClr val="8A94A0"/>
                </a:solidFill>
                <a:latin typeface="Helvetica Neue"/>
              </a:rPr>
              <a:t>La indicación de estilo de voz está en las notas.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5</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Que hable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Imagen + voz = personaje que mueve la boca</a:t>
            </a:r>
          </a:p>
        </p:txBody>
      </p:sp>
      <p:sp>
        <p:nvSpPr>
          <p:cNvPr id="6" name="Rectangle 5"/>
          <p:cNvSpPr/>
          <p:nvPr/>
        </p:nvSpPr>
        <p:spPr>
          <a:xfrm>
            <a:off x="2103120" y="3182112"/>
            <a:ext cx="8778240" cy="20116"/>
          </a:xfrm>
          <a:prstGeom prst="rect">
            <a:avLst/>
          </a:prstGeom>
          <a:solidFill>
            <a:srgbClr val="45E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269748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45E0C8"/>
                </a:solidFill>
                <a:latin typeface="Helvetica Neue"/>
              </a:rPr>
              <a:t>HERRAMIENTA</a:t>
            </a:r>
          </a:p>
        </p:txBody>
      </p:sp>
      <p:sp>
        <p:nvSpPr>
          <p:cNvPr id="8" name="TextBox 7"/>
          <p:cNvSpPr txBox="1"/>
          <p:nvPr/>
        </p:nvSpPr>
        <p:spPr>
          <a:xfrm>
            <a:off x="5120640" y="2697480"/>
            <a:ext cx="5760720" cy="548640"/>
          </a:xfrm>
          <a:prstGeom prst="rect">
            <a:avLst/>
          </a:prstGeom>
          <a:noFill/>
        </p:spPr>
        <p:txBody>
          <a:bodyPr wrap="square" lIns="0" rIns="0" tIns="0" bIns="0">
            <a:spAutoFit/>
          </a:bodyPr>
          <a:lstStyle/>
          <a:p>
            <a:pPr algn="l">
              <a:lnSpc>
                <a:spcPct val="112000"/>
              </a:lnSpc>
              <a:spcAft>
                <a:spcPts val="0"/>
              </a:spcAft>
            </a:pPr>
            <a:r>
              <a:rPr sz="1600" b="1">
                <a:solidFill>
                  <a:srgbClr val="45E0C8"/>
                </a:solidFill>
                <a:latin typeface="Helvetica Neue"/>
              </a:rPr>
              <a:t>CÓMO ES SU CAPA GRATIS</a:t>
            </a:r>
          </a:p>
        </p:txBody>
      </p:sp>
      <p:sp>
        <p:nvSpPr>
          <p:cNvPr id="9" name="TextBox 8"/>
          <p:cNvSpPr txBox="1"/>
          <p:nvPr/>
        </p:nvSpPr>
        <p:spPr>
          <a:xfrm>
            <a:off x="2103120" y="324612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HeyGen</a:t>
            </a:r>
          </a:p>
        </p:txBody>
      </p:sp>
      <p:sp>
        <p:nvSpPr>
          <p:cNvPr id="10" name="TextBox 9"/>
          <p:cNvSpPr txBox="1"/>
          <p:nvPr/>
        </p:nvSpPr>
        <p:spPr>
          <a:xfrm>
            <a:off x="5120640" y="324612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Pocos videos al mes, con marca de agua</a:t>
            </a:r>
          </a:p>
        </p:txBody>
      </p:sp>
      <p:sp>
        <p:nvSpPr>
          <p:cNvPr id="11" name="Rectangle 10"/>
          <p:cNvSpPr/>
          <p:nvPr/>
        </p:nvSpPr>
        <p:spPr>
          <a:xfrm>
            <a:off x="2103120" y="3730752"/>
            <a:ext cx="87782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20" y="379476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Hedra</a:t>
            </a:r>
          </a:p>
        </p:txBody>
      </p:sp>
      <p:sp>
        <p:nvSpPr>
          <p:cNvPr id="13" name="TextBox 12"/>
          <p:cNvSpPr txBox="1"/>
          <p:nvPr/>
        </p:nvSpPr>
        <p:spPr>
          <a:xfrm>
            <a:off x="5120640" y="379476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Gratis, pero con audio corto</a:t>
            </a:r>
          </a:p>
        </p:txBody>
      </p:sp>
      <p:sp>
        <p:nvSpPr>
          <p:cNvPr id="14" name="Rectangle 13"/>
          <p:cNvSpPr/>
          <p:nvPr/>
        </p:nvSpPr>
        <p:spPr>
          <a:xfrm>
            <a:off x="2103120" y="4279392"/>
            <a:ext cx="87782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34340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Vidnoz</a:t>
            </a:r>
          </a:p>
        </p:txBody>
      </p:sp>
      <p:sp>
        <p:nvSpPr>
          <p:cNvPr id="16" name="TextBox 15"/>
          <p:cNvSpPr txBox="1"/>
          <p:nvPr/>
        </p:nvSpPr>
        <p:spPr>
          <a:xfrm>
            <a:off x="5120640" y="434340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Más cupo diario, siempre con marca de agua</a:t>
            </a:r>
          </a:p>
        </p:txBody>
      </p:sp>
      <p:sp>
        <p:nvSpPr>
          <p:cNvPr id="17" name="Rectangle 16"/>
          <p:cNvSpPr/>
          <p:nvPr/>
        </p:nvSpPr>
        <p:spPr>
          <a:xfrm>
            <a:off x="2103120" y="4828031"/>
            <a:ext cx="8778240" cy="7315"/>
          </a:xfrm>
          <a:prstGeom prst="rect">
            <a:avLst/>
          </a:prstGeom>
          <a:solidFill>
            <a:srgbClr val="2A33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03120" y="4892040"/>
            <a:ext cx="3017520" cy="548640"/>
          </a:xfrm>
          <a:prstGeom prst="rect">
            <a:avLst/>
          </a:prstGeom>
          <a:noFill/>
        </p:spPr>
        <p:txBody>
          <a:bodyPr wrap="square" lIns="0" rIns="0" tIns="0" bIns="0">
            <a:spAutoFit/>
          </a:bodyPr>
          <a:lstStyle/>
          <a:p>
            <a:pPr algn="l">
              <a:lnSpc>
                <a:spcPct val="112000"/>
              </a:lnSpc>
              <a:spcAft>
                <a:spcPts val="0"/>
              </a:spcAft>
            </a:pPr>
            <a:r>
              <a:rPr sz="1600" b="1">
                <a:solidFill>
                  <a:srgbClr val="FF5C7A"/>
                </a:solidFill>
                <a:latin typeface="Helvetica Neue"/>
              </a:rPr>
              <a:t>Google Vids</a:t>
            </a:r>
          </a:p>
        </p:txBody>
      </p:sp>
      <p:sp>
        <p:nvSpPr>
          <p:cNvPr id="19" name="TextBox 18"/>
          <p:cNvSpPr txBox="1"/>
          <p:nvPr/>
        </p:nvSpPr>
        <p:spPr>
          <a:xfrm>
            <a:off x="5120640" y="4892040"/>
            <a:ext cx="5760720" cy="548640"/>
          </a:xfrm>
          <a:prstGeom prst="rect">
            <a:avLst/>
          </a:prstGeom>
          <a:noFill/>
        </p:spPr>
        <p:txBody>
          <a:bodyPr wrap="square" lIns="0" rIns="0" tIns="0" bIns="0">
            <a:spAutoFit/>
          </a:bodyPr>
          <a:lstStyle/>
          <a:p>
            <a:pPr algn="l">
              <a:lnSpc>
                <a:spcPct val="112000"/>
              </a:lnSpc>
              <a:spcAft>
                <a:spcPts val="0"/>
              </a:spcAft>
            </a:pPr>
            <a:r>
              <a:rPr sz="1600" b="0">
                <a:solidFill>
                  <a:srgbClr val="F2EFEA"/>
                </a:solidFill>
                <a:latin typeface="Helvetica Neue"/>
              </a:rPr>
              <a:t>Avatares gratis, pero el despliegue va por países</a:t>
            </a:r>
          </a:p>
        </p:txBody>
      </p:sp>
      <p:sp>
        <p:nvSpPr>
          <p:cNvPr id="20" name="Rounded Rectangle 19"/>
          <p:cNvSpPr/>
          <p:nvPr/>
        </p:nvSpPr>
        <p:spPr>
          <a:xfrm>
            <a:off x="2103120" y="5440680"/>
            <a:ext cx="8778240" cy="960120"/>
          </a:xfrm>
          <a:prstGeom prst="roundRect">
            <a:avLst>
              <a:gd name="adj" fmla="val 6000"/>
            </a:avLst>
          </a:prstGeom>
          <a:solidFill>
            <a:srgbClr val="2A1A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14600" y="5687568"/>
            <a:ext cx="8138160" cy="548640"/>
          </a:xfrm>
          <a:prstGeom prst="rect">
            <a:avLst/>
          </a:prstGeom>
          <a:noFill/>
        </p:spPr>
        <p:txBody>
          <a:bodyPr wrap="square" lIns="0" rIns="0" tIns="0" bIns="0">
            <a:spAutoFit/>
          </a:bodyPr>
          <a:lstStyle/>
          <a:p>
            <a:pPr algn="l">
              <a:spcAft>
                <a:spcPts val="600"/>
              </a:spcAft>
            </a:pPr>
            <a:r>
              <a:rPr sz="1700" b="1">
                <a:solidFill>
                  <a:srgbClr val="FF5C7A"/>
                </a:solidFill>
                <a:latin typeface="Helvetica Neue"/>
              </a:rPr>
              <a:t>Este paso es opcional. Si ninguna te funciona hoy, el video queda bien igual.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914400"/>
            <a:ext cx="1828800" cy="1463040"/>
          </a:xfrm>
          <a:prstGeom prst="rect">
            <a:avLst/>
          </a:prstGeom>
          <a:noFill/>
        </p:spPr>
        <p:txBody>
          <a:bodyPr wrap="square" lIns="0" rIns="0" tIns="0" bIns="0">
            <a:spAutoFit/>
          </a:bodyPr>
          <a:lstStyle/>
          <a:p>
            <a:pPr algn="l">
              <a:spcAft>
                <a:spcPts val="600"/>
              </a:spcAft>
            </a:pPr>
            <a:r>
              <a:rPr sz="9600" b="1">
                <a:solidFill>
                  <a:srgbClr val="FF5C7A"/>
                </a:solidFill>
                <a:latin typeface="Helvetica Neue"/>
              </a:rPr>
              <a:t>6</a:t>
            </a:r>
          </a:p>
        </p:txBody>
      </p:sp>
      <p:sp>
        <p:nvSpPr>
          <p:cNvPr id="4" name="TextBox 3"/>
          <p:cNvSpPr txBox="1"/>
          <p:nvPr/>
        </p:nvSpPr>
        <p:spPr>
          <a:xfrm>
            <a:off x="2103120" y="1051560"/>
            <a:ext cx="8686800" cy="822960"/>
          </a:xfrm>
          <a:prstGeom prst="rect">
            <a:avLst/>
          </a:prstGeom>
          <a:noFill/>
        </p:spPr>
        <p:txBody>
          <a:bodyPr wrap="square" lIns="0" rIns="0" tIns="0" bIns="0">
            <a:spAutoFit/>
          </a:bodyPr>
          <a:lstStyle/>
          <a:p>
            <a:pPr algn="l">
              <a:spcAft>
                <a:spcPts val="600"/>
              </a:spcAft>
            </a:pPr>
            <a:r>
              <a:rPr sz="4400" b="1">
                <a:solidFill>
                  <a:srgbClr val="F2EFEA"/>
                </a:solidFill>
                <a:latin typeface="Helvetica Neue"/>
              </a:rPr>
              <a:t>El montaje</a:t>
            </a:r>
          </a:p>
        </p:txBody>
      </p:sp>
      <p:sp>
        <p:nvSpPr>
          <p:cNvPr id="5" name="TextBox 4"/>
          <p:cNvSpPr txBox="1"/>
          <p:nvPr/>
        </p:nvSpPr>
        <p:spPr>
          <a:xfrm>
            <a:off x="2103120" y="1965960"/>
            <a:ext cx="8686800" cy="548640"/>
          </a:xfrm>
          <a:prstGeom prst="rect">
            <a:avLst/>
          </a:prstGeom>
          <a:noFill/>
        </p:spPr>
        <p:txBody>
          <a:bodyPr wrap="square" lIns="0" rIns="0" tIns="0" bIns="0">
            <a:spAutoFit/>
          </a:bodyPr>
          <a:lstStyle/>
          <a:p>
            <a:pPr algn="l">
              <a:spcAft>
                <a:spcPts val="600"/>
              </a:spcAft>
            </a:pPr>
            <a:r>
              <a:rPr sz="2000" b="0">
                <a:solidFill>
                  <a:srgbClr val="45E0C8"/>
                </a:solidFill>
                <a:latin typeface="Helvetica Neue"/>
              </a:rPr>
              <a:t>CapCut: todo junto</a:t>
            </a:r>
          </a:p>
        </p:txBody>
      </p:sp>
      <p:sp>
        <p:nvSpPr>
          <p:cNvPr id="6" name="Rounded Rectangle 5"/>
          <p:cNvSpPr/>
          <p:nvPr/>
        </p:nvSpPr>
        <p:spPr>
          <a:xfrm>
            <a:off x="2103120" y="269748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423160" y="2825496"/>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1</a:t>
            </a:r>
          </a:p>
        </p:txBody>
      </p:sp>
      <p:sp>
        <p:nvSpPr>
          <p:cNvPr id="8" name="TextBox 7"/>
          <p:cNvSpPr txBox="1"/>
          <p:nvPr/>
        </p:nvSpPr>
        <p:spPr>
          <a:xfrm>
            <a:off x="2971800" y="288036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Ambiente de fondo</a:t>
            </a:r>
          </a:p>
        </p:txBody>
      </p:sp>
      <p:sp>
        <p:nvSpPr>
          <p:cNvPr id="9" name="Rounded Rectangle 8"/>
          <p:cNvSpPr/>
          <p:nvPr/>
        </p:nvSpPr>
        <p:spPr>
          <a:xfrm>
            <a:off x="6583680" y="269748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2825496"/>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2</a:t>
            </a:r>
          </a:p>
        </p:txBody>
      </p:sp>
      <p:sp>
        <p:nvSpPr>
          <p:cNvPr id="11" name="TextBox 10"/>
          <p:cNvSpPr txBox="1"/>
          <p:nvPr/>
        </p:nvSpPr>
        <p:spPr>
          <a:xfrm>
            <a:off x="7452360" y="288036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Avatar encima, sin fondo</a:t>
            </a:r>
          </a:p>
        </p:txBody>
      </p:sp>
      <p:sp>
        <p:nvSpPr>
          <p:cNvPr id="12" name="Rounded Rectangle 11"/>
          <p:cNvSpPr/>
          <p:nvPr/>
        </p:nvSpPr>
        <p:spPr>
          <a:xfrm>
            <a:off x="2103120" y="379476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23160" y="3922776"/>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3</a:t>
            </a:r>
          </a:p>
        </p:txBody>
      </p:sp>
      <p:sp>
        <p:nvSpPr>
          <p:cNvPr id="14" name="TextBox 13"/>
          <p:cNvSpPr txBox="1"/>
          <p:nvPr/>
        </p:nvSpPr>
        <p:spPr>
          <a:xfrm>
            <a:off x="2971800" y="397764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La voz debajo de todo</a:t>
            </a:r>
          </a:p>
        </p:txBody>
      </p:sp>
      <p:sp>
        <p:nvSpPr>
          <p:cNvPr id="15" name="Rounded Rectangle 14"/>
          <p:cNvSpPr/>
          <p:nvPr/>
        </p:nvSpPr>
        <p:spPr>
          <a:xfrm>
            <a:off x="6583680" y="379476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03720" y="3922776"/>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4</a:t>
            </a:r>
          </a:p>
        </p:txBody>
      </p:sp>
      <p:sp>
        <p:nvSpPr>
          <p:cNvPr id="17" name="TextBox 16"/>
          <p:cNvSpPr txBox="1"/>
          <p:nvPr/>
        </p:nvSpPr>
        <p:spPr>
          <a:xfrm>
            <a:off x="7452360" y="397764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Cortar los silencios largos</a:t>
            </a:r>
          </a:p>
        </p:txBody>
      </p:sp>
      <p:sp>
        <p:nvSpPr>
          <p:cNvPr id="18" name="Rounded Rectangle 17"/>
          <p:cNvSpPr/>
          <p:nvPr/>
        </p:nvSpPr>
        <p:spPr>
          <a:xfrm>
            <a:off x="2103120" y="489204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23160" y="5020055"/>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5</a:t>
            </a:r>
          </a:p>
        </p:txBody>
      </p:sp>
      <p:sp>
        <p:nvSpPr>
          <p:cNvPr id="20" name="TextBox 19"/>
          <p:cNvSpPr txBox="1"/>
          <p:nvPr/>
        </p:nvSpPr>
        <p:spPr>
          <a:xfrm>
            <a:off x="2971800" y="507492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Subtítulos automáticos, y revisarlos</a:t>
            </a:r>
          </a:p>
        </p:txBody>
      </p:sp>
      <p:sp>
        <p:nvSpPr>
          <p:cNvPr id="21" name="Rounded Rectangle 20"/>
          <p:cNvSpPr/>
          <p:nvPr/>
        </p:nvSpPr>
        <p:spPr>
          <a:xfrm>
            <a:off x="6583680" y="4892040"/>
            <a:ext cx="4160520" cy="86868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5020055"/>
            <a:ext cx="457200" cy="548640"/>
          </a:xfrm>
          <a:prstGeom prst="rect">
            <a:avLst/>
          </a:prstGeom>
          <a:noFill/>
        </p:spPr>
        <p:txBody>
          <a:bodyPr wrap="square" lIns="0" rIns="0" tIns="0" bIns="0">
            <a:spAutoFit/>
          </a:bodyPr>
          <a:lstStyle/>
          <a:p>
            <a:pPr algn="l">
              <a:spcAft>
                <a:spcPts val="600"/>
              </a:spcAft>
            </a:pPr>
            <a:r>
              <a:rPr sz="2200" b="1">
                <a:solidFill>
                  <a:srgbClr val="FF5C7A"/>
                </a:solidFill>
                <a:latin typeface="Helvetica Neue"/>
              </a:rPr>
              <a:t>6</a:t>
            </a:r>
          </a:p>
        </p:txBody>
      </p:sp>
      <p:sp>
        <p:nvSpPr>
          <p:cNvPr id="23" name="TextBox 22"/>
          <p:cNvSpPr txBox="1"/>
          <p:nvPr/>
        </p:nvSpPr>
        <p:spPr>
          <a:xfrm>
            <a:off x="7452360" y="5074920"/>
            <a:ext cx="3108960" cy="548640"/>
          </a:xfrm>
          <a:prstGeom prst="rect">
            <a:avLst/>
          </a:prstGeom>
          <a:noFill/>
        </p:spPr>
        <p:txBody>
          <a:bodyPr wrap="square" lIns="0" rIns="0" tIns="0" bIns="0">
            <a:spAutoFit/>
          </a:bodyPr>
          <a:lstStyle/>
          <a:p>
            <a:pPr algn="l">
              <a:lnSpc>
                <a:spcPct val="115000"/>
              </a:lnSpc>
              <a:spcAft>
                <a:spcPts val="600"/>
              </a:spcAft>
            </a:pPr>
            <a:r>
              <a:rPr sz="1550" b="0">
                <a:solidFill>
                  <a:srgbClr val="F2EFEA"/>
                </a:solidFill>
                <a:latin typeface="Helvetica Neue"/>
              </a:rPr>
              <a:t>Música baja · zoom lento sobre la imagen</a:t>
            </a:r>
          </a:p>
        </p:txBody>
      </p:sp>
      <p:sp>
        <p:nvSpPr>
          <p:cNvPr id="24" name="Rounded Rectangle 23"/>
          <p:cNvSpPr/>
          <p:nvPr/>
        </p:nvSpPr>
        <p:spPr>
          <a:xfrm>
            <a:off x="2103120" y="5943600"/>
            <a:ext cx="8778240" cy="713232"/>
          </a:xfrm>
          <a:prstGeom prst="roundRect">
            <a:avLst>
              <a:gd name="adj" fmla="val 6000"/>
            </a:avLst>
          </a:prstGeom>
          <a:solidFill>
            <a:srgbClr val="1428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4600" y="6117336"/>
            <a:ext cx="8138160" cy="457200"/>
          </a:xfrm>
          <a:prstGeom prst="rect">
            <a:avLst/>
          </a:prstGeom>
          <a:noFill/>
        </p:spPr>
        <p:txBody>
          <a:bodyPr wrap="square" lIns="0" rIns="0" tIns="0" bIns="0">
            <a:spAutoFit/>
          </a:bodyPr>
          <a:lstStyle/>
          <a:p>
            <a:pPr algn="l">
              <a:spcAft>
                <a:spcPts val="600"/>
              </a:spcAft>
            </a:pPr>
            <a:r>
              <a:rPr sz="1600" b="1">
                <a:solidFill>
                  <a:srgbClr val="45E0C8"/>
                </a:solidFill>
                <a:latin typeface="Helvetica Neue"/>
              </a:rPr>
              <a:t>Música muy alta y subtítulos sin revisar: las dos marcas de un video amateur.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45E0C8"/>
                </a:solidFill>
                <a:latin typeface="Helvetica Neue"/>
              </a:rPr>
              <a:t>EL EJEMPLO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3600" b="1">
                <a:solidFill>
                  <a:srgbClr val="F2EFEA"/>
                </a:solidFill>
                <a:latin typeface="Helvetica Neue"/>
              </a:rPr>
              <a:t>Un ingeniero de sistemas explicando la IA</a:t>
            </a:r>
          </a:p>
        </p:txBody>
      </p:sp>
      <p:sp>
        <p:nvSpPr>
          <p:cNvPr id="5" name="TextBox 4"/>
          <p:cNvSpPr txBox="1"/>
          <p:nvPr/>
        </p:nvSpPr>
        <p:spPr>
          <a:xfrm>
            <a:off x="822960" y="2103120"/>
            <a:ext cx="10515600" cy="640080"/>
          </a:xfrm>
          <a:prstGeom prst="rect">
            <a:avLst/>
          </a:prstGeom>
          <a:noFill/>
        </p:spPr>
        <p:txBody>
          <a:bodyPr wrap="square" lIns="0" rIns="0" tIns="0" bIns="0">
            <a:spAutoFit/>
          </a:bodyPr>
          <a:lstStyle/>
          <a:p>
            <a:pPr algn="l">
              <a:spcAft>
                <a:spcPts val="600"/>
              </a:spcAft>
            </a:pPr>
            <a:r>
              <a:rPr sz="2000" b="0">
                <a:solidFill>
                  <a:srgbClr val="8A94A0"/>
                </a:solidFill>
                <a:latin typeface="Helvetica Neue"/>
              </a:rPr>
              <a:t>A gente que no es de ingeniería y nunca ha visto cómo funciona por dentro.</a:t>
            </a:r>
          </a:p>
        </p:txBody>
      </p:sp>
      <p:sp>
        <p:nvSpPr>
          <p:cNvPr id="6" name="Rounded Rectangle 5"/>
          <p:cNvSpPr/>
          <p:nvPr/>
        </p:nvSpPr>
        <p:spPr>
          <a:xfrm>
            <a:off x="822960" y="2971800"/>
            <a:ext cx="10607040" cy="7315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118104"/>
            <a:ext cx="2194560" cy="457200"/>
          </a:xfrm>
          <a:prstGeom prst="rect">
            <a:avLst/>
          </a:prstGeom>
          <a:noFill/>
        </p:spPr>
        <p:txBody>
          <a:bodyPr wrap="square" lIns="0" rIns="0" tIns="0" bIns="0">
            <a:spAutoFit/>
          </a:bodyPr>
          <a:lstStyle/>
          <a:p>
            <a:pPr algn="l">
              <a:spcAft>
                <a:spcPts val="600"/>
              </a:spcAft>
            </a:pPr>
            <a:r>
              <a:rPr sz="1900" b="1">
                <a:solidFill>
                  <a:srgbClr val="FF5C7A"/>
                </a:solidFill>
                <a:latin typeface="Helvetica Neue"/>
              </a:rPr>
              <a:t>Guion</a:t>
            </a:r>
          </a:p>
        </p:txBody>
      </p:sp>
      <p:sp>
        <p:nvSpPr>
          <p:cNvPr id="8" name="TextBox 7"/>
          <p:cNvSpPr txBox="1"/>
          <p:nvPr/>
        </p:nvSpPr>
        <p:spPr>
          <a:xfrm>
            <a:off x="3566160" y="3145536"/>
            <a:ext cx="7498079" cy="457200"/>
          </a:xfrm>
          <a:prstGeom prst="rect">
            <a:avLst/>
          </a:prstGeom>
          <a:noFill/>
        </p:spPr>
        <p:txBody>
          <a:bodyPr wrap="square" lIns="0" rIns="0" tIns="0" bIns="0">
            <a:spAutoFit/>
          </a:bodyPr>
          <a:lstStyle/>
          <a:p>
            <a:pPr algn="l">
              <a:spcAft>
                <a:spcPts val="600"/>
              </a:spcAft>
            </a:pPr>
            <a:r>
              <a:rPr sz="1600" b="0">
                <a:solidFill>
                  <a:srgbClr val="F2EFEA"/>
                </a:solidFill>
                <a:latin typeface="Helvetica Neue"/>
              </a:rPr>
              <a:t>80 palabras, sin decir «algoritmo» ni «modelo»</a:t>
            </a:r>
          </a:p>
        </p:txBody>
      </p:sp>
      <p:sp>
        <p:nvSpPr>
          <p:cNvPr id="9" name="Rounded Rectangle 8"/>
          <p:cNvSpPr/>
          <p:nvPr/>
        </p:nvSpPr>
        <p:spPr>
          <a:xfrm>
            <a:off x="822960" y="3840480"/>
            <a:ext cx="10607040" cy="7315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3986784"/>
            <a:ext cx="2194560" cy="457200"/>
          </a:xfrm>
          <a:prstGeom prst="rect">
            <a:avLst/>
          </a:prstGeom>
          <a:noFill/>
        </p:spPr>
        <p:txBody>
          <a:bodyPr wrap="square" lIns="0" rIns="0" tIns="0" bIns="0">
            <a:spAutoFit/>
          </a:bodyPr>
          <a:lstStyle/>
          <a:p>
            <a:pPr algn="l">
              <a:spcAft>
                <a:spcPts val="600"/>
              </a:spcAft>
            </a:pPr>
            <a:r>
              <a:rPr sz="1900" b="1">
                <a:solidFill>
                  <a:srgbClr val="FF5C7A"/>
                </a:solidFill>
                <a:latin typeface="Helvetica Neue"/>
              </a:rPr>
              <a:t>Ambiente</a:t>
            </a:r>
          </a:p>
        </p:txBody>
      </p:sp>
      <p:sp>
        <p:nvSpPr>
          <p:cNvPr id="11" name="TextBox 10"/>
          <p:cNvSpPr txBox="1"/>
          <p:nvPr/>
        </p:nvSpPr>
        <p:spPr>
          <a:xfrm>
            <a:off x="3566160" y="4014216"/>
            <a:ext cx="7498079" cy="457200"/>
          </a:xfrm>
          <a:prstGeom prst="rect">
            <a:avLst/>
          </a:prstGeom>
          <a:noFill/>
        </p:spPr>
        <p:txBody>
          <a:bodyPr wrap="square" lIns="0" rIns="0" tIns="0" bIns="0">
            <a:spAutoFit/>
          </a:bodyPr>
          <a:lstStyle/>
          <a:p>
            <a:pPr algn="l">
              <a:spcAft>
                <a:spcPts val="600"/>
              </a:spcAft>
            </a:pPr>
            <a:r>
              <a:rPr sz="1600" b="0">
                <a:solidFill>
                  <a:srgbClr val="F2EFEA"/>
                </a:solidFill>
                <a:latin typeface="Helvetica Neue"/>
              </a:rPr>
              <a:t>Un salón vacío, con espacio libre a la derecha</a:t>
            </a:r>
          </a:p>
        </p:txBody>
      </p:sp>
      <p:sp>
        <p:nvSpPr>
          <p:cNvPr id="12" name="Rounded Rectangle 11"/>
          <p:cNvSpPr/>
          <p:nvPr/>
        </p:nvSpPr>
        <p:spPr>
          <a:xfrm>
            <a:off x="822960" y="4709160"/>
            <a:ext cx="10607040" cy="7315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855464"/>
            <a:ext cx="2194560" cy="457200"/>
          </a:xfrm>
          <a:prstGeom prst="rect">
            <a:avLst/>
          </a:prstGeom>
          <a:noFill/>
        </p:spPr>
        <p:txBody>
          <a:bodyPr wrap="square" lIns="0" rIns="0" tIns="0" bIns="0">
            <a:spAutoFit/>
          </a:bodyPr>
          <a:lstStyle/>
          <a:p>
            <a:pPr algn="l">
              <a:spcAft>
                <a:spcPts val="600"/>
              </a:spcAft>
            </a:pPr>
            <a:r>
              <a:rPr sz="1900" b="1">
                <a:solidFill>
                  <a:srgbClr val="FF5C7A"/>
                </a:solidFill>
                <a:latin typeface="Helvetica Neue"/>
              </a:rPr>
              <a:t>Avatar</a:t>
            </a:r>
          </a:p>
        </p:txBody>
      </p:sp>
      <p:sp>
        <p:nvSpPr>
          <p:cNvPr id="14" name="TextBox 13"/>
          <p:cNvSpPr txBox="1"/>
          <p:nvPr/>
        </p:nvSpPr>
        <p:spPr>
          <a:xfrm>
            <a:off x="3566160" y="4882896"/>
            <a:ext cx="7498079" cy="457200"/>
          </a:xfrm>
          <a:prstGeom prst="rect">
            <a:avLst/>
          </a:prstGeom>
          <a:noFill/>
        </p:spPr>
        <p:txBody>
          <a:bodyPr wrap="square" lIns="0" rIns="0" tIns="0" bIns="0">
            <a:spAutoFit/>
          </a:bodyPr>
          <a:lstStyle/>
          <a:p>
            <a:pPr algn="l">
              <a:spcAft>
                <a:spcPts val="600"/>
              </a:spcAft>
            </a:pPr>
            <a:r>
              <a:rPr sz="1600" b="0">
                <a:solidFill>
                  <a:srgbClr val="F2EFEA"/>
                </a:solidFill>
                <a:latin typeface="Helvetica Neue"/>
              </a:rPr>
              <a:t>Mi foto → ingeniero de sistemas, fondo gris</a:t>
            </a:r>
          </a:p>
        </p:txBody>
      </p:sp>
      <p:sp>
        <p:nvSpPr>
          <p:cNvPr id="15" name="Rounded Rectangle 14"/>
          <p:cNvSpPr/>
          <p:nvPr/>
        </p:nvSpPr>
        <p:spPr>
          <a:xfrm>
            <a:off x="822960" y="5577840"/>
            <a:ext cx="10607040" cy="73152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5724144"/>
            <a:ext cx="2194560" cy="457200"/>
          </a:xfrm>
          <a:prstGeom prst="rect">
            <a:avLst/>
          </a:prstGeom>
          <a:noFill/>
        </p:spPr>
        <p:txBody>
          <a:bodyPr wrap="square" lIns="0" rIns="0" tIns="0" bIns="0">
            <a:spAutoFit/>
          </a:bodyPr>
          <a:lstStyle/>
          <a:p>
            <a:pPr algn="l">
              <a:spcAft>
                <a:spcPts val="600"/>
              </a:spcAft>
            </a:pPr>
            <a:r>
              <a:rPr sz="1900" b="1">
                <a:solidFill>
                  <a:srgbClr val="FF5C7A"/>
                </a:solidFill>
                <a:latin typeface="Helvetica Neue"/>
              </a:rPr>
              <a:t>Voz</a:t>
            </a:r>
          </a:p>
        </p:txBody>
      </p:sp>
      <p:sp>
        <p:nvSpPr>
          <p:cNvPr id="17" name="TextBox 16"/>
          <p:cNvSpPr txBox="1"/>
          <p:nvPr/>
        </p:nvSpPr>
        <p:spPr>
          <a:xfrm>
            <a:off x="3566160" y="5751576"/>
            <a:ext cx="7498079" cy="457200"/>
          </a:xfrm>
          <a:prstGeom prst="rect">
            <a:avLst/>
          </a:prstGeom>
          <a:noFill/>
        </p:spPr>
        <p:txBody>
          <a:bodyPr wrap="square" lIns="0" rIns="0" tIns="0" bIns="0">
            <a:spAutoFit/>
          </a:bodyPr>
          <a:lstStyle/>
          <a:p>
            <a:pPr algn="l">
              <a:spcAft>
                <a:spcPts val="600"/>
              </a:spcAft>
            </a:pPr>
            <a:r>
              <a:rPr sz="1600" b="0">
                <a:solidFill>
                  <a:srgbClr val="F2EFEA"/>
                </a:solidFill>
                <a:latin typeface="Helvetica Neue"/>
              </a:rPr>
              <a:t>Cercana y pausada. No de noticiero</a:t>
            </a:r>
          </a:p>
        </p:txBody>
      </p:sp>
      <p:sp>
        <p:nvSpPr>
          <p:cNvPr id="18" name="TextBox 17"/>
          <p:cNvSpPr txBox="1"/>
          <p:nvPr/>
        </p:nvSpPr>
        <p:spPr>
          <a:xfrm>
            <a:off x="822960" y="6400800"/>
            <a:ext cx="10515600" cy="36576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Los cuatro prompts completos están en las notas de esta diapositiva.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365760"/>
          </a:xfrm>
          <a:prstGeom prst="rect">
            <a:avLst/>
          </a:prstGeom>
          <a:noFill/>
        </p:spPr>
        <p:txBody>
          <a:bodyPr wrap="square" lIns="0" rIns="0" tIns="0" bIns="0">
            <a:spAutoFit/>
          </a:bodyPr>
          <a:lstStyle/>
          <a:p>
            <a:pPr algn="l">
              <a:spcAft>
                <a:spcPts val="600"/>
              </a:spcAft>
            </a:pPr>
            <a:r>
              <a:rPr sz="1200" b="1">
                <a:solidFill>
                  <a:srgbClr val="FF5C7A"/>
                </a:solidFill>
                <a:latin typeface="Helvetica Neue"/>
              </a:rPr>
              <a:t>TU TURNO</a:t>
            </a:r>
          </a:p>
        </p:txBody>
      </p:sp>
      <p:sp>
        <p:nvSpPr>
          <p:cNvPr id="4" name="TextBox 3"/>
          <p:cNvSpPr txBox="1"/>
          <p:nvPr/>
        </p:nvSpPr>
        <p:spPr>
          <a:xfrm>
            <a:off x="822960" y="960120"/>
            <a:ext cx="10607040" cy="1188720"/>
          </a:xfrm>
          <a:prstGeom prst="rect">
            <a:avLst/>
          </a:prstGeom>
          <a:noFill/>
        </p:spPr>
        <p:txBody>
          <a:bodyPr wrap="square" lIns="0" rIns="0" tIns="0" bIns="0">
            <a:spAutoFit/>
          </a:bodyPr>
          <a:lstStyle/>
          <a:p>
            <a:pPr algn="l">
              <a:lnSpc>
                <a:spcPct val="105000"/>
              </a:lnSpc>
              <a:spcAft>
                <a:spcPts val="600"/>
              </a:spcAft>
            </a:pPr>
            <a:r>
              <a:rPr sz="4000" b="1">
                <a:solidFill>
                  <a:srgbClr val="F2EFEA"/>
                </a:solidFill>
                <a:latin typeface="Helvetica Neue"/>
              </a:rPr>
              <a:t>Elige uno de los dos</a:t>
            </a:r>
          </a:p>
        </p:txBody>
      </p:sp>
      <p:sp>
        <p:nvSpPr>
          <p:cNvPr id="5" name="Rounded Rectangle 4"/>
          <p:cNvSpPr/>
          <p:nvPr/>
        </p:nvSpPr>
        <p:spPr>
          <a:xfrm>
            <a:off x="822960" y="2377440"/>
            <a:ext cx="5029200" cy="23774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45E0C8"/>
                </a:solidFill>
                <a:latin typeface="Helvetica Neue"/>
              </a:rPr>
              <a:t>Qué hago en mi carrera</a:t>
            </a:r>
          </a:p>
        </p:txBody>
      </p:sp>
      <p:sp>
        <p:nvSpPr>
          <p:cNvPr id="7" name="TextBox 6"/>
          <p:cNvSpPr txBox="1"/>
          <p:nvPr/>
        </p:nvSpPr>
        <p:spPr>
          <a:xfrm>
            <a:off x="123444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F2EFEA"/>
                </a:solidFill>
                <a:latin typeface="Helvetica Neue"/>
              </a:rPr>
              <a:t>Un día normal de trabajo de alguien de tu programa. Lo que nadie se imagina que haces.</a:t>
            </a:r>
          </a:p>
        </p:txBody>
      </p:sp>
      <p:sp>
        <p:nvSpPr>
          <p:cNvPr id="8" name="Rounded Rectangle 7"/>
          <p:cNvSpPr/>
          <p:nvPr/>
        </p:nvSpPr>
        <p:spPr>
          <a:xfrm>
            <a:off x="6217920" y="2377440"/>
            <a:ext cx="5029200" cy="23774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697480"/>
            <a:ext cx="4206240" cy="822960"/>
          </a:xfrm>
          <a:prstGeom prst="rect">
            <a:avLst/>
          </a:prstGeom>
          <a:noFill/>
        </p:spPr>
        <p:txBody>
          <a:bodyPr wrap="square" lIns="0" rIns="0" tIns="0" bIns="0">
            <a:spAutoFit/>
          </a:bodyPr>
          <a:lstStyle/>
          <a:p>
            <a:pPr algn="l">
              <a:lnSpc>
                <a:spcPct val="110000"/>
              </a:lnSpc>
              <a:spcAft>
                <a:spcPts val="600"/>
              </a:spcAft>
            </a:pPr>
            <a:r>
              <a:rPr sz="2300" b="1">
                <a:solidFill>
                  <a:srgbClr val="45E0C8"/>
                </a:solidFill>
                <a:latin typeface="Helvetica Neue"/>
              </a:rPr>
              <a:t>Lo que me costó entender</a:t>
            </a:r>
          </a:p>
        </p:txBody>
      </p:sp>
      <p:sp>
        <p:nvSpPr>
          <p:cNvPr id="10" name="TextBox 9"/>
          <p:cNvSpPr txBox="1"/>
          <p:nvPr/>
        </p:nvSpPr>
        <p:spPr>
          <a:xfrm>
            <a:off x="6629400" y="3657600"/>
            <a:ext cx="4206240" cy="1188720"/>
          </a:xfrm>
          <a:prstGeom prst="rect">
            <a:avLst/>
          </a:prstGeom>
          <a:noFill/>
        </p:spPr>
        <p:txBody>
          <a:bodyPr wrap="square" lIns="0" rIns="0" tIns="0" bIns="0">
            <a:spAutoFit/>
          </a:bodyPr>
          <a:lstStyle/>
          <a:p>
            <a:pPr algn="l">
              <a:lnSpc>
                <a:spcPct val="130000"/>
              </a:lnSpc>
              <a:spcAft>
                <a:spcPts val="600"/>
              </a:spcAft>
            </a:pPr>
            <a:r>
              <a:rPr sz="1600" b="0">
                <a:solidFill>
                  <a:srgbClr val="F2EFEA"/>
                </a:solidFill>
                <a:latin typeface="Helvetica Neue"/>
              </a:rPr>
              <a:t>Un concepto que te costó, explicado como te hubiera gustado que te lo explicaran.</a:t>
            </a:r>
          </a:p>
        </p:txBody>
      </p:sp>
      <p:sp>
        <p:nvSpPr>
          <p:cNvPr id="11" name="Rounded Rectangle 10"/>
          <p:cNvSpPr/>
          <p:nvPr/>
        </p:nvSpPr>
        <p:spPr>
          <a:xfrm>
            <a:off x="822960" y="5029200"/>
            <a:ext cx="10515600" cy="1097280"/>
          </a:xfrm>
          <a:prstGeom prst="roundRect">
            <a:avLst>
              <a:gd name="adj" fmla="val 6000"/>
            </a:avLst>
          </a:prstGeom>
          <a:solidFill>
            <a:srgbClr val="2A1A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40" y="5257800"/>
            <a:ext cx="9692640" cy="822960"/>
          </a:xfrm>
          <a:prstGeom prst="rect">
            <a:avLst/>
          </a:prstGeom>
          <a:noFill/>
        </p:spPr>
        <p:txBody>
          <a:bodyPr wrap="square" lIns="0" rIns="0" tIns="0" bIns="0">
            <a:spAutoFit/>
          </a:bodyPr>
          <a:lstStyle/>
          <a:p>
            <a:pPr algn="l">
              <a:lnSpc>
                <a:spcPct val="125000"/>
              </a:lnSpc>
              <a:spcAft>
                <a:spcPts val="200"/>
              </a:spcAft>
            </a:pPr>
            <a:r>
              <a:rPr sz="2000" b="1">
                <a:solidFill>
                  <a:srgbClr val="FF5C7A"/>
                </a:solidFill>
                <a:latin typeface="Helvetica Neue"/>
              </a:rPr>
              <a:t>60 a 90 segundos. Con tu personaje, tu ambiente y tu voz.</a:t>
            </a:r>
          </a:p>
          <a:p>
            <a:pPr algn="l">
              <a:lnSpc>
                <a:spcPct val="125000"/>
              </a:lnSpc>
              <a:spcAft>
                <a:spcPts val="200"/>
              </a:spcAft>
            </a:pPr>
            <a:r>
              <a:rPr sz="1600" b="0">
                <a:solidFill>
                  <a:srgbClr val="F2EFEA"/>
                </a:solidFill>
                <a:latin typeface="Helvetica Neue"/>
              </a:rPr>
              <a:t>Y al final, una línea diciendo qué hiciste con IA.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1418"/>
        </a:solidFill>
        <a:effectLst/>
      </p:bgPr>
    </p:bg>
    <p:spTree>
      <p:nvGrpSpPr>
        <p:cNvPr id="1" name=""/>
        <p:cNvGrpSpPr/>
        <p:nvPr/>
      </p:nvGrpSpPr>
      <p:grpSpPr/>
      <p:sp>
        <p:nvSpPr>
          <p:cNvPr id="2" name="Rectangle 1"/>
          <p:cNvSpPr/>
          <p:nvPr/>
        </p:nvSpPr>
        <p:spPr>
          <a:xfrm>
            <a:off x="0" y="0"/>
            <a:ext cx="155448" cy="6858000"/>
          </a:xfrm>
          <a:prstGeom prst="rect">
            <a:avLst/>
          </a:prstGeom>
          <a:solidFill>
            <a:srgbClr val="FF5C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737360"/>
            <a:ext cx="10607040" cy="3291840"/>
          </a:xfrm>
          <a:prstGeom prst="roundRect">
            <a:avLst>
              <a:gd name="adj" fmla="val 6000"/>
            </a:avLst>
          </a:prstGeom>
          <a:solidFill>
            <a:srgbClr val="1A20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2240280"/>
            <a:ext cx="9509760" cy="1554480"/>
          </a:xfrm>
          <a:prstGeom prst="rect">
            <a:avLst/>
          </a:prstGeom>
          <a:noFill/>
        </p:spPr>
        <p:txBody>
          <a:bodyPr wrap="square" lIns="0" rIns="0" tIns="0" bIns="0">
            <a:spAutoFit/>
          </a:bodyPr>
          <a:lstStyle/>
          <a:p>
            <a:pPr algn="l">
              <a:lnSpc>
                <a:spcPct val="100000"/>
              </a:lnSpc>
              <a:spcAft>
                <a:spcPts val="0"/>
              </a:spcAft>
            </a:pPr>
            <a:r>
              <a:rPr sz="4000" b="1">
                <a:solidFill>
                  <a:srgbClr val="F2EFEA"/>
                </a:solidFill>
                <a:latin typeface="Helvetica Neue"/>
              </a:rPr>
              <a:t>Lo difícil nunca</a:t>
            </a:r>
          </a:p>
          <a:p>
            <a:pPr algn="l">
              <a:lnSpc>
                <a:spcPct val="100000"/>
              </a:lnSpc>
              <a:spcAft>
                <a:spcPts val="0"/>
              </a:spcAft>
            </a:pPr>
            <a:r>
              <a:rPr sz="4000" b="1">
                <a:solidFill>
                  <a:srgbClr val="FF5C7A"/>
                </a:solidFill>
                <a:latin typeface="Helvetica Neue"/>
              </a:rPr>
              <a:t>fue la tecnología</a:t>
            </a:r>
          </a:p>
        </p:txBody>
      </p:sp>
      <p:sp>
        <p:nvSpPr>
          <p:cNvPr id="5" name="TextBox 4"/>
          <p:cNvSpPr txBox="1"/>
          <p:nvPr/>
        </p:nvSpPr>
        <p:spPr>
          <a:xfrm>
            <a:off x="1371600" y="4023360"/>
            <a:ext cx="9509760" cy="822960"/>
          </a:xfrm>
          <a:prstGeom prst="rect">
            <a:avLst/>
          </a:prstGeom>
          <a:noFill/>
        </p:spPr>
        <p:txBody>
          <a:bodyPr wrap="square" lIns="0" rIns="0" tIns="0" bIns="0">
            <a:spAutoFit/>
          </a:bodyPr>
          <a:lstStyle/>
          <a:p>
            <a:pPr algn="l">
              <a:lnSpc>
                <a:spcPct val="125000"/>
              </a:lnSpc>
              <a:spcAft>
                <a:spcPts val="600"/>
              </a:spcAft>
            </a:pPr>
            <a:r>
              <a:rPr sz="2100" b="0">
                <a:solidFill>
                  <a:srgbClr val="8A94A0"/>
                </a:solidFill>
                <a:latin typeface="Helvetica Neue"/>
              </a:rPr>
              <a:t>Fue decidir qué valía la pena contar, y decirlo en ochenta palabras.</a:t>
            </a:r>
          </a:p>
        </p:txBody>
      </p:sp>
      <p:sp>
        <p:nvSpPr>
          <p:cNvPr id="6" name="TextBox 5"/>
          <p:cNvSpPr txBox="1"/>
          <p:nvPr/>
        </p:nvSpPr>
        <p:spPr>
          <a:xfrm>
            <a:off x="822960" y="5486400"/>
            <a:ext cx="10515600" cy="457200"/>
          </a:xfrm>
          <a:prstGeom prst="rect">
            <a:avLst/>
          </a:prstGeom>
          <a:noFill/>
        </p:spPr>
        <p:txBody>
          <a:bodyPr wrap="square" lIns="0" rIns="0" tIns="0" bIns="0">
            <a:spAutoFit/>
          </a:bodyPr>
          <a:lstStyle/>
          <a:p>
            <a:pPr algn="l">
              <a:spcAft>
                <a:spcPts val="600"/>
              </a:spcAft>
            </a:pPr>
            <a:r>
              <a:rPr sz="1400" b="0">
                <a:solidFill>
                  <a:srgbClr val="8A94A0"/>
                </a:solidFill>
                <a:latin typeface="Helvetica Neue"/>
              </a:rPr>
              <a:t>Universidad de Caldas · 2026-2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