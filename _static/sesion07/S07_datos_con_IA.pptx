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Bienvenida. Hoy no hay herramienta nueva que aprender a manejar: hay una manera nueva de trabajar con los archivos que ya tienen.</a:t>
            </a:r>
          </a:p>
          <a:p/>
          <a:p>
            <a:r>
              <a:t>La promesa de la sesión, en una frase: que la IA haga el trabajo pesado —leer mil filas, treinta correos, diecinueve fotos— y que ellos hagan lo que la IA no puede: revisar, decidir y firmar.</a:t>
            </a:r>
          </a:p>
          <a:p/>
          <a:p>
            <a:r>
              <a:t>Todo el material es de UN MISMO NEGOCIO inventado, Café de Altura La Cumbre, una tostadora de Manizales. Ventas, cosecha, proveedores, correos, el chat del equipo, las fotos de una visita a finca y las notas de voz de los técnicos. Los datos se cruzan entre sí a propósito: al final de la clase se ve la historia completa.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MÁS IMPORTANTE DE LA SESIÓN. Si se llevan una sola cosa, que sea esta.</a:t>
            </a:r>
          </a:p>
          <a:p/>
          <a:p>
            <a:r>
              <a:t>Cuando le das un archivo a ChatGPT, hace una de dos cosas, y conviene saber cuál:</a:t>
            </a:r>
          </a:p>
          <a:p/>
          <a:p>
            <a:r>
              <a:t>CALCULA: con un Excel o un CSV escribe un pequeño programa en Python, lo ejecuta y te devuelve el resultado. Eso es exacto. Lo comprobé: las ventas por canal y por mes que dio coincidieron AL PESO con las que calculé por mi lado (Exportación 886,1 millones, Mayorista 730,7, etc.).</a:t>
            </a:r>
          </a:p>
          <a:p/>
          <a:p>
            <a:r>
              <a:t>INTERPRETA: con un chat, un correo o una foto, no hay nada que calcular; lee y entiende, como lo haría una persona apurada. Eso es aproximado. Lo comprobé: con el chat del equipo contó 17 quejas por envío tarde en agosto; eran 22. La historia la contó bien —agosto fue el peor mes, por la transportadora—, pero los números no eran exactos.</a:t>
            </a:r>
          </a:p>
          <a:p/>
          <a:p>
            <a:r>
              <a:t>CÓMO SABER CUÁL HIZO: en ChatGPT aparece «Analyzed» o «Analizado» cuando corrió código. Si no aparece, interpretó.</a:t>
            </a:r>
          </a:p>
          <a:p/>
          <a:p>
            <a:r>
              <a:t>LA REGLA PARA ELLOS: si la respuesta tiene números que vas a usar para decidir, pídele que los calcule con código, no que los estime.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APRENDIZAJE, y es el que más les va a servir en la vida profesional.</a:t>
            </a:r>
          </a:p>
          <a:p/>
          <a:p>
            <a:r>
              <a:t>En el Excel de ventas sembré SEIS problemas a propósito: 6 facturas duplicadas, 14 ventas sin ciudad, ciudades escritas en mayúsculas o sin tilde, «Manizalez» con z, una cantidad negativa y un precio diez veces más alto de lo normal.</a:t>
            </a:r>
          </a:p>
          <a:p/>
          <a:p>
            <a:r>
              <a:t>Le pedí a ChatGPT que revisara. Encontró CUATRO. Y terminó diciendo, con toda seguridad: «No encontré otros problemas evidentes».</a:t>
            </a:r>
          </a:p>
          <a:p/>
          <a:p>
            <a:r>
              <a:t>Cuando le pregunté específicamente por precios fuera de lo normal y errores de ortografía, encontró los dos que faltaban.</a:t>
            </a:r>
          </a:p>
          <a:p/>
          <a:p>
            <a:r>
              <a:t>LA LECCIÓN: su «no hay más» no es una garantía. Es la respuesta de alguien que revisó por encima. La revisión buena se hace preguntándole por cosas concretas.</a:t>
            </a:r>
          </a:p>
          <a:p/>
          <a:p>
            <a:r>
              <a:t>HACERLO EN VIVO: es el mejor momento de la clase. Pedirles que adivinen cuántos problemas va a encontrar antes de mostrar la respuesta.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LÍMITES, ANTES DE QUE LOS DESCUBRAN A LA MALA. Comprobado en el centro de ayuda de OpenAI y en la práctica.</a:t>
            </a:r>
          </a:p>
          <a:p/>
          <a:p>
            <a:r>
              <a:t>1. CHATGPT GRATIS PERMITE SOLO 3 SUBIDAS DE ARCHIVOS AL DÍA. Textual de la ayuda oficial: «Free users are limited to 3 file uploads per day». Por eso cada caso de la clase viene en UN SOLO ARCHIVO: el negocio entero en un Excel con varias hojas, las 19 fotos dentro de un PDF, los 30 correos en un .txt. Si suben las fotos una por una, se acaban las subidas en la tercera.</a:t>
            </a:r>
          </a:p>
          <a:p/>
          <a:p>
            <a:r>
              <a:t>2. LAS FOTOS DENTRO DE UN PDF SÍ LAS VE. Lo comprobé: identificó la broca, la roya y el almácigo foto por foto, dentro de un PDF de 19 páginas.</a:t>
            </a:r>
          </a:p>
          <a:p/>
          <a:p>
            <a:r>
              <a:t>3. CHATGPT NO TRANSCRIBE AUDIOS EN LA CAPA GRATIS («Audio uploads are not available on the Free plan»). Y en mi plan de pago tampoco lo logró: mandó el audio al entorno de código y respondió que no tenía cómo escucharlo. Para los audios se usa Gemini Notebook (antes NotebookLM), que sí los transcribe gratis.</a:t>
            </a:r>
          </a:p>
          <a:p/>
          <a:p>
            <a:r>
              <a:t>4. EL EXCEL CONECTADO SÍ ES GRATIS: «ChatGPT para Excel y Google Sheets» funciona en la capa Free, como barra lateral dentro de la hoja. Y no gasta subidas, porque trabaja sobre la hoja directamente.</a:t>
            </a:r>
          </a:p>
          <a:p/>
          <a:p>
            <a:r>
              <a:t>Decirles: con 3 subidas al día, hoy cada uno elige tres casos.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NEGOCIO. Presentarlo como si fuera un cliente real que les contrató para entender qué le está pasando.</a:t>
            </a:r>
          </a:p>
          <a:p/>
          <a:p>
            <a:r>
              <a:t>Café de Altura La Cumbre S.A.S. es una tostadora de Manizales. Compra café a fincas de Caldas, lo tuesta y lo vende en tienda, en línea, a mayoristas y al exterior. Los datos son inventados, pero están construidos para que se crucen: lo que se ve raro en un archivo se explica en otro.</a:t>
            </a:r>
          </a:p>
          <a:p/>
          <a:p>
            <a:r>
              <a:t>Pedirles que no se lo digan todavía, pero lo dejo para usted: hay tres historias escondidas.</a:t>
            </a:r>
          </a:p>
          <a:p>
            <a:r>
              <a:t>· La transportadora Cordillera falla: tiene la peor calificación en proveedores, los retrasos más largos en compras, y en el chat del equipo las quejas por envío tarde se duplican en agosto.</a:t>
            </a:r>
          </a:p>
          <a:p>
            <a:r>
              <a:t>· En la finca La Esperanza la humedad del café se sale de norma en las semanas 33 a 35; la bitácora de audio del 2 de septiembre explica por qué: se rompió el plástico de la marquesina.</a:t>
            </a:r>
          </a:p>
          <a:p>
            <a:r>
              <a:t>· En Buenavista el factor de rendimiento pasa de 100 desde la semana 30; la bitácora del 9 de septiembre dice por qué: 7 % de broca. Y las fotos de la segunda visita lo muestran.</a:t>
            </a:r>
          </a:p>
          <a:p/>
          <a:p>
            <a:r>
              <a:t>La diapositiva 19 cierra con ese cruce.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REGLAS, antes de subir nada. Hoy trabajan con datos inventados, pero la semana que viene lo van a hacer con los suyos.</a:t>
            </a:r>
          </a:p>
          <a:p/>
          <a:p>
            <a:r>
              <a:t>1. NADA CONFIDENCIAL EN LA VERSIÓN GRATIS. Ni historias clínicas, ni expedientes, ni datos de clientes con nombre y cédula, ni la nómina. Si hay que hacerlo, se anonimiza primero: se cambian nombres por códigos.</a:t>
            </a:r>
          </a:p>
          <a:p/>
          <a:p>
            <a:r>
              <a:t>2. OJO AL CONECTAR TU CORREO. ChatGPT se puede conectar a Gmail y Drive. La ayuda de OpenAI dice que en los planes personales puede usar la información de esas apps para entrenar sus modelos si tienes activada la opción «Mejorar el modelo para todos». Antes de conectar nada: Configuración → Controles de datos → desactivar esa opción.</a:t>
            </a:r>
          </a:p>
          <a:p/>
          <a:p>
            <a:r>
              <a:t>3. LOS NÚMEROS SE REVISAN. Por lo de la diapositiva 2: si interpretó, puede estar lejos. Una cifra que va a un informe se comprueba.</a:t>
            </a:r>
          </a:p>
          <a:p/>
          <a:p>
            <a:r>
              <a:t>4. LO QUE FIRMAS ES TUYO. El informe de campo lo firma el técnico, no ChatGPT. Si dice algo que no se ve en las fotos, el problema es de quien firmó.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1 · REVISAR ANTES DE CALCULAR. Archivo: cafe_la_cumbre_2026.xlsx (una subida para los casos 1 a 4).</a:t>
            </a:r>
          </a:p>
          <a:p/>
          <a:p>
            <a:r>
              <a:t>PROMPT 1, la primera pasada:</a:t>
            </a:r>
          </a:p>
          <a:p>
            <a:r>
              <a:t>«Este archivo es de una tostadora de café. Antes de calcular nada, revisa la hoja Ventas y dime qué problemas de calidad de datos encuentras: duplicados, vacíos, nombres mal escritos, valores imposibles. Dame cada problema con cuántas filas afecta. No corrijas nada todavía.»</a:t>
            </a:r>
          </a:p>
          <a:p/>
          <a:p>
            <a:r>
              <a:t>QUÉ VA A PASAR (comprobado): encuentra 6 duplicados, 14 ventas sin ciudad, mayúsculas inconsistentes y una cantidad negativa (factura FV-00386, cantidad -3). Y dice «no encontré otros problemas evidentes».</a:t>
            </a:r>
          </a:p>
          <a:p/>
          <a:p>
            <a:r>
              <a:t>PROMPT 2, la pregunta concreta:</a:t>
            </a:r>
          </a:p>
          <a:p>
            <a:r>
              <a:t>«¿Revisaste si hay precios unitarios fuera de lo normal para cada producto, o ciudades con errores de ortografía y no solo de mayúsculas? Revisa eso.»</a:t>
            </a:r>
          </a:p>
          <a:p/>
          <a:p>
            <a:r>
              <a:t>QUÉ VA A PASAR: encuentra el precio inflado (un Café molido 250 g) y «Manizalez» y «Bogota».</a:t>
            </a:r>
          </a:p>
          <a:p/>
          <a:p>
            <a:r>
              <a:t>LA DISCUSIÓN QUE VALE ORO: la cantidad negativa, ¿es un error o una devolución? ChatGPT mismo lo pregunta. Esa decisión no la puede tomar la IA: la toma quien conoce el negocio.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2 · PREGUNTAS Y GRÁFICAS. Mismo archivo, misma conversación (no se gasta otra subida).</a:t>
            </a:r>
          </a:p>
          <a:p/>
          <a:p>
            <a:r>
              <a:t>PROMPT:</a:t>
            </a:r>
          </a:p>
          <a:p>
            <a:r>
              <a:t>«Quita los duplicados y haz tres gráficas: ventas totales por mes, ventas por canal y los cinco productos que más venden. Después dime, en tres líneas, qué le recomendarías al dueño.»</a:t>
            </a:r>
          </a:p>
          <a:p/>
          <a:p>
            <a:r>
              <a:t>QUÉ VA A PASAR (comprobado): las cifras son exactas porque calcula. Mayo sube por el Día de la Madre (219,5 millones) y septiembre es el mejor mes (270,6 millones).</a:t>
            </a:r>
          </a:p>
          <a:p/>
          <a:p>
            <a:r>
              <a:t>EL HALLAZGO QUE HAY QUE HACERLES VER: Exportación (886 millones) y Mayorista (731 millones) son casi todo. La tienda física y la tienda en línea juntas son unos 60 millones: menos del 4 %. Si alguien recomienda «invertir en la tienda online», que justifique con los datos.</a:t>
            </a:r>
          </a:p>
          <a:p/>
          <a:p>
            <a:r>
              <a:t>VARIANTE PARA SU CARRERA: el mismo prompt sirve con cualquier tabla. Un biólogo con conteos de especies, un deportólogo con tiempos de entrenamiento, un abogado con fechas de radicación de procesos.</a:t>
            </a:r>
          </a:p>
          <a:p/>
          <a:p>
            <a:r>
              <a:t>CÓMO VERIFICAR: pedirle «muéstrame el código que usaste» o «¿cuántas filas usaste para esta suma?». Si el número de filas no es 1.355 (las 1.361 menos los 6 duplicados), algo cambió.</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3 · EL TABLERO. Mismo archivo, misma conversación.</a:t>
            </a:r>
          </a:p>
          <a:p/>
          <a:p>
            <a:r>
              <a:t>Un tablero no es más que varias gráficas y unos pocos números grandes que se leen de un vistazo. La IA lo arma si se lo pides así.</a:t>
            </a:r>
          </a:p>
          <a:p/>
          <a:p>
            <a:r>
              <a:t>PROMPT:</a:t>
            </a:r>
          </a:p>
          <a:p>
            <a:r>
              <a:t>«Arma un tablero de una sola página para el dueño del negocio: arriba cuatro números grandes (ventas totales, mejor mes, canal principal, ticket promedio) y abajo tres gráficas. Que se entienda en diez segundos. Después dámelo en un Excel descargable con las gráficas incluidas.»</a:t>
            </a:r>
          </a:p>
          <a:p/>
          <a:p>
            <a:r>
              <a:t>QUÉ ESPERAR: las gráficas y los indicadores salen en la conversación. El Excel descargable depende de cómo esté la herramienta ese día: si no lo entrega, las gráficas se pueden copiar o pedir como imagen.</a:t>
            </a:r>
          </a:p>
          <a:p/>
          <a:p>
            <a:r>
              <a:t>SI QUIEREN UN TABLERO DE VERDAD, que se actualice solo: eso es Looker Studio, que se ve en la sesión de tableros. Hoy es el borrador.</a:t>
            </a:r>
          </a:p>
          <a:p/>
          <a:p>
            <a:r>
              <a:t>LA PREGUNTA PARA HACERLES: ¿qué número pondrías arriba si fueras el dueño? Casi nadie escoge el mismo, y esa es la discusión.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4 · CRUZAR DOS TABLAS. Mismo archivo: hojas Proveedores y Compras, y la hoja Cosecha.</a:t>
            </a:r>
          </a:p>
          <a:p/>
          <a:p>
            <a:r>
              <a:t>PROMPT A, proveedores:</a:t>
            </a:r>
          </a:p>
          <a:p>
            <a:r>
              <a:t>«En la hoja Compras calcula para cada proveedor cuántos días de retraso tuvo en promedio (entrega real menos entrega pactada) y qué porcentaje de pedidos llegó no conforme. Cruza eso con la calificación de la hoja Proveedores. ¿La calificación refleja lo que muestran los datos?»</a:t>
            </a:r>
          </a:p>
          <a:p>
            <a:r>
              <a:t>QUÉ DEBERÍA SALIR: Transportes Cordillera es el que más se atrasa, y tiene la calificación más baja (3,2). La calificación sí refleja los datos en ese caso.</a:t>
            </a:r>
          </a:p>
          <a:p/>
          <a:p>
            <a:r>
              <a:t>PROMPT B, cosecha:</a:t>
            </a:r>
          </a:p>
          <a:p>
            <a:r>
              <a:t>«En la hoja Cosecha, lee primero la pestaña "Cómo leer esta hoja". Después dime qué lotes tienen semanas con humedad por encima de 12,5 % y qué finca tiene el factor de rendimiento empeorando. Haz una gráfica del factor de rendimiento por semana para cada finca.»</a:t>
            </a:r>
          </a:p>
          <a:p>
            <a:r>
              <a:t>QUÉ DEBERÍA SALIR: La Esperanza, lote 2, con humedad alta en las semanas 33 a 35. Buenavista con factor de rendimiento por encima de 100 desde la semana 30.</a:t>
            </a:r>
          </a:p>
          <a:p/>
          <a:p>
            <a:r>
              <a:t>DEJARLOS CON LA PREGUNTA: los datos dicen QUÉ pasa. No dicen POR QUÉ. Eso está en los audios (caso 10). Es el gancho para el final.</a:t>
            </a:r>
          </a:p>
          <a:p/>
          <a:p>
            <a:r>
              <a:t>PARA LOS QUE NO SON DE CAFÉ: explicar en una línea qué es el factor de rendimiento (kilos de pergamino para sacar 70 kg de café excelso; entre más bajo, mejor). Por eso la hoja trae su propia explicación: es parte del ejercicio aprender a leerla.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5 · EL EXCEL CONECTADO, Y LLENAR LO QUE FALTA BUSCANDO.</a:t>
            </a:r>
          </a:p>
          <a:p/>
          <a:p>
            <a:r>
              <a:t>Aquí ChatGPT no recibe un archivo: vive DENTRO de la hoja de cálculo. Se llama «ChatGPT para Excel y Google Sheets» y, según la ayuda oficial de OpenAI, está disponible para la capa Free. Ventaja enorme: no gasta ninguna de las tres subidas diarias.</a:t>
            </a:r>
          </a:p>
          <a:p/>
          <a:p>
            <a:r>
              <a:t>CÓMO SE INSTALA EN GOOGLE SHEETS: abrir la hoja → Extensiones → Complementos → buscar «ChatGPT» en Google Workspace Marketplace → instalar → iniciar sesión con su cuenta de ChatGPT. Queda como barra lateral.</a:t>
            </a:r>
          </a:p>
          <a:p>
            <a:r>
              <a:t>EN EXCEL: Inicio → Complementos → buscar ChatGPT.</a:t>
            </a:r>
          </a:p>
          <a:p/>
          <a:p>
            <a:r>
              <a:t>OJO: en la cuenta institucional puede que no deje instalar complementos sin permiso del administrador. Mejor hacerlo con cuenta personal. NO LO PROBÉ DE PUNTA A PUNTA porque instalarlo en tu cuenta implicaba autorizar permisos: pruébalo tú antes de la clase.</a:t>
            </a:r>
          </a:p>
          <a:p/>
          <a:p>
            <a:r>
              <a:t>EL EJERCICIO: competencia_por_completar.xlsx tiene siete marcas de café colombiano con casillas vacías. La ayuda oficial dice que el complemento puede buscar en la web para llenar la hoja.</a:t>
            </a:r>
          </a:p>
          <a:p>
            <a:r>
              <a:t>PROMPT: «Completa las columnas vacías buscando en internet: región de origen, precio aproximado de 500 g, dónde se vende, si tiene suscripción mensual y su sitio web. En una columna nueva pon la fuente de cada dato. Si no encuentras algo, escribe "No encontrado".»</a:t>
            </a:r>
          </a:p>
          <a:p/>
          <a:p>
            <a:r>
              <a:t>LA PARTE IMPORTANTE: la columna de fuentes. Un dato buscado sin fuente no se puede verificar. Que abran tres fuentes al azar y comprueben.</a:t>
            </a:r>
          </a:p>
          <a:p/>
          <a:p>
            <a:r>
              <a:t>Y EL CRUCE: ¿cuántas marcas tienen suscripción? Eso conecta con lo que piden los clientes en el chat (caso 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6 · LA BANDEJA DE CORREO. Archivo: bandeja_entrada.txt (una subida para los casos 6 y 7).</a:t>
            </a:r>
          </a:p>
          <a:p/>
          <a:p>
            <a:r>
              <a:t>Por qué un .txt y no conectar Gmail: así todos trabajan con lo mismo, gasta una sola subida, y nadie expone su correo real en clase. Si alguien quiere conectar su Gmail después, que revise primero la regla 2 (desactivar «Mejorar el modelo»).</a:t>
            </a:r>
          </a:p>
          <a:p/>
          <a:p>
            <a:r>
              <a:t>PROMPT:</a:t>
            </a:r>
          </a:p>
          <a:p>
            <a:r>
              <a:t>«Es la exportación de la bandeja de correo de compras de una tostadora de café. Haz una tabla con todos los correos: fecha, quién lo manda, asunto en pocas palabras y una categoría (factura o gasto, pedido de cliente, queja, proveedor, interno, publicidad, sospechoso). Si algún correo te parece peligroso, dime por qué.»</a:t>
            </a:r>
          </a:p>
          <a:p/>
          <a:p>
            <a:r>
              <a:t>QUÉ VA A PASAR (comprobado): clasifica bien los 30. Y marca como sospechoso el del «Banco Andino», explicando por qué: urgencia, pide la clave, y el dominio cambia la letra «o» por el número «0» (banc0andino).</a:t>
            </a:r>
          </a:p>
          <a:p/>
          <a:p>
            <a:r>
              <a:t>APROVECHAR EL PHISHING: es la parte que más recuerdan. Preguntarles antes de mostrar la respuesta si lo habrían detectado ellos.</a:t>
            </a:r>
          </a:p>
          <a:p/>
          <a:p>
            <a:r>
              <a:t>Y UNA PREGUNTA: ¿cuántos correos son pedidos de clientes que nadie ha respondido? Eso es lo que se pierde en una bandeja llena.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7 · LOS GASTOS QUE LLEGAN POR CORREO. Misma conversación del caso 6, sin otra subida.</a:t>
            </a:r>
          </a:p>
          <a:p/>
          <a:p>
            <a:r>
              <a:t>PROMPT:</a:t>
            </a:r>
          </a:p>
          <a:p>
            <a:r>
              <a:t>«Ahora haz un resumen de gastos: suma de las facturas por mes y por tipo de gasto (energía, internet, arriendo, transporte, empaques, mantenimiento, publicidad), con una gráfica. Dime también cuáles facturas vencen en los próximos 15 días a partir del 25 de septiembre.»</a:t>
            </a:r>
          </a:p>
          <a:p/>
          <a:p>
            <a:r>
              <a:t>QUÉ VA A PASAR (comprobado): las sumas coinciden exactamente con las facturas. Julio $1.474.400, agosto $12.067.800, septiembre $8.125.100.</a:t>
            </a:r>
          </a:p>
          <a:p/>
          <a:p>
            <a:r>
              <a:t>EL MATIZ QUE VALE LA PENA DISCUTIR: sumó por la fecha en que llegó el correo. La factura de energía de junio llegó en julio y quedó en julio. ¿Está bien? Depende: para el flujo de caja sí; para saber cuánto cuesta producir cada mes, no. La IA no sabe cuál de las dos cosas quieres si no se lo dices.</a:t>
            </a:r>
          </a:p>
          <a:p/>
          <a:p>
            <a:r>
              <a:t>CÓMO SE USA EN LA VIDA REAL: lo mismo sirve para los gastos personales. Exportar los correos de compras de un mes y pedir el resumen.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8 · LA CONVERSACIÓN, CONVERTIDA EN HISTORIA. Archivo: chat_equipo_atencion.txt.</a:t>
            </a:r>
          </a:p>
          <a:p/>
          <a:p>
            <a:r>
              <a:t>Es una exportación real en formato WhatsApp (así sale cuando uno exporta un chat desde el celular: Más opciones → Exportar chat → Sin archivos). Cualquiera puede hacerlo con un grupo propio.</a:t>
            </a:r>
          </a:p>
          <a:p/>
          <a:p>
            <a:r>
              <a:t>PROMPT:</a:t>
            </a:r>
          </a:p>
          <a:p>
            <a:r>
              <a:t>«Es la exportación de un grupo de WhatsApp del equipo de atención al cliente de una tostadora, de julio a septiembre. Clasifica cada caso en un tema (envío tarde, producto equivocado, empaque dañado, pregunta por suscripción, felicitación, precio, exportación). Haz una gráfica de cuántos casos hubo de cada tema por mes, y después cuéntame en cinco líneas qué historia cuentan los datos: qué empeoró, qué mejoró y qué oportunidad de negocio aparece.»</a:t>
            </a:r>
          </a:p>
          <a:p/>
          <a:p>
            <a:r>
              <a:t>QUÉ VA A PASAR (comprobado): la historia sale bien. Agosto es el peor mes por los envíos tarde, culpa de la transportadora Cordillera. Los errores de empaque bajan después de julio. Y la oportunidad: muchos clientes piden suscripción mensual, y uno amenaza con irse a la competencia.</a:t>
            </a:r>
          </a:p>
          <a:p/>
          <a:p>
            <a:r>
              <a:t>PERO LOS NÚMEROS NO SON EXACTOS. Contó 17 envíos tarde en agosto; eran 22. Esto es la diapositiva 2 en vivo: aquí interpretó, no calculó. Mostrar los dos números lado a lado.</a:t>
            </a:r>
          </a:p>
          <a:p/>
          <a:p>
            <a:r>
              <a:t>PARA HACERLO EXACTO: «Usa código para contar los casos; muéstrame qué palabras usaste para identificar cada tema.» Así se puede revisar el criterio.</a:t>
            </a:r>
          </a:p>
          <a:p/>
          <a:p>
            <a:r>
              <a:t>VARIANTE: lo mismo sirve con entrevistas, grupos focales, respuestas abiertas de una encuesta. Para los de Estudios de Familia, Trabajo Social o Derecho es probablemente el caso más útil de la clase.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9 · DE FOTOS A INFORME DE CAMPO. Archivos: fotos_visita_Buenavista.pdf y formato_FT07_informe_visita.docx (dos subidas).</a:t>
            </a:r>
          </a:p>
          <a:p/>
          <a:p>
            <a:r>
              <a:t>LA SITUACIÓN: eres el técnico que hizo la segunda visita a la finca Buenavista el 23 de septiembre. Tomaste 19 fotos en el recorrido. Hay que entregar el formato FT-07 diligenciado.</a:t>
            </a:r>
          </a:p>
          <a:p/>
          <a:p>
            <a:r>
              <a:t>POR QUÉ UN PDF: 19 fotos sueltas son 19 subidas, y la versión gratis da 3 al día. Dentro de un PDF es una sola, y ChatGPT sí ve las imágenes. Comprobado.</a:t>
            </a:r>
          </a:p>
          <a:p/>
          <a:p>
            <a:r>
              <a:t>DETALLE A PROPÓSITO: las fotos se llaman IMG_4501, IMG_4502... como salen de una cámara. Sin nombres que digan qué hay en cada una: la IA tiene que MIRARLAS. Si se llamaran «roya.jpg», estaría leyendo el nombre, no viendo la foto.</a:t>
            </a:r>
          </a:p>
          <a:p/>
          <a:p>
            <a:r>
              <a:t>PROMPT:</a:t>
            </a:r>
          </a:p>
          <a:p>
            <a:r>
              <a:t>«Eres el técnico que hizo la segunda visita a la finca Buenavista (Neira, Caldas) el 23 de septiembre de 2026. El PDF tiene las 19 fotos que tomaste, cada una con su nombre. Llena el formato FT-07 con lo que se ve en las fotos. Reglas: en cada hallazgo cita la foto (IMG_xxxx) que lo respalda; si algo no se puede saber por las fotos, escribe «No registrado» y no lo inventes. Al final dime qué fotos no aportaron nada.»</a:t>
            </a:r>
          </a:p>
          <a:p/>
          <a:p>
            <a:r>
              <a:t>QUÉ VA A PASAR (comprobado): identificó la broca (4507 y 4508), la roya (4509), las hojas amarillas (4510), el almácigo (4513) y el secado (4514 a 4519). Y no inventó porcentajes: puso «No registrado» en incidencia de roya y broca, porque eso no se puede medir mirando fotos.</a:t>
            </a:r>
          </a:p>
          <a:p/>
          <a:p>
            <a:r>
              <a:t>LA CLAVE PRIVADA de qué hay en cada foto está en docente/S07_clave_fotos.txt.</a:t>
            </a:r>
          </a:p>
          <a:p/>
          <a:p>
            <a:r>
              <a:t>LA PREGUNTA: ¿firmarías este informe? Lo que falta (porcentajes, humedad, productor) es justo lo que un técnico mide en campo. La IA ordena la evidencia; no la reemplaza.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10 · DE NOTAS DE VOZ A INFORME. Archivos: bitacoras_completas.mp3 (las cuatro notas en un solo archivo, separadas por un pitido) y el formato FT-07.</a:t>
            </a:r>
          </a:p>
          <a:p/>
          <a:p>
            <a:r>
              <a:t>AQUÍ NO SE USA CHATGPT. Comprobado de las dos formas:</a:t>
            </a:r>
          </a:p>
          <a:p>
            <a:r>
              <a:t>· La ayuda oficial: «Audio uploads are not available on the Free plan».</a:t>
            </a:r>
          </a:p>
          <a:p>
            <a:r>
              <a:t>· Y en mi plan de pago tampoco lo logró: mandó el audio al entorno de código y respondió que no tenía cómo escucharlo. Lo bueno: no inventó nada, lo dijo de frente.</a:t>
            </a:r>
          </a:p>
          <a:p>
            <a:r>
              <a:t>Gemini, en la app web gratuita, tampoco acepta archivos de audio.</a:t>
            </a:r>
          </a:p>
          <a:p/>
          <a:p>
            <a:r>
              <a:t>LA HERRAMIENTA ES GEMINI NOTEBOOK (antes NotebookLM; ellos ya la conocen de la sesión 2). Según la ayuda oficial de Google, acepta MP3, lo transcribe al importarlo y la cuenta gratuita permite hasta 50 fuentes. PENDIENTE: no lo probé de punta a punta porque al entrar pide aceptar términos de servicio, y eso no lo acepté en tu nombre. Pruébalo antes de la clase.</a:t>
            </a:r>
          </a:p>
          <a:p/>
          <a:p>
            <a:r>
              <a:t>PASOS: crear un cuaderno → agregar fuente → subir el MP3 → subir también el formato FT-07 como segunda fuente.</a:t>
            </a:r>
          </a:p>
          <a:p/>
          <a:p>
            <a:r>
              <a:t>PROMPT:</a:t>
            </a:r>
          </a:p>
          <a:p>
            <a:r>
              <a:t>«Las fuentes son cuatro notas de voz de técnicos que visitaron fincas cafeteras y el formato FT-07. Diligencia un formato FT-07 por cada visita, usando solo lo que dicen los audios. Si un campo no se menciona, escribe "No registrado". En la evidencia, indica en qué parte del audio se dice cada cosa.»</a:t>
            </a:r>
          </a:p>
          <a:p/>
          <a:p>
            <a:r>
              <a:t>QUÉ DEBERÍA SALIR: El Mirador bien (roya 3 %); La Esperanza con humedad de 13,2 % por el plástico roto; Buenavista con 7 % de broca; Los Naranjos prometedora pero sin registros.</a:t>
            </a:r>
          </a:p>
          <a:p/>
          <a:p>
            <a:r>
              <a:t>LA CONEXIÓN: estos audios explican lo que se vio en los datos del caso 4. Ver diapositiva 19.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11 · LA CARTA, CON TUS PROPIOS DATOS. Archivo: plantilla_carta_practica.docx.</a:t>
            </a:r>
          </a:p>
          <a:p/>
          <a:p>
            <a:r>
              <a:t>LA IDEA: un formato que pide llenar una entidad —aquí, una carta para solicitar práctica profesional— y que la IA lo llene con lo que ya sabe de ti.</a:t>
            </a:r>
          </a:p>
          <a:p/>
          <a:p>
            <a:r>
              <a:t>DOS RUTAS:</a:t>
            </a:r>
          </a:p>
          <a:p>
            <a:r>
              <a:t>· Si ya usan ChatGPT con la memoria activada, ya sabe cosas de ellos (qué estudian, en qué trabajan). Se le pide que use eso.</a:t>
            </a:r>
          </a:p>
          <a:p>
            <a:r>
              <a:t>· Si no, se le pega una ficha corta: nombre, programa, semestre, tres cosas que saben hacer, un proyecto del que estén orgullosos.</a:t>
            </a:r>
          </a:p>
          <a:p/>
          <a:p>
            <a:r>
              <a:t>PROMPT:</a:t>
            </a:r>
          </a:p>
          <a:p>
            <a:r>
              <a:t>«Llena esta plantilla con lo que sabes de mí. Reglas: no inventes nada; si te falta un dato, pregúntamelo antes de escribir. En "por qué esa empresa", no escribas elogios genéricos: pregúntame qué me interesa de verdad. Al final, señala las frases que suenan a plantilla para que yo las cambie.»</a:t>
            </a:r>
          </a:p>
          <a:p/>
          <a:p>
            <a:r>
              <a:t>LO MÁS VALIOSO: la regla «si te falta un dato, pregúntamelo». Sin ella, la IA rellena con frases genéricas o inventa logros. Comprobar en clase: ¿cuántos recibieron preguntas antes de la carta? Esos tienen mejor carta.</a:t>
            </a:r>
          </a:p>
          <a:p/>
          <a:p>
            <a:r>
              <a:t>EL PUNTO DE ÉTICA: una carta de presentación es una declaración sobre uno mismo. Si dice algo falso, lo firmó uno.</a:t>
            </a:r>
          </a:p>
          <a:p/>
          <a:p>
            <a:r>
              <a:t>PRIVACIDAD: la cédula y el teléfono, mejor escribirlos ellos a mano al final que dárselos al chat.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CIERRE DE CONTENIDO: LA HISTORIA COMPLETA. Esta es la diapositiva que justifica haber usado un solo negocio para todo.</a:t>
            </a:r>
          </a:p>
          <a:p/>
          <a:p>
            <a:r>
              <a:t>Cada archivo, por separado, cuenta un pedazo. Juntos, explican lo que pasa:</a:t>
            </a:r>
          </a:p>
          <a:p/>
          <a:p>
            <a:r>
              <a:t>1. TRANSPORTES CORDILLERA. En Proveedores tiene la peor calificación (3,2). En Compras, los retrasos más largos. En el chat del equipo, las quejas por envío tarde se disparan en agosto. Y en el correo, Camila ya lo había dicho: «creo que es Transportes Cordillera». Cuatro archivos, una misma causa.</a:t>
            </a:r>
          </a:p>
          <a:p/>
          <a:p>
            <a:r>
              <a:t>2. LA ESPERANZA. En la hoja Cosecha, la humedad del lote 2 se sale de norma en las semanas 33 a 35. ¿Por qué? La bitácora de audio del 2 de septiembre: se rompió el plástico de la marquesina y se mojó el café.</a:t>
            </a:r>
          </a:p>
          <a:p/>
          <a:p>
            <a:r>
              <a:t>3. BUENAVISTA. En la hoja Cosecha, el factor de rendimiento pasa de 100 desde la semana 30. ¿Por qué? La bitácora del 9 de septiembre: 7 % de broca. Y las fotos de la segunda visita lo muestran.</a:t>
            </a:r>
          </a:p>
          <a:p/>
          <a:p>
            <a:r>
              <a:t>4. LA SUSCRIPCIÓN. En el chat la piden cada vez más clientes, en el correo una clienta pregunta, y en la tabla de competencia se ve quién la tiene. Es la oportunidad de negocio.</a:t>
            </a:r>
          </a:p>
          <a:p/>
          <a:p>
            <a:r>
              <a:t>LA FRASE PARA CERRAR: los datos dicen QUÉ pasa. El campo dice POR QUÉ. La IA ayuda a leer los dos, pero conectarlos es trabajo de quien conoce el negocio.</a:t>
            </a:r>
          </a:p>
          <a:p/>
          <a:p>
            <a:r>
              <a:t>SI HAY TIEMPO: pedirles que encuentren ellos una de estas cuatro historias antes de mostrarla.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ENCARGO. Con tres subidas al día en la versión gratis, cada uno elige TRES casos.</a:t>
            </a:r>
          </a:p>
          <a:p/>
          <a:p>
            <a:r>
              <a:t>COMBINACIONES QUE RINDEN (cada una son tres subidas o menos):</a:t>
            </a:r>
          </a:p>
          <a:p>
            <a:r>
              <a:t>· El analista: Excel (casos 1 a 4, una subida) + correos (casos 6 y 7, una subida) + chat (caso 8, una subida).</a:t>
            </a:r>
          </a:p>
          <a:p>
            <a:r>
              <a:t>· El de campo: Excel (casos 1 a 4) + fotos con formato (caso 9, dos subidas).</a:t>
            </a:r>
          </a:p>
          <a:p>
            <a:r>
              <a:t>· El de oficina: correos + carta (caso 11) + chat.</a:t>
            </a:r>
          </a:p>
          <a:p>
            <a:r>
              <a:t>· Los audios (caso 10) no gastan subidas de ChatGPT: van por Gemini Notebook.</a:t>
            </a:r>
          </a:p>
          <a:p>
            <a:r>
              <a:t>· El Excel conectado (caso 5) tampoco: vive dentro de la hoja.</a:t>
            </a:r>
          </a:p>
          <a:p/>
          <a:p>
            <a:r>
              <a:t>LO QUE ENTREGAN: un documento corto con, por cada caso, el prompt que usaron, el resultado, y UNA cosa que comprobaron por su cuenta (una suma, una foto, un dato buscado). Esa última línea es la que se califica.</a:t>
            </a:r>
          </a:p>
          <a:p/>
          <a:p>
            <a:r>
              <a:t>LA SEGUNDA PARTE, PARA SU CARRERA: repetir uno de los casos con un archivo propio de su área. Un biólogo con una tabla de muestreo, un abogado con la exportación de un chat de clientes, un deportólogo con tiempos de entrenamiento, un diseñador con fotos de un trabajo de campo. Siempre con datos inventados o anonimizados.</a:t>
            </a:r>
          </a:p>
          <a:p/>
          <a:p>
            <a:r>
              <a:t>MIENTRAS CIRCULAS, lo que más vas a decir:</a:t>
            </a:r>
          </a:p>
          <a:p>
            <a:r>
              <a:t>· «¿Calculó o interpretó?» — a quien copia una cifra sin revisar.</a:t>
            </a:r>
          </a:p>
          <a:p>
            <a:r>
              <a:t>· «Pregúntale por algo concreto» — a quien acepta el "no encontré más".</a:t>
            </a:r>
          </a:p>
          <a:p>
            <a:r>
              <a:t>· «Mete todo en un solo archivo» — a quien se le acabaron las subidas.</a:t>
            </a:r>
          </a:p>
          <a:p>
            <a:r>
              <a:t>· «¿Qué comprobaste tú?» — a todos.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CORTO.</a:t>
            </a:r>
          </a:p>
          <a:p/>
          <a:p>
            <a:r>
              <a:t>Que dos o tres muestren qué comprobaron y qué encontraron mal. No lo que salió bien: lo que tuvieron que corregir. Esa es la conversación que vale.</a:t>
            </a:r>
          </a:p>
          <a:p/>
          <a:p>
            <a:r>
              <a:t>Preguntas para cerrar:</a:t>
            </a:r>
          </a:p>
          <a:p>
            <a:r>
              <a:t>· ¿En qué caso confiarían en la IA sin revisar nada? (La respuesta honesta debería ser: en ninguno, pero en el Excel menos que en el chat.)</a:t>
            </a:r>
          </a:p>
          <a:p>
            <a:r>
              <a:t>· ¿Qué archivo de su vida real les ahorraría más tiempo procesar así?</a:t>
            </a:r>
          </a:p>
          <a:p>
            <a:r>
              <a:t>· Si su jefe les entrega un informe hecho con IA, ¿qué es lo primero que revisarían?</a:t>
            </a:r>
          </a:p>
          <a:p/>
          <a:p>
            <a:r>
              <a:t>La última es la que más se llevan: hoy aprendieron a hacer el informe, pero también a leer el de otro.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caldas.png"/>
          <p:cNvPicPr>
            <a:picLocks noChangeAspect="1"/>
          </p:cNvPicPr>
          <p:nvPr/>
        </p:nvPicPr>
        <p:blipFill>
          <a:blip r:embed="rId3"/>
          <a:stretch>
            <a:fillRect/>
          </a:stretch>
        </p:blipFill>
        <p:spPr>
          <a:xfrm>
            <a:off x="777240" y="457200"/>
            <a:ext cx="1946298" cy="475488"/>
          </a:xfrm>
          <a:prstGeom prst="rect">
            <a:avLst/>
          </a:prstGeom>
        </p:spPr>
      </p:pic>
      <p:sp>
        <p:nvSpPr>
          <p:cNvPr id="4" name="TextBox 3"/>
          <p:cNvSpPr txBox="1"/>
          <p:nvPr/>
        </p:nvSpPr>
        <p:spPr>
          <a:xfrm>
            <a:off x="804672" y="1024128"/>
            <a:ext cx="6400800" cy="274320"/>
          </a:xfrm>
          <a:prstGeom prst="rect">
            <a:avLst/>
          </a:prstGeom>
          <a:noFill/>
        </p:spPr>
        <p:txBody>
          <a:bodyPr wrap="square" lIns="0" rIns="0" tIns="0" bIns="0">
            <a:spAutoFit/>
          </a:bodyPr>
          <a:lstStyle/>
          <a:p>
            <a:pPr algn="l">
              <a:spcAft>
                <a:spcPts val="600"/>
              </a:spcAft>
            </a:pPr>
            <a:r>
              <a:rPr sz="1000" b="1">
                <a:solidFill>
                  <a:srgbClr val="ED7623"/>
                </a:solidFill>
                <a:latin typeface="Helvetica Neue"/>
              </a:rPr>
              <a:t>FACULTAD DE INTELIGENCIA ARTIFICIAL E INGENIERÍAS</a:t>
            </a:r>
          </a:p>
        </p:txBody>
      </p:sp>
      <p:sp>
        <p:nvSpPr>
          <p:cNvPr id="5" name="TextBox 4"/>
          <p:cNvSpPr txBox="1"/>
          <p:nvPr/>
        </p:nvSpPr>
        <p:spPr>
          <a:xfrm>
            <a:off x="822960" y="2103120"/>
            <a:ext cx="7315200" cy="457200"/>
          </a:xfrm>
          <a:prstGeom prst="rect">
            <a:avLst/>
          </a:prstGeom>
          <a:noFill/>
        </p:spPr>
        <p:txBody>
          <a:bodyPr wrap="square" lIns="0" rIns="0" tIns="0" bIns="0">
            <a:spAutoFit/>
          </a:bodyPr>
          <a:lstStyle/>
          <a:p>
            <a:pPr algn="l">
              <a:spcAft>
                <a:spcPts val="600"/>
              </a:spcAft>
            </a:pPr>
            <a:r>
              <a:rPr sz="1300" b="1">
                <a:solidFill>
                  <a:srgbClr val="35789C"/>
                </a:solidFill>
                <a:latin typeface="Helvetica Neue"/>
              </a:rPr>
              <a:t>SESIÓN 7 · INTRODUCCIÓN A LA INFORMÁTICA</a:t>
            </a:r>
          </a:p>
        </p:txBody>
      </p:sp>
      <p:sp>
        <p:nvSpPr>
          <p:cNvPr id="6" name="TextBox 5"/>
          <p:cNvSpPr txBox="1"/>
          <p:nvPr/>
        </p:nvSpPr>
        <p:spPr>
          <a:xfrm>
            <a:off x="822960" y="2651760"/>
            <a:ext cx="8686800" cy="2377440"/>
          </a:xfrm>
          <a:prstGeom prst="rect">
            <a:avLst/>
          </a:prstGeom>
          <a:noFill/>
        </p:spPr>
        <p:txBody>
          <a:bodyPr wrap="square" lIns="0" rIns="0" tIns="0" bIns="0">
            <a:spAutoFit/>
          </a:bodyPr>
          <a:lstStyle/>
          <a:p>
            <a:pPr algn="l">
              <a:lnSpc>
                <a:spcPct val="95000"/>
              </a:lnSpc>
              <a:spcAft>
                <a:spcPts val="0"/>
              </a:spcAft>
            </a:pPr>
            <a:r>
              <a:rPr sz="5600" b="1">
                <a:solidFill>
                  <a:srgbClr val="11406E"/>
                </a:solidFill>
                <a:latin typeface="Helvetica Neue"/>
              </a:rPr>
              <a:t>Tus datos,</a:t>
            </a:r>
          </a:p>
          <a:p>
            <a:pPr algn="l">
              <a:lnSpc>
                <a:spcPct val="95000"/>
              </a:lnSpc>
              <a:spcAft>
                <a:spcPts val="0"/>
              </a:spcAft>
            </a:pPr>
            <a:r>
              <a:rPr sz="5600" b="1">
                <a:solidFill>
                  <a:srgbClr val="ED7623"/>
                </a:solidFill>
                <a:latin typeface="Helvetica Neue"/>
              </a:rPr>
              <a:t>con IA</a:t>
            </a:r>
          </a:p>
        </p:txBody>
      </p:sp>
      <p:sp>
        <p:nvSpPr>
          <p:cNvPr id="7" name="TextBox 6"/>
          <p:cNvSpPr txBox="1"/>
          <p:nvPr/>
        </p:nvSpPr>
        <p:spPr>
          <a:xfrm>
            <a:off x="822960" y="4754880"/>
            <a:ext cx="9601200" cy="1097280"/>
          </a:xfrm>
          <a:prstGeom prst="rect">
            <a:avLst/>
          </a:prstGeom>
          <a:noFill/>
        </p:spPr>
        <p:txBody>
          <a:bodyPr wrap="square" lIns="0" rIns="0" tIns="0" bIns="0">
            <a:spAutoFit/>
          </a:bodyPr>
          <a:lstStyle/>
          <a:p>
            <a:pPr algn="l">
              <a:lnSpc>
                <a:spcPct val="130000"/>
              </a:lnSpc>
              <a:spcAft>
                <a:spcPts val="200"/>
              </a:spcAft>
            </a:pPr>
            <a:r>
              <a:rPr sz="2100" b="0">
                <a:solidFill>
                  <a:srgbClr val="6E6E6E"/>
                </a:solidFill>
                <a:latin typeface="Helvetica Neue"/>
              </a:rPr>
              <a:t>Excel, correos, chats, fotos y audios.</a:t>
            </a:r>
          </a:p>
          <a:p>
            <a:pPr algn="l">
              <a:lnSpc>
                <a:spcPct val="130000"/>
              </a:lnSpc>
              <a:spcAft>
                <a:spcPts val="200"/>
              </a:spcAft>
            </a:pPr>
            <a:r>
              <a:rPr sz="2100" b="0">
                <a:solidFill>
                  <a:srgbClr val="6E6E6E"/>
                </a:solidFill>
                <a:latin typeface="Helvetica Neue"/>
              </a:rPr>
              <a:t>La IA hace el trabajo pesado. Tú revisas, decides y firmas.</a:t>
            </a:r>
          </a:p>
        </p:txBody>
      </p:sp>
      <p:sp>
        <p:nvSpPr>
          <p:cNvPr id="8" name="TextBox 7"/>
          <p:cNvSpPr txBox="1"/>
          <p:nvPr/>
        </p:nvSpPr>
        <p:spPr>
          <a:xfrm>
            <a:off x="822960" y="6172200"/>
            <a:ext cx="10515600" cy="457200"/>
          </a:xfrm>
          <a:prstGeom prst="rect">
            <a:avLst/>
          </a:prstGeom>
          <a:noFill/>
        </p:spPr>
        <p:txBody>
          <a:bodyPr wrap="square" lIns="0" rIns="0" tIns="0" bIns="0">
            <a:spAutoFit/>
          </a:bodyPr>
          <a:lstStyle/>
          <a:p>
            <a:pPr algn="l">
              <a:spcAft>
                <a:spcPts val="600"/>
              </a:spcAft>
            </a:pPr>
            <a:r>
              <a:rPr sz="1300" b="0">
                <a:solidFill>
                  <a:srgbClr val="6E6E6E"/>
                </a:solidFill>
                <a:latin typeface="Helvetica Neue"/>
              </a:rPr>
              <a:t>Universidad de Caldas · 2026-2 · Todo con herramientas gratuitas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ANTES DE TOCAR NADA</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4000" b="1">
                <a:solidFill>
                  <a:srgbClr val="11406E"/>
                </a:solidFill>
                <a:latin typeface="Helvetica Neue"/>
              </a:rPr>
              <a:t>¿Calculó o interpretó?</a:t>
            </a:r>
          </a:p>
        </p:txBody>
      </p:sp>
      <p:sp>
        <p:nvSpPr>
          <p:cNvPr id="5" name="Rounded Rectangle 4"/>
          <p:cNvSpPr/>
          <p:nvPr/>
        </p:nvSpPr>
        <p:spPr>
          <a:xfrm>
            <a:off x="822960" y="2148840"/>
            <a:ext cx="10607040" cy="146304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350008"/>
            <a:ext cx="3108960" cy="548640"/>
          </a:xfrm>
          <a:prstGeom prst="rect">
            <a:avLst/>
          </a:prstGeom>
          <a:noFill/>
        </p:spPr>
        <p:txBody>
          <a:bodyPr wrap="square" lIns="0" rIns="0" tIns="0" bIns="0">
            <a:spAutoFit/>
          </a:bodyPr>
          <a:lstStyle/>
          <a:p>
            <a:pPr algn="l">
              <a:spcAft>
                <a:spcPts val="600"/>
              </a:spcAft>
            </a:pPr>
            <a:r>
              <a:rPr sz="2600" b="1">
                <a:solidFill>
                  <a:srgbClr val="ED7623"/>
                </a:solidFill>
                <a:latin typeface="Helvetica Neue"/>
              </a:rPr>
              <a:t>Calcula</a:t>
            </a:r>
          </a:p>
        </p:txBody>
      </p:sp>
      <p:sp>
        <p:nvSpPr>
          <p:cNvPr id="7" name="TextBox 6"/>
          <p:cNvSpPr txBox="1"/>
          <p:nvPr/>
        </p:nvSpPr>
        <p:spPr>
          <a:xfrm>
            <a:off x="1188720" y="2971800"/>
            <a:ext cx="3108960" cy="457200"/>
          </a:xfrm>
          <a:prstGeom prst="rect">
            <a:avLst/>
          </a:prstGeom>
          <a:noFill/>
        </p:spPr>
        <p:txBody>
          <a:bodyPr wrap="square" lIns="0" rIns="0" tIns="0" bIns="0">
            <a:spAutoFit/>
          </a:bodyPr>
          <a:lstStyle/>
          <a:p>
            <a:pPr algn="l">
              <a:spcAft>
                <a:spcPts val="600"/>
              </a:spcAft>
            </a:pPr>
            <a:r>
              <a:rPr sz="1400" b="0">
                <a:solidFill>
                  <a:srgbClr val="6E6E6E"/>
                </a:solidFill>
                <a:latin typeface="Helvetica Neue"/>
              </a:rPr>
              <a:t>Excel, CSV, tablas</a:t>
            </a:r>
          </a:p>
        </p:txBody>
      </p:sp>
      <p:sp>
        <p:nvSpPr>
          <p:cNvPr id="8" name="TextBox 7"/>
          <p:cNvSpPr txBox="1"/>
          <p:nvPr/>
        </p:nvSpPr>
        <p:spPr>
          <a:xfrm>
            <a:off x="4572000" y="2496312"/>
            <a:ext cx="6583680" cy="914400"/>
          </a:xfrm>
          <a:prstGeom prst="rect">
            <a:avLst/>
          </a:prstGeom>
          <a:noFill/>
        </p:spPr>
        <p:txBody>
          <a:bodyPr wrap="square" lIns="0" rIns="0" tIns="0" bIns="0">
            <a:spAutoFit/>
          </a:bodyPr>
          <a:lstStyle/>
          <a:p>
            <a:pPr algn="l">
              <a:lnSpc>
                <a:spcPct val="130000"/>
              </a:lnSpc>
              <a:spcAft>
                <a:spcPts val="600"/>
              </a:spcAft>
            </a:pPr>
            <a:r>
              <a:rPr sz="1650" b="0">
                <a:solidFill>
                  <a:srgbClr val="11406E"/>
                </a:solidFill>
                <a:latin typeface="Helvetica Neue"/>
              </a:rPr>
              <a:t>Escribe código, lo ejecuta y te da el resultado. Exacto: comprobado al peso.</a:t>
            </a:r>
          </a:p>
        </p:txBody>
      </p:sp>
      <p:sp>
        <p:nvSpPr>
          <p:cNvPr id="9" name="Rounded Rectangle 8"/>
          <p:cNvSpPr/>
          <p:nvPr/>
        </p:nvSpPr>
        <p:spPr>
          <a:xfrm>
            <a:off x="822960" y="3840480"/>
            <a:ext cx="10607040" cy="146304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041648"/>
            <a:ext cx="3108960" cy="548640"/>
          </a:xfrm>
          <a:prstGeom prst="rect">
            <a:avLst/>
          </a:prstGeom>
          <a:noFill/>
        </p:spPr>
        <p:txBody>
          <a:bodyPr wrap="square" lIns="0" rIns="0" tIns="0" bIns="0">
            <a:spAutoFit/>
          </a:bodyPr>
          <a:lstStyle/>
          <a:p>
            <a:pPr algn="l">
              <a:spcAft>
                <a:spcPts val="600"/>
              </a:spcAft>
            </a:pPr>
            <a:r>
              <a:rPr sz="2600" b="1">
                <a:solidFill>
                  <a:srgbClr val="35789C"/>
                </a:solidFill>
                <a:latin typeface="Helvetica Neue"/>
              </a:rPr>
              <a:t>Interpreta</a:t>
            </a:r>
          </a:p>
        </p:txBody>
      </p:sp>
      <p:sp>
        <p:nvSpPr>
          <p:cNvPr id="11" name="TextBox 10"/>
          <p:cNvSpPr txBox="1"/>
          <p:nvPr/>
        </p:nvSpPr>
        <p:spPr>
          <a:xfrm>
            <a:off x="1188720" y="4663440"/>
            <a:ext cx="3108960" cy="457200"/>
          </a:xfrm>
          <a:prstGeom prst="rect">
            <a:avLst/>
          </a:prstGeom>
          <a:noFill/>
        </p:spPr>
        <p:txBody>
          <a:bodyPr wrap="square" lIns="0" rIns="0" tIns="0" bIns="0">
            <a:spAutoFit/>
          </a:bodyPr>
          <a:lstStyle/>
          <a:p>
            <a:pPr algn="l">
              <a:spcAft>
                <a:spcPts val="600"/>
              </a:spcAft>
            </a:pPr>
            <a:r>
              <a:rPr sz="1400" b="0">
                <a:solidFill>
                  <a:srgbClr val="6E6E6E"/>
                </a:solidFill>
                <a:latin typeface="Helvetica Neue"/>
              </a:rPr>
              <a:t>Chats, correos, fotos</a:t>
            </a:r>
          </a:p>
        </p:txBody>
      </p:sp>
      <p:sp>
        <p:nvSpPr>
          <p:cNvPr id="12" name="TextBox 11"/>
          <p:cNvSpPr txBox="1"/>
          <p:nvPr/>
        </p:nvSpPr>
        <p:spPr>
          <a:xfrm>
            <a:off x="4572000" y="4187952"/>
            <a:ext cx="6583680" cy="914400"/>
          </a:xfrm>
          <a:prstGeom prst="rect">
            <a:avLst/>
          </a:prstGeom>
          <a:noFill/>
        </p:spPr>
        <p:txBody>
          <a:bodyPr wrap="square" lIns="0" rIns="0" tIns="0" bIns="0">
            <a:spAutoFit/>
          </a:bodyPr>
          <a:lstStyle/>
          <a:p>
            <a:pPr algn="l">
              <a:lnSpc>
                <a:spcPct val="130000"/>
              </a:lnSpc>
              <a:spcAft>
                <a:spcPts val="600"/>
              </a:spcAft>
            </a:pPr>
            <a:r>
              <a:rPr sz="1650" b="0">
                <a:solidFill>
                  <a:srgbClr val="11406E"/>
                </a:solidFill>
                <a:latin typeface="Helvetica Neue"/>
              </a:rPr>
              <a:t>Lee y entiende, como una persona apurada. La historia sale bien; los números, aproximados.</a:t>
            </a:r>
          </a:p>
        </p:txBody>
      </p:sp>
      <p:sp>
        <p:nvSpPr>
          <p:cNvPr id="13" name="Rounded Rectangle 12"/>
          <p:cNvSpPr/>
          <p:nvPr/>
        </p:nvSpPr>
        <p:spPr>
          <a:xfrm>
            <a:off x="822960" y="5623560"/>
            <a:ext cx="10607040" cy="960120"/>
          </a:xfrm>
          <a:prstGeom prst="roundRect">
            <a:avLst>
              <a:gd name="adj" fmla="val 5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580644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Si vas a decidir con esos números, pídele que los calcule con código.</a:t>
            </a:r>
          </a:p>
          <a:p>
            <a:pPr algn="l">
              <a:lnSpc>
                <a:spcPct val="125000"/>
              </a:lnSpc>
              <a:spcAft>
                <a:spcPts val="200"/>
              </a:spcAft>
            </a:pPr>
            <a:r>
              <a:rPr sz="1450" b="0">
                <a:solidFill>
                  <a:srgbClr val="6E6E6E"/>
                </a:solidFill>
                <a:latin typeface="Helvetica Neue"/>
              </a:rPr>
              <a:t>Cuando corre código, ChatGPT muestra «Analizado». Si no lo muestra, interpretó.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LO QUE COMPROBÉ AL PREPARAR LA CLASE</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«No encontré otros problemas»</a:t>
            </a:r>
          </a:p>
        </p:txBody>
      </p:sp>
      <p:sp>
        <p:nvSpPr>
          <p:cNvPr id="5" name="TextBox 4"/>
          <p:cNvSpPr txBox="1"/>
          <p:nvPr/>
        </p:nvSpPr>
        <p:spPr>
          <a:xfrm>
            <a:off x="822960" y="2103120"/>
            <a:ext cx="10515600" cy="731520"/>
          </a:xfrm>
          <a:prstGeom prst="rect">
            <a:avLst/>
          </a:prstGeom>
          <a:noFill/>
        </p:spPr>
        <p:txBody>
          <a:bodyPr wrap="square" lIns="0" rIns="0" tIns="0" bIns="0">
            <a:spAutoFit/>
          </a:bodyPr>
          <a:lstStyle/>
          <a:p>
            <a:pPr algn="l">
              <a:spcAft>
                <a:spcPts val="600"/>
              </a:spcAft>
            </a:pPr>
            <a:r>
              <a:rPr sz="2000" b="0">
                <a:solidFill>
                  <a:srgbClr val="6E6E6E"/>
                </a:solidFill>
                <a:latin typeface="Helvetica Neue"/>
              </a:rPr>
              <a:t>En el Excel de ventas escondí seis problemas a propósito.</a:t>
            </a:r>
          </a:p>
        </p:txBody>
      </p:sp>
      <p:sp>
        <p:nvSpPr>
          <p:cNvPr id="6" name="Rounded Rectangle 5"/>
          <p:cNvSpPr/>
          <p:nvPr/>
        </p:nvSpPr>
        <p:spPr>
          <a:xfrm>
            <a:off x="822960" y="2834640"/>
            <a:ext cx="10607040" cy="896112"/>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063240"/>
            <a:ext cx="3017520" cy="457200"/>
          </a:xfrm>
          <a:prstGeom prst="rect">
            <a:avLst/>
          </a:prstGeom>
          <a:noFill/>
        </p:spPr>
        <p:txBody>
          <a:bodyPr wrap="square" lIns="0" rIns="0" tIns="0" bIns="0">
            <a:spAutoFit/>
          </a:bodyPr>
          <a:lstStyle/>
          <a:p>
            <a:pPr algn="l">
              <a:spcAft>
                <a:spcPts val="600"/>
              </a:spcAft>
            </a:pPr>
            <a:r>
              <a:rPr sz="1800" b="1">
                <a:solidFill>
                  <a:srgbClr val="ED7623"/>
                </a:solidFill>
                <a:latin typeface="Helvetica Neue"/>
              </a:rPr>
              <a:t>Primera pasada</a:t>
            </a:r>
          </a:p>
        </p:txBody>
      </p:sp>
      <p:sp>
        <p:nvSpPr>
          <p:cNvPr id="8" name="TextBox 7"/>
          <p:cNvSpPr txBox="1"/>
          <p:nvPr/>
        </p:nvSpPr>
        <p:spPr>
          <a:xfrm>
            <a:off x="4297680" y="3063240"/>
            <a:ext cx="6858000" cy="548640"/>
          </a:xfrm>
          <a:prstGeom prst="rect">
            <a:avLst/>
          </a:prstGeom>
          <a:noFill/>
        </p:spPr>
        <p:txBody>
          <a:bodyPr wrap="square" lIns="0" rIns="0" tIns="0" bIns="0">
            <a:spAutoFit/>
          </a:bodyPr>
          <a:lstStyle/>
          <a:p>
            <a:pPr algn="l">
              <a:lnSpc>
                <a:spcPct val="120000"/>
              </a:lnSpc>
              <a:spcAft>
                <a:spcPts val="600"/>
              </a:spcAft>
            </a:pPr>
            <a:r>
              <a:rPr sz="1600" b="0">
                <a:solidFill>
                  <a:srgbClr val="11406E"/>
                </a:solidFill>
                <a:latin typeface="Helvetica Neue"/>
              </a:rPr>
              <a:t>Encontró 4 de 6, y terminó diciendo «no encontré otros problemas evidentes».</a:t>
            </a:r>
          </a:p>
        </p:txBody>
      </p:sp>
      <p:sp>
        <p:nvSpPr>
          <p:cNvPr id="9" name="Rounded Rectangle 8"/>
          <p:cNvSpPr/>
          <p:nvPr/>
        </p:nvSpPr>
        <p:spPr>
          <a:xfrm>
            <a:off x="822960" y="3886200"/>
            <a:ext cx="10607040" cy="896112"/>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114800"/>
            <a:ext cx="3017520" cy="457200"/>
          </a:xfrm>
          <a:prstGeom prst="rect">
            <a:avLst/>
          </a:prstGeom>
          <a:noFill/>
        </p:spPr>
        <p:txBody>
          <a:bodyPr wrap="square" lIns="0" rIns="0" tIns="0" bIns="0">
            <a:spAutoFit/>
          </a:bodyPr>
          <a:lstStyle/>
          <a:p>
            <a:pPr algn="l">
              <a:spcAft>
                <a:spcPts val="600"/>
              </a:spcAft>
            </a:pPr>
            <a:r>
              <a:rPr sz="1800" b="1">
                <a:solidFill>
                  <a:srgbClr val="ED7623"/>
                </a:solidFill>
                <a:latin typeface="Helvetica Neue"/>
              </a:rPr>
              <a:t>Pregunta concreta</a:t>
            </a:r>
          </a:p>
        </p:txBody>
      </p:sp>
      <p:sp>
        <p:nvSpPr>
          <p:cNvPr id="11" name="TextBox 10"/>
          <p:cNvSpPr txBox="1"/>
          <p:nvPr/>
        </p:nvSpPr>
        <p:spPr>
          <a:xfrm>
            <a:off x="4297680" y="4114800"/>
            <a:ext cx="6858000" cy="548640"/>
          </a:xfrm>
          <a:prstGeom prst="rect">
            <a:avLst/>
          </a:prstGeom>
          <a:noFill/>
        </p:spPr>
        <p:txBody>
          <a:bodyPr wrap="square" lIns="0" rIns="0" tIns="0" bIns="0">
            <a:spAutoFit/>
          </a:bodyPr>
          <a:lstStyle/>
          <a:p>
            <a:pPr algn="l">
              <a:lnSpc>
                <a:spcPct val="120000"/>
              </a:lnSpc>
              <a:spcAft>
                <a:spcPts val="600"/>
              </a:spcAft>
            </a:pPr>
            <a:r>
              <a:rPr sz="1600" b="0">
                <a:solidFill>
                  <a:srgbClr val="11406E"/>
                </a:solidFill>
                <a:latin typeface="Helvetica Neue"/>
              </a:rPr>
              <a:t>«¿Revisaste precios fuera de lo normal y errores de ortografía?» Encontró los 2 que faltaban.</a:t>
            </a:r>
          </a:p>
        </p:txBody>
      </p:sp>
      <p:sp>
        <p:nvSpPr>
          <p:cNvPr id="12" name="Rounded Rectangle 11"/>
          <p:cNvSpPr/>
          <p:nvPr/>
        </p:nvSpPr>
        <p:spPr>
          <a:xfrm>
            <a:off x="822960" y="5257800"/>
            <a:ext cx="10607040" cy="960120"/>
          </a:xfrm>
          <a:prstGeom prst="roundRect">
            <a:avLst>
              <a:gd name="adj" fmla="val 5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544068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Su «no hay más» no es una garantía.</a:t>
            </a:r>
          </a:p>
          <a:p>
            <a:pPr algn="l">
              <a:lnSpc>
                <a:spcPct val="125000"/>
              </a:lnSpc>
              <a:spcAft>
                <a:spcPts val="200"/>
              </a:spcAft>
            </a:pPr>
            <a:r>
              <a:rPr sz="1450" b="0">
                <a:solidFill>
                  <a:srgbClr val="6E6E6E"/>
                </a:solidFill>
                <a:latin typeface="Helvetica Neue"/>
              </a:rPr>
              <a:t>La revisión buena no es «revisa el archivo»: es preguntarle por cosas concretas.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ANTES DE EMPEZAR</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Lo que la versión gratis no te dice</a:t>
            </a:r>
          </a:p>
        </p:txBody>
      </p:sp>
      <p:sp>
        <p:nvSpPr>
          <p:cNvPr id="5" name="Rounded Rectangle 4"/>
          <p:cNvSpPr/>
          <p:nvPr/>
        </p:nvSpPr>
        <p:spPr>
          <a:xfrm>
            <a:off x="822960" y="214884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304288"/>
            <a:ext cx="283464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3 subidas al día</a:t>
            </a:r>
          </a:p>
        </p:txBody>
      </p:sp>
      <p:sp>
        <p:nvSpPr>
          <p:cNvPr id="7" name="TextBox 6"/>
          <p:cNvSpPr txBox="1"/>
          <p:nvPr/>
        </p:nvSpPr>
        <p:spPr>
          <a:xfrm>
            <a:off x="4206240" y="2331720"/>
            <a:ext cx="694944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ChatGPT gratis no deja subir más. Por eso cada caso viene en un solo archivo.</a:t>
            </a:r>
          </a:p>
        </p:txBody>
      </p:sp>
      <p:sp>
        <p:nvSpPr>
          <p:cNvPr id="8" name="Rounded Rectangle 7"/>
          <p:cNvSpPr/>
          <p:nvPr/>
        </p:nvSpPr>
        <p:spPr>
          <a:xfrm>
            <a:off x="822960" y="301752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172968"/>
            <a:ext cx="283464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Fotos en un PDF</a:t>
            </a:r>
          </a:p>
        </p:txBody>
      </p:sp>
      <p:sp>
        <p:nvSpPr>
          <p:cNvPr id="10" name="TextBox 9"/>
          <p:cNvSpPr txBox="1"/>
          <p:nvPr/>
        </p:nvSpPr>
        <p:spPr>
          <a:xfrm>
            <a:off x="4206240" y="3200400"/>
            <a:ext cx="694944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19 fotos sueltas son 19 subidas. Dentro de un PDF son una, y sí las ve.</a:t>
            </a:r>
          </a:p>
        </p:txBody>
      </p:sp>
      <p:sp>
        <p:nvSpPr>
          <p:cNvPr id="11" name="Rounded Rectangle 10"/>
          <p:cNvSpPr/>
          <p:nvPr/>
        </p:nvSpPr>
        <p:spPr>
          <a:xfrm>
            <a:off x="822960" y="388620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041648"/>
            <a:ext cx="283464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Audio: no</a:t>
            </a:r>
          </a:p>
        </p:txBody>
      </p:sp>
      <p:sp>
        <p:nvSpPr>
          <p:cNvPr id="13" name="TextBox 12"/>
          <p:cNvSpPr txBox="1"/>
          <p:nvPr/>
        </p:nvSpPr>
        <p:spPr>
          <a:xfrm>
            <a:off x="4206240" y="4069080"/>
            <a:ext cx="694944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ChatGPT no transcribe audios en la versión gratis. Para eso, Gemini Notebook.</a:t>
            </a:r>
          </a:p>
        </p:txBody>
      </p:sp>
      <p:sp>
        <p:nvSpPr>
          <p:cNvPr id="14" name="Rounded Rectangle 13"/>
          <p:cNvSpPr/>
          <p:nvPr/>
        </p:nvSpPr>
        <p:spPr>
          <a:xfrm>
            <a:off x="822960" y="4754879"/>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4910327"/>
            <a:ext cx="283464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Excel conectado: sí</a:t>
            </a:r>
          </a:p>
        </p:txBody>
      </p:sp>
      <p:sp>
        <p:nvSpPr>
          <p:cNvPr id="16" name="TextBox 15"/>
          <p:cNvSpPr txBox="1"/>
          <p:nvPr/>
        </p:nvSpPr>
        <p:spPr>
          <a:xfrm>
            <a:off x="4206240" y="4937759"/>
            <a:ext cx="694944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ChatGPT para Excel y Google Sheets es gratis y no gasta subidas.</a:t>
            </a:r>
          </a:p>
        </p:txBody>
      </p:sp>
      <p:sp>
        <p:nvSpPr>
          <p:cNvPr id="17" name="TextBox 16"/>
          <p:cNvSpPr txBox="1"/>
          <p:nvPr/>
        </p:nvSpPr>
        <p:spPr>
          <a:xfrm>
            <a:off x="822960" y="5760720"/>
            <a:ext cx="10515600" cy="822960"/>
          </a:xfrm>
          <a:prstGeom prst="rect">
            <a:avLst/>
          </a:prstGeom>
          <a:noFill/>
        </p:spPr>
        <p:txBody>
          <a:bodyPr wrap="square" lIns="0" rIns="0" tIns="0" bIns="0">
            <a:spAutoFit/>
          </a:bodyPr>
          <a:lstStyle/>
          <a:p>
            <a:pPr algn="l">
              <a:spcAft>
                <a:spcPts val="600"/>
              </a:spcAft>
            </a:pPr>
            <a:r>
              <a:rPr sz="1900" b="1">
                <a:solidFill>
                  <a:srgbClr val="ED7623"/>
                </a:solidFill>
                <a:latin typeface="Helvetica Neue"/>
              </a:rPr>
              <a:t>Con tres subidas al día, hoy eliges tres casos.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EL CLIENTE DE HOY</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4000" b="1">
                <a:solidFill>
                  <a:srgbClr val="11406E"/>
                </a:solidFill>
                <a:latin typeface="Helvetica Neue"/>
              </a:rPr>
              <a:t>Café de Altura La Cumbre</a:t>
            </a:r>
          </a:p>
        </p:txBody>
      </p:sp>
      <p:sp>
        <p:nvSpPr>
          <p:cNvPr id="5" name="TextBox 4"/>
          <p:cNvSpPr txBox="1"/>
          <p:nvPr/>
        </p:nvSpPr>
        <p:spPr>
          <a:xfrm>
            <a:off x="822960" y="2057400"/>
            <a:ext cx="10515600" cy="548640"/>
          </a:xfrm>
          <a:prstGeom prst="rect">
            <a:avLst/>
          </a:prstGeom>
          <a:noFill/>
        </p:spPr>
        <p:txBody>
          <a:bodyPr wrap="square" lIns="0" rIns="0" tIns="0" bIns="0">
            <a:spAutoFit/>
          </a:bodyPr>
          <a:lstStyle/>
          <a:p>
            <a:pPr algn="l">
              <a:spcAft>
                <a:spcPts val="600"/>
              </a:spcAft>
            </a:pPr>
            <a:r>
              <a:rPr sz="1800" b="0">
                <a:solidFill>
                  <a:srgbClr val="6E6E6E"/>
                </a:solidFill>
                <a:latin typeface="Helvetica Neue"/>
              </a:rPr>
              <a:t>Una tostadora de Manizales. Datos inventados, pero hechos para cruzarse entre sí.</a:t>
            </a:r>
          </a:p>
        </p:txBody>
      </p:sp>
      <p:sp>
        <p:nvSpPr>
          <p:cNvPr id="6" name="Rectangle 5"/>
          <p:cNvSpPr/>
          <p:nvPr/>
        </p:nvSpPr>
        <p:spPr>
          <a:xfrm>
            <a:off x="822960" y="3090672"/>
            <a:ext cx="10607040" cy="20116"/>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6974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35789C"/>
                </a:solidFill>
                <a:latin typeface="Helvetica Neue"/>
              </a:rPr>
              <a:t>ARCHIVO</a:t>
            </a:r>
          </a:p>
        </p:txBody>
      </p:sp>
      <p:sp>
        <p:nvSpPr>
          <p:cNvPr id="8" name="TextBox 7"/>
          <p:cNvSpPr txBox="1"/>
          <p:nvPr/>
        </p:nvSpPr>
        <p:spPr>
          <a:xfrm>
            <a:off x="5303520" y="2697480"/>
            <a:ext cx="6126480" cy="457200"/>
          </a:xfrm>
          <a:prstGeom prst="rect">
            <a:avLst/>
          </a:prstGeom>
          <a:noFill/>
        </p:spPr>
        <p:txBody>
          <a:bodyPr wrap="square" lIns="0" rIns="0" tIns="0" bIns="0">
            <a:spAutoFit/>
          </a:bodyPr>
          <a:lstStyle/>
          <a:p>
            <a:pPr algn="l">
              <a:lnSpc>
                <a:spcPct val="112000"/>
              </a:lnSpc>
              <a:spcAft>
                <a:spcPts val="0"/>
              </a:spcAft>
            </a:pPr>
            <a:r>
              <a:rPr sz="1350" b="1">
                <a:solidFill>
                  <a:srgbClr val="35789C"/>
                </a:solidFill>
                <a:latin typeface="Helvetica Neue"/>
              </a:rPr>
              <a:t>QUÉ ES</a:t>
            </a:r>
          </a:p>
        </p:txBody>
      </p:sp>
      <p:sp>
        <p:nvSpPr>
          <p:cNvPr id="9" name="TextBox 8"/>
          <p:cNvSpPr txBox="1"/>
          <p:nvPr/>
        </p:nvSpPr>
        <p:spPr>
          <a:xfrm>
            <a:off x="822960" y="31546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ED7623"/>
                </a:solidFill>
                <a:latin typeface="Helvetica Neue"/>
              </a:rPr>
              <a:t>cafe_la_cumbre_2026.xlsx</a:t>
            </a:r>
          </a:p>
        </p:txBody>
      </p:sp>
      <p:sp>
        <p:nvSpPr>
          <p:cNvPr id="10" name="TextBox 9"/>
          <p:cNvSpPr txBox="1"/>
          <p:nvPr/>
        </p:nvSpPr>
        <p:spPr>
          <a:xfrm>
            <a:off x="5303520" y="3154680"/>
            <a:ext cx="6126480" cy="457200"/>
          </a:xfrm>
          <a:prstGeom prst="rect">
            <a:avLst/>
          </a:prstGeom>
          <a:noFill/>
        </p:spPr>
        <p:txBody>
          <a:bodyPr wrap="square" lIns="0" rIns="0" tIns="0" bIns="0">
            <a:spAutoFit/>
          </a:bodyPr>
          <a:lstStyle/>
          <a:p>
            <a:pPr algn="l">
              <a:lnSpc>
                <a:spcPct val="112000"/>
              </a:lnSpc>
              <a:spcAft>
                <a:spcPts val="0"/>
              </a:spcAft>
            </a:pPr>
            <a:r>
              <a:rPr sz="1350" b="0">
                <a:solidFill>
                  <a:srgbClr val="6E6E6E"/>
                </a:solidFill>
                <a:latin typeface="Helvetica Neue"/>
              </a:rPr>
              <a:t>Ventas, cosecha, proveedores y compras de enero a septiembre</a:t>
            </a:r>
          </a:p>
        </p:txBody>
      </p:sp>
      <p:sp>
        <p:nvSpPr>
          <p:cNvPr id="11" name="Rectangle 10"/>
          <p:cNvSpPr/>
          <p:nvPr/>
        </p:nvSpPr>
        <p:spPr>
          <a:xfrm>
            <a:off x="822960" y="3547872"/>
            <a:ext cx="10607040" cy="7315"/>
          </a:xfrm>
          <a:prstGeom prst="rect">
            <a:avLst/>
          </a:prstGeom>
          <a:solidFill>
            <a:srgbClr val="E3E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118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ED7623"/>
                </a:solidFill>
                <a:latin typeface="Helvetica Neue"/>
              </a:rPr>
              <a:t>competencia_por_completar.xlsx</a:t>
            </a:r>
          </a:p>
        </p:txBody>
      </p:sp>
      <p:sp>
        <p:nvSpPr>
          <p:cNvPr id="13" name="TextBox 12"/>
          <p:cNvSpPr txBox="1"/>
          <p:nvPr/>
        </p:nvSpPr>
        <p:spPr>
          <a:xfrm>
            <a:off x="5303520" y="3611880"/>
            <a:ext cx="6126480" cy="457200"/>
          </a:xfrm>
          <a:prstGeom prst="rect">
            <a:avLst/>
          </a:prstGeom>
          <a:noFill/>
        </p:spPr>
        <p:txBody>
          <a:bodyPr wrap="square" lIns="0" rIns="0" tIns="0" bIns="0">
            <a:spAutoFit/>
          </a:bodyPr>
          <a:lstStyle/>
          <a:p>
            <a:pPr algn="l">
              <a:lnSpc>
                <a:spcPct val="112000"/>
              </a:lnSpc>
              <a:spcAft>
                <a:spcPts val="0"/>
              </a:spcAft>
            </a:pPr>
            <a:r>
              <a:rPr sz="1350" b="0">
                <a:solidFill>
                  <a:srgbClr val="6E6E6E"/>
                </a:solidFill>
                <a:latin typeface="Helvetica Neue"/>
              </a:rPr>
              <a:t>Las marcas de la competencia, con casillas vacías</a:t>
            </a:r>
          </a:p>
        </p:txBody>
      </p:sp>
      <p:sp>
        <p:nvSpPr>
          <p:cNvPr id="14" name="Rectangle 13"/>
          <p:cNvSpPr/>
          <p:nvPr/>
        </p:nvSpPr>
        <p:spPr>
          <a:xfrm>
            <a:off x="822960" y="4005072"/>
            <a:ext cx="10607040" cy="7315"/>
          </a:xfrm>
          <a:prstGeom prst="rect">
            <a:avLst/>
          </a:prstGeom>
          <a:solidFill>
            <a:srgbClr val="E3E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0690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ED7623"/>
                </a:solidFill>
                <a:latin typeface="Helvetica Neue"/>
              </a:rPr>
              <a:t>bandeja_entrada.txt</a:t>
            </a:r>
          </a:p>
        </p:txBody>
      </p:sp>
      <p:sp>
        <p:nvSpPr>
          <p:cNvPr id="16" name="TextBox 15"/>
          <p:cNvSpPr txBox="1"/>
          <p:nvPr/>
        </p:nvSpPr>
        <p:spPr>
          <a:xfrm>
            <a:off x="5303520" y="4069080"/>
            <a:ext cx="6126480" cy="457200"/>
          </a:xfrm>
          <a:prstGeom prst="rect">
            <a:avLst/>
          </a:prstGeom>
          <a:noFill/>
        </p:spPr>
        <p:txBody>
          <a:bodyPr wrap="square" lIns="0" rIns="0" tIns="0" bIns="0">
            <a:spAutoFit/>
          </a:bodyPr>
          <a:lstStyle/>
          <a:p>
            <a:pPr algn="l">
              <a:lnSpc>
                <a:spcPct val="112000"/>
              </a:lnSpc>
              <a:spcAft>
                <a:spcPts val="0"/>
              </a:spcAft>
            </a:pPr>
            <a:r>
              <a:rPr sz="1350" b="0">
                <a:solidFill>
                  <a:srgbClr val="6E6E6E"/>
                </a:solidFill>
                <a:latin typeface="Helvetica Neue"/>
              </a:rPr>
              <a:t>30 correos de julio a septiembre</a:t>
            </a:r>
          </a:p>
        </p:txBody>
      </p:sp>
      <p:sp>
        <p:nvSpPr>
          <p:cNvPr id="17" name="Rectangle 16"/>
          <p:cNvSpPr/>
          <p:nvPr/>
        </p:nvSpPr>
        <p:spPr>
          <a:xfrm>
            <a:off x="822960" y="4462272"/>
            <a:ext cx="10607040" cy="7315"/>
          </a:xfrm>
          <a:prstGeom prst="rect">
            <a:avLst/>
          </a:prstGeom>
          <a:solidFill>
            <a:srgbClr val="E3E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262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ED7623"/>
                </a:solidFill>
                <a:latin typeface="Helvetica Neue"/>
              </a:rPr>
              <a:t>chat_equipo_atencion.txt</a:t>
            </a:r>
          </a:p>
        </p:txBody>
      </p:sp>
      <p:sp>
        <p:nvSpPr>
          <p:cNvPr id="19" name="TextBox 18"/>
          <p:cNvSpPr txBox="1"/>
          <p:nvPr/>
        </p:nvSpPr>
        <p:spPr>
          <a:xfrm>
            <a:off x="5303520" y="4526280"/>
            <a:ext cx="6126480" cy="457200"/>
          </a:xfrm>
          <a:prstGeom prst="rect">
            <a:avLst/>
          </a:prstGeom>
          <a:noFill/>
        </p:spPr>
        <p:txBody>
          <a:bodyPr wrap="square" lIns="0" rIns="0" tIns="0" bIns="0">
            <a:spAutoFit/>
          </a:bodyPr>
          <a:lstStyle/>
          <a:p>
            <a:pPr algn="l">
              <a:lnSpc>
                <a:spcPct val="112000"/>
              </a:lnSpc>
              <a:spcAft>
                <a:spcPts val="0"/>
              </a:spcAft>
            </a:pPr>
            <a:r>
              <a:rPr sz="1350" b="0">
                <a:solidFill>
                  <a:srgbClr val="6E6E6E"/>
                </a:solidFill>
                <a:latin typeface="Helvetica Neue"/>
              </a:rPr>
              <a:t>El grupo de WhatsApp del equipo de atención</a:t>
            </a:r>
          </a:p>
        </p:txBody>
      </p:sp>
      <p:sp>
        <p:nvSpPr>
          <p:cNvPr id="20" name="Rectangle 19"/>
          <p:cNvSpPr/>
          <p:nvPr/>
        </p:nvSpPr>
        <p:spPr>
          <a:xfrm>
            <a:off x="822960" y="4919472"/>
            <a:ext cx="10607040" cy="7315"/>
          </a:xfrm>
          <a:prstGeom prst="rect">
            <a:avLst/>
          </a:prstGeom>
          <a:solidFill>
            <a:srgbClr val="E3E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9834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ED7623"/>
                </a:solidFill>
                <a:latin typeface="Helvetica Neue"/>
              </a:rPr>
              <a:t>fotos_visita_Buenavista.pdf</a:t>
            </a:r>
          </a:p>
        </p:txBody>
      </p:sp>
      <p:sp>
        <p:nvSpPr>
          <p:cNvPr id="22" name="TextBox 21"/>
          <p:cNvSpPr txBox="1"/>
          <p:nvPr/>
        </p:nvSpPr>
        <p:spPr>
          <a:xfrm>
            <a:off x="5303520" y="4983480"/>
            <a:ext cx="6126480" cy="457200"/>
          </a:xfrm>
          <a:prstGeom prst="rect">
            <a:avLst/>
          </a:prstGeom>
          <a:noFill/>
        </p:spPr>
        <p:txBody>
          <a:bodyPr wrap="square" lIns="0" rIns="0" tIns="0" bIns="0">
            <a:spAutoFit/>
          </a:bodyPr>
          <a:lstStyle/>
          <a:p>
            <a:pPr algn="l">
              <a:lnSpc>
                <a:spcPct val="112000"/>
              </a:lnSpc>
              <a:spcAft>
                <a:spcPts val="0"/>
              </a:spcAft>
            </a:pPr>
            <a:r>
              <a:rPr sz="1350" b="0">
                <a:solidFill>
                  <a:srgbClr val="6E6E6E"/>
                </a:solidFill>
                <a:latin typeface="Helvetica Neue"/>
              </a:rPr>
              <a:t>19 fotos de una visita técnica a una finca</a:t>
            </a:r>
          </a:p>
        </p:txBody>
      </p:sp>
      <p:sp>
        <p:nvSpPr>
          <p:cNvPr id="23" name="Rectangle 22"/>
          <p:cNvSpPr/>
          <p:nvPr/>
        </p:nvSpPr>
        <p:spPr>
          <a:xfrm>
            <a:off x="822960" y="5376672"/>
            <a:ext cx="10607040" cy="7315"/>
          </a:xfrm>
          <a:prstGeom prst="rect">
            <a:avLst/>
          </a:prstGeom>
          <a:solidFill>
            <a:srgbClr val="E3E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4406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ED7623"/>
                </a:solidFill>
                <a:latin typeface="Helvetica Neue"/>
              </a:rPr>
              <a:t>bitacoras_completas.mp3</a:t>
            </a:r>
          </a:p>
        </p:txBody>
      </p:sp>
      <p:sp>
        <p:nvSpPr>
          <p:cNvPr id="25" name="TextBox 24"/>
          <p:cNvSpPr txBox="1"/>
          <p:nvPr/>
        </p:nvSpPr>
        <p:spPr>
          <a:xfrm>
            <a:off x="5303520" y="5440680"/>
            <a:ext cx="6126480" cy="457200"/>
          </a:xfrm>
          <a:prstGeom prst="rect">
            <a:avLst/>
          </a:prstGeom>
          <a:noFill/>
        </p:spPr>
        <p:txBody>
          <a:bodyPr wrap="square" lIns="0" rIns="0" tIns="0" bIns="0">
            <a:spAutoFit/>
          </a:bodyPr>
          <a:lstStyle/>
          <a:p>
            <a:pPr algn="l">
              <a:lnSpc>
                <a:spcPct val="112000"/>
              </a:lnSpc>
              <a:spcAft>
                <a:spcPts val="0"/>
              </a:spcAft>
            </a:pPr>
            <a:r>
              <a:rPr sz="1350" b="0">
                <a:solidFill>
                  <a:srgbClr val="6E6E6E"/>
                </a:solidFill>
                <a:latin typeface="Helvetica Neue"/>
              </a:rPr>
              <a:t>4 notas de voz de los técnicos de campo</a:t>
            </a:r>
          </a:p>
        </p:txBody>
      </p:sp>
      <p:sp>
        <p:nvSpPr>
          <p:cNvPr id="26" name="Rectangle 25"/>
          <p:cNvSpPr/>
          <p:nvPr/>
        </p:nvSpPr>
        <p:spPr>
          <a:xfrm>
            <a:off x="822960" y="5833872"/>
            <a:ext cx="10607040" cy="7315"/>
          </a:xfrm>
          <a:prstGeom prst="rect">
            <a:avLst/>
          </a:prstGeom>
          <a:solidFill>
            <a:srgbClr val="E3E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897880"/>
            <a:ext cx="4480560" cy="457200"/>
          </a:xfrm>
          <a:prstGeom prst="rect">
            <a:avLst/>
          </a:prstGeom>
          <a:noFill/>
        </p:spPr>
        <p:txBody>
          <a:bodyPr wrap="square" lIns="0" rIns="0" tIns="0" bIns="0">
            <a:spAutoFit/>
          </a:bodyPr>
          <a:lstStyle/>
          <a:p>
            <a:pPr algn="l">
              <a:lnSpc>
                <a:spcPct val="112000"/>
              </a:lnSpc>
              <a:spcAft>
                <a:spcPts val="0"/>
              </a:spcAft>
            </a:pPr>
            <a:r>
              <a:rPr sz="1350" b="1">
                <a:solidFill>
                  <a:srgbClr val="ED7623"/>
                </a:solidFill>
                <a:latin typeface="Helvetica Neue"/>
              </a:rPr>
              <a:t>formato_FT07 · plantilla_carta</a:t>
            </a:r>
          </a:p>
        </p:txBody>
      </p:sp>
      <p:sp>
        <p:nvSpPr>
          <p:cNvPr id="28" name="TextBox 27"/>
          <p:cNvSpPr txBox="1"/>
          <p:nvPr/>
        </p:nvSpPr>
        <p:spPr>
          <a:xfrm>
            <a:off x="5303520" y="5897880"/>
            <a:ext cx="6126480" cy="457200"/>
          </a:xfrm>
          <a:prstGeom prst="rect">
            <a:avLst/>
          </a:prstGeom>
          <a:noFill/>
        </p:spPr>
        <p:txBody>
          <a:bodyPr wrap="square" lIns="0" rIns="0" tIns="0" bIns="0">
            <a:spAutoFit/>
          </a:bodyPr>
          <a:lstStyle/>
          <a:p>
            <a:pPr algn="l">
              <a:lnSpc>
                <a:spcPct val="112000"/>
              </a:lnSpc>
              <a:spcAft>
                <a:spcPts val="0"/>
              </a:spcAft>
            </a:pPr>
            <a:r>
              <a:rPr sz="1350" b="0">
                <a:solidFill>
                  <a:srgbClr val="6E6E6E"/>
                </a:solidFill>
                <a:latin typeface="Helvetica Neue"/>
              </a:rPr>
              <a:t>Los formatos que hay que llenar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ANTES DE SUBIR NADA</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4000" b="1">
                <a:solidFill>
                  <a:srgbClr val="11406E"/>
                </a:solidFill>
                <a:latin typeface="Helvetica Neue"/>
              </a:rPr>
              <a:t>Cuatro reglas</a:t>
            </a:r>
          </a:p>
        </p:txBody>
      </p:sp>
      <p:sp>
        <p:nvSpPr>
          <p:cNvPr id="5" name="Rounded Rectangle 4"/>
          <p:cNvSpPr/>
          <p:nvPr/>
        </p:nvSpPr>
        <p:spPr>
          <a:xfrm>
            <a:off x="822960" y="2103120"/>
            <a:ext cx="10607040" cy="84124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258568"/>
            <a:ext cx="3108960" cy="658368"/>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Nada confidencial</a:t>
            </a:r>
          </a:p>
        </p:txBody>
      </p:sp>
      <p:sp>
        <p:nvSpPr>
          <p:cNvPr id="7" name="TextBox 6"/>
          <p:cNvSpPr txBox="1"/>
          <p:nvPr/>
        </p:nvSpPr>
        <p:spPr>
          <a:xfrm>
            <a:off x="4480560" y="2286000"/>
            <a:ext cx="6675120" cy="658368"/>
          </a:xfrm>
          <a:prstGeom prst="rect">
            <a:avLst/>
          </a:prstGeom>
          <a:noFill/>
        </p:spPr>
        <p:txBody>
          <a:bodyPr wrap="square" lIns="0" rIns="0" tIns="0" bIns="0">
            <a:spAutoFit/>
          </a:bodyPr>
          <a:lstStyle/>
          <a:p>
            <a:pPr algn="l">
              <a:lnSpc>
                <a:spcPct val="120000"/>
              </a:lnSpc>
              <a:spcAft>
                <a:spcPts val="600"/>
              </a:spcAft>
            </a:pPr>
            <a:r>
              <a:rPr sz="1450" b="0">
                <a:solidFill>
                  <a:srgbClr val="6E6E6E"/>
                </a:solidFill>
                <a:latin typeface="Helvetica Neue"/>
              </a:rPr>
              <a:t>Ni historias clínicas, ni expedientes, ni datos de clientes. Si hay que hacerlo, se cambian nombres por códigos.</a:t>
            </a:r>
          </a:p>
        </p:txBody>
      </p:sp>
      <p:sp>
        <p:nvSpPr>
          <p:cNvPr id="8" name="Rounded Rectangle 7"/>
          <p:cNvSpPr/>
          <p:nvPr/>
        </p:nvSpPr>
        <p:spPr>
          <a:xfrm>
            <a:off x="822960" y="3063239"/>
            <a:ext cx="10607040" cy="84124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218687"/>
            <a:ext cx="3108960" cy="658368"/>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Ojo al conectar tu correo</a:t>
            </a:r>
          </a:p>
        </p:txBody>
      </p:sp>
      <p:sp>
        <p:nvSpPr>
          <p:cNvPr id="10" name="TextBox 9"/>
          <p:cNvSpPr txBox="1"/>
          <p:nvPr/>
        </p:nvSpPr>
        <p:spPr>
          <a:xfrm>
            <a:off x="4480560" y="3246120"/>
            <a:ext cx="6675120" cy="658368"/>
          </a:xfrm>
          <a:prstGeom prst="rect">
            <a:avLst/>
          </a:prstGeom>
          <a:noFill/>
        </p:spPr>
        <p:txBody>
          <a:bodyPr wrap="square" lIns="0" rIns="0" tIns="0" bIns="0">
            <a:spAutoFit/>
          </a:bodyPr>
          <a:lstStyle/>
          <a:p>
            <a:pPr algn="l">
              <a:lnSpc>
                <a:spcPct val="120000"/>
              </a:lnSpc>
              <a:spcAft>
                <a:spcPts val="600"/>
              </a:spcAft>
            </a:pPr>
            <a:r>
              <a:rPr sz="1450" b="0">
                <a:solidFill>
                  <a:srgbClr val="6E6E6E"/>
                </a:solidFill>
                <a:latin typeface="Helvetica Neue"/>
              </a:rPr>
              <a:t>Con la opción «Mejorar el modelo» activa, puede usar tus correos para entrenar. Desactívala antes.</a:t>
            </a:r>
          </a:p>
        </p:txBody>
      </p:sp>
      <p:sp>
        <p:nvSpPr>
          <p:cNvPr id="11" name="Rounded Rectangle 10"/>
          <p:cNvSpPr/>
          <p:nvPr/>
        </p:nvSpPr>
        <p:spPr>
          <a:xfrm>
            <a:off x="822960" y="4023360"/>
            <a:ext cx="10607040" cy="84124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178808"/>
            <a:ext cx="3108960" cy="658368"/>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Los números se revisan</a:t>
            </a:r>
          </a:p>
        </p:txBody>
      </p:sp>
      <p:sp>
        <p:nvSpPr>
          <p:cNvPr id="13" name="TextBox 12"/>
          <p:cNvSpPr txBox="1"/>
          <p:nvPr/>
        </p:nvSpPr>
        <p:spPr>
          <a:xfrm>
            <a:off x="4480560" y="4206240"/>
            <a:ext cx="6675120" cy="658368"/>
          </a:xfrm>
          <a:prstGeom prst="rect">
            <a:avLst/>
          </a:prstGeom>
          <a:noFill/>
        </p:spPr>
        <p:txBody>
          <a:bodyPr wrap="square" lIns="0" rIns="0" tIns="0" bIns="0">
            <a:spAutoFit/>
          </a:bodyPr>
          <a:lstStyle/>
          <a:p>
            <a:pPr algn="l">
              <a:lnSpc>
                <a:spcPct val="120000"/>
              </a:lnSpc>
              <a:spcAft>
                <a:spcPts val="600"/>
              </a:spcAft>
            </a:pPr>
            <a:r>
              <a:rPr sz="1450" b="0">
                <a:solidFill>
                  <a:srgbClr val="6E6E6E"/>
                </a:solidFill>
                <a:latin typeface="Helvetica Neue"/>
              </a:rPr>
              <a:t>Si interpretó en vez de calcular, puede estar lejos. Una cifra que va a un informe se comprueba.</a:t>
            </a:r>
          </a:p>
        </p:txBody>
      </p:sp>
      <p:sp>
        <p:nvSpPr>
          <p:cNvPr id="14" name="Rounded Rectangle 13"/>
          <p:cNvSpPr/>
          <p:nvPr/>
        </p:nvSpPr>
        <p:spPr>
          <a:xfrm>
            <a:off x="822960" y="4983480"/>
            <a:ext cx="10607040" cy="84124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5138928"/>
            <a:ext cx="3108960" cy="658368"/>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Lo que firmas es tuyo</a:t>
            </a:r>
          </a:p>
        </p:txBody>
      </p:sp>
      <p:sp>
        <p:nvSpPr>
          <p:cNvPr id="16" name="TextBox 15"/>
          <p:cNvSpPr txBox="1"/>
          <p:nvPr/>
        </p:nvSpPr>
        <p:spPr>
          <a:xfrm>
            <a:off x="4480560" y="5166360"/>
            <a:ext cx="6675120" cy="658368"/>
          </a:xfrm>
          <a:prstGeom prst="rect">
            <a:avLst/>
          </a:prstGeom>
          <a:noFill/>
        </p:spPr>
        <p:txBody>
          <a:bodyPr wrap="square" lIns="0" rIns="0" tIns="0" bIns="0">
            <a:spAutoFit/>
          </a:bodyPr>
          <a:lstStyle/>
          <a:p>
            <a:pPr algn="l">
              <a:lnSpc>
                <a:spcPct val="120000"/>
              </a:lnSpc>
              <a:spcAft>
                <a:spcPts val="600"/>
              </a:spcAft>
            </a:pPr>
            <a:r>
              <a:rPr sz="1450" b="0">
                <a:solidFill>
                  <a:srgbClr val="6E6E6E"/>
                </a:solidFill>
                <a:latin typeface="Helvetica Neue"/>
              </a:rPr>
              <a:t>El informe lo firma el técnico, no ChatGPT.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1</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Revisar antes de calcular</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Ventas · cafe_la_cumbre_2026.xlsx</a:t>
            </a:r>
          </a:p>
        </p:txBody>
      </p:sp>
      <p:sp>
        <p:nvSpPr>
          <p:cNvPr id="6" name="Rounded Rectangle 5"/>
          <p:cNvSpPr/>
          <p:nvPr/>
        </p:nvSpPr>
        <p:spPr>
          <a:xfrm>
            <a:off x="822960" y="2697480"/>
            <a:ext cx="10607040" cy="141732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105156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«Antes de calcular nada, revisa la hoja Ventas y dime qué problemas de calidad de datos encuentras: duplicados, vacíos, nombres mal escritos, valores imposibles. Dime cuántas filas afecta cada uno. No corrijas nada todavía.»</a:t>
            </a:r>
          </a:p>
        </p:txBody>
      </p:sp>
      <p:sp>
        <p:nvSpPr>
          <p:cNvPr id="8" name="Rounded Rectangle 7"/>
          <p:cNvSpPr/>
          <p:nvPr/>
        </p:nvSpPr>
        <p:spPr>
          <a:xfrm>
            <a:off x="822960" y="434340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498848"/>
            <a:ext cx="301752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Primera pasada</a:t>
            </a:r>
          </a:p>
        </p:txBody>
      </p:sp>
      <p:sp>
        <p:nvSpPr>
          <p:cNvPr id="10" name="TextBox 9"/>
          <p:cNvSpPr txBox="1"/>
          <p:nvPr/>
        </p:nvSpPr>
        <p:spPr>
          <a:xfrm>
            <a:off x="4389120" y="4526280"/>
            <a:ext cx="676656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Encuentra 4 de los 6 problemas. Y dice que no hay más.</a:t>
            </a:r>
          </a:p>
        </p:txBody>
      </p:sp>
      <p:sp>
        <p:nvSpPr>
          <p:cNvPr id="11" name="Rounded Rectangle 10"/>
          <p:cNvSpPr/>
          <p:nvPr/>
        </p:nvSpPr>
        <p:spPr>
          <a:xfrm>
            <a:off x="822960" y="512064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276088"/>
            <a:ext cx="301752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Segunda pregunta</a:t>
            </a:r>
          </a:p>
        </p:txBody>
      </p:sp>
      <p:sp>
        <p:nvSpPr>
          <p:cNvPr id="13" name="TextBox 12"/>
          <p:cNvSpPr txBox="1"/>
          <p:nvPr/>
        </p:nvSpPr>
        <p:spPr>
          <a:xfrm>
            <a:off x="4389120" y="5303520"/>
            <a:ext cx="676656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«¿Revisaste precios raros y errores de ortografía?» Encuentra los otros 2.</a:t>
            </a:r>
          </a:p>
        </p:txBody>
      </p:sp>
      <p:sp>
        <p:nvSpPr>
          <p:cNvPr id="14" name="TextBox 13"/>
          <p:cNvSpPr txBox="1"/>
          <p:nvPr/>
        </p:nvSpPr>
        <p:spPr>
          <a:xfrm>
            <a:off x="822960" y="5989320"/>
            <a:ext cx="10515600" cy="640080"/>
          </a:xfrm>
          <a:prstGeom prst="rect">
            <a:avLst/>
          </a:prstGeom>
          <a:noFill/>
        </p:spPr>
        <p:txBody>
          <a:bodyPr wrap="square" lIns="0" rIns="0" tIns="0" bIns="0">
            <a:spAutoFit/>
          </a:bodyPr>
          <a:lstStyle/>
          <a:p>
            <a:pPr algn="l">
              <a:spcAft>
                <a:spcPts val="600"/>
              </a:spcAft>
            </a:pPr>
            <a:r>
              <a:rPr sz="1700" b="1">
                <a:solidFill>
                  <a:srgbClr val="ED7623"/>
                </a:solidFill>
                <a:latin typeface="Helvetica Neue"/>
              </a:rPr>
              <a:t>¿La cantidad negativa es un error o una devolución? Eso no lo decide la 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2</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Preguntas y gráficas</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Ventas · la misma conversación, sin gastar otra subida</a:t>
            </a:r>
          </a:p>
        </p:txBody>
      </p:sp>
      <p:sp>
        <p:nvSpPr>
          <p:cNvPr id="6" name="Rounded Rectangle 5"/>
          <p:cNvSpPr/>
          <p:nvPr/>
        </p:nvSpPr>
        <p:spPr>
          <a:xfrm>
            <a:off x="822960" y="2697480"/>
            <a:ext cx="10607040" cy="118872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82296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«Quita los duplicados y haz tres gráficas: ventas por mes, ventas por canal y los cinco productos que más venden. Después dime en tres líneas qué le recomendarías al dueño.»</a:t>
            </a:r>
          </a:p>
        </p:txBody>
      </p:sp>
      <p:sp>
        <p:nvSpPr>
          <p:cNvPr id="8" name="Rounded Rectangle 7"/>
          <p:cNvSpPr/>
          <p:nvPr/>
        </p:nvSpPr>
        <p:spPr>
          <a:xfrm>
            <a:off x="822960" y="411480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27024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Exacto</a:t>
            </a:r>
          </a:p>
        </p:txBody>
      </p:sp>
      <p:sp>
        <p:nvSpPr>
          <p:cNvPr id="10" name="TextBox 9"/>
          <p:cNvSpPr txBox="1"/>
          <p:nvPr/>
        </p:nvSpPr>
        <p:spPr>
          <a:xfrm>
            <a:off x="3840480" y="429768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Las cifras coinciden al peso: calculó con código.</a:t>
            </a:r>
          </a:p>
        </p:txBody>
      </p:sp>
      <p:sp>
        <p:nvSpPr>
          <p:cNvPr id="11" name="Rounded Rectangle 10"/>
          <p:cNvSpPr/>
          <p:nvPr/>
        </p:nvSpPr>
        <p:spPr>
          <a:xfrm>
            <a:off x="822960" y="489204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04748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El hallazgo</a:t>
            </a:r>
          </a:p>
        </p:txBody>
      </p:sp>
      <p:sp>
        <p:nvSpPr>
          <p:cNvPr id="13" name="TextBox 12"/>
          <p:cNvSpPr txBox="1"/>
          <p:nvPr/>
        </p:nvSpPr>
        <p:spPr>
          <a:xfrm>
            <a:off x="3840480" y="507492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Exportación y mayoristas son casi todo. Tienda física y en línea: menos del 4 %.</a:t>
            </a:r>
          </a:p>
        </p:txBody>
      </p:sp>
      <p:sp>
        <p:nvSpPr>
          <p:cNvPr id="14" name="Rounded Rectangle 13"/>
          <p:cNvSpPr/>
          <p:nvPr/>
        </p:nvSpPr>
        <p:spPr>
          <a:xfrm>
            <a:off x="822960" y="5669280"/>
            <a:ext cx="10607040" cy="960120"/>
          </a:xfrm>
          <a:prstGeom prst="roundRect">
            <a:avLst>
              <a:gd name="adj" fmla="val 5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585216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Para comprobarlo: «¿cuántas filas usaste para esta suma?»</a:t>
            </a:r>
          </a:p>
          <a:p>
            <a:pPr algn="l">
              <a:lnSpc>
                <a:spcPct val="125000"/>
              </a:lnSpc>
              <a:spcAft>
                <a:spcPts val="200"/>
              </a:spcAft>
            </a:pPr>
            <a:r>
              <a:rPr sz="1450" b="0">
                <a:solidFill>
                  <a:srgbClr val="6E6E6E"/>
                </a:solidFill>
                <a:latin typeface="Helvetica Neue"/>
              </a:rPr>
              <a:t>Deberían ser 1.355: las 1.361 menos los 6 duplicados.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3</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El tablero</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Cuatro números grandes y tres gráficas que se lean en diez segundos</a:t>
            </a:r>
          </a:p>
        </p:txBody>
      </p:sp>
      <p:sp>
        <p:nvSpPr>
          <p:cNvPr id="6" name="Rounded Rectangle 5"/>
          <p:cNvSpPr/>
          <p:nvPr/>
        </p:nvSpPr>
        <p:spPr>
          <a:xfrm>
            <a:off x="822960" y="2697480"/>
            <a:ext cx="10607040" cy="146304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109728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«Arma un tablero de una sola página para el dueño: arriba cuatro números grandes (ventas totales, mejor mes, canal principal, ticket promedio) y abajo tres gráficas. Que se entienda en diez segundos. Después dámelo en un Excel descargable con las gráficas.»</a:t>
            </a:r>
          </a:p>
        </p:txBody>
      </p:sp>
      <p:sp>
        <p:nvSpPr>
          <p:cNvPr id="8" name="Rounded Rectangle 7"/>
          <p:cNvSpPr/>
          <p:nvPr/>
        </p:nvSpPr>
        <p:spPr>
          <a:xfrm>
            <a:off x="822960" y="4434840"/>
            <a:ext cx="10607040" cy="960120"/>
          </a:xfrm>
          <a:prstGeom prst="roundRect">
            <a:avLst>
              <a:gd name="adj" fmla="val 5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461772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La pregunta para la clase: ¿qué número pondrías arriba si fueras el dueño?</a:t>
            </a:r>
          </a:p>
          <a:p>
            <a:pPr algn="l">
              <a:lnSpc>
                <a:spcPct val="125000"/>
              </a:lnSpc>
              <a:spcAft>
                <a:spcPts val="200"/>
              </a:spcAft>
            </a:pPr>
            <a:r>
              <a:rPr sz="1450" b="0">
                <a:solidFill>
                  <a:srgbClr val="6E6E6E"/>
                </a:solidFill>
                <a:latin typeface="Helvetica Neue"/>
              </a:rPr>
              <a:t>Casi nadie escoge el mismo. Esa es la discusión que vale.</a:t>
            </a:r>
          </a:p>
        </p:txBody>
      </p:sp>
      <p:sp>
        <p:nvSpPr>
          <p:cNvPr id="10" name="TextBox 9"/>
          <p:cNvSpPr txBox="1"/>
          <p:nvPr/>
        </p:nvSpPr>
        <p:spPr>
          <a:xfrm>
            <a:off x="822960" y="5669280"/>
            <a:ext cx="10515600" cy="731520"/>
          </a:xfrm>
          <a:prstGeom prst="rect">
            <a:avLst/>
          </a:prstGeom>
          <a:noFill/>
        </p:spPr>
        <p:txBody>
          <a:bodyPr wrap="square" lIns="0" rIns="0" tIns="0" bIns="0">
            <a:spAutoFit/>
          </a:bodyPr>
          <a:lstStyle/>
          <a:p>
            <a:pPr algn="l">
              <a:spcAft>
                <a:spcPts val="600"/>
              </a:spcAft>
            </a:pPr>
            <a:r>
              <a:rPr sz="1500" b="0">
                <a:solidFill>
                  <a:srgbClr val="6E6E6E"/>
                </a:solidFill>
                <a:latin typeface="Helvetica Neue"/>
              </a:rPr>
              <a:t>¿Uno que se actualice solo? Eso es Looker Studio, en la sesión de tableros.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4</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Cruzar dos tablas</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Proveedores con compras · y una mirada a la cosecha</a:t>
            </a:r>
          </a:p>
        </p:txBody>
      </p:sp>
      <p:sp>
        <p:nvSpPr>
          <p:cNvPr id="6" name="Rounded Rectangle 5"/>
          <p:cNvSpPr/>
          <p:nvPr/>
        </p:nvSpPr>
        <p:spPr>
          <a:xfrm>
            <a:off x="822960" y="2697480"/>
            <a:ext cx="10607040" cy="141732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105156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«En la hoja Compras calcula para cada proveedor el promedio de días de retraso y el porcentaje de pedidos no conformes. Cruza eso con la calificación de la hoja Proveedores. ¿La calificación refleja lo que muestran los datos?»</a:t>
            </a:r>
          </a:p>
        </p:txBody>
      </p:sp>
      <p:sp>
        <p:nvSpPr>
          <p:cNvPr id="8" name="Rounded Rectangle 7"/>
          <p:cNvSpPr/>
          <p:nvPr/>
        </p:nvSpPr>
        <p:spPr>
          <a:xfrm>
            <a:off x="822960" y="429768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45312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Proveedores</a:t>
            </a:r>
          </a:p>
        </p:txBody>
      </p:sp>
      <p:sp>
        <p:nvSpPr>
          <p:cNvPr id="10" name="TextBox 9"/>
          <p:cNvSpPr txBox="1"/>
          <p:nvPr/>
        </p:nvSpPr>
        <p:spPr>
          <a:xfrm>
            <a:off x="3840480" y="448056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Transportes Cordillera: el que más se atrasa, y la peor calificación.</a:t>
            </a:r>
          </a:p>
        </p:txBody>
      </p:sp>
      <p:sp>
        <p:nvSpPr>
          <p:cNvPr id="11" name="Rounded Rectangle 10"/>
          <p:cNvSpPr/>
          <p:nvPr/>
        </p:nvSpPr>
        <p:spPr>
          <a:xfrm>
            <a:off x="822960" y="507492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23036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Cosecha</a:t>
            </a:r>
          </a:p>
        </p:txBody>
      </p:sp>
      <p:sp>
        <p:nvSpPr>
          <p:cNvPr id="13" name="TextBox 12"/>
          <p:cNvSpPr txBox="1"/>
          <p:nvPr/>
        </p:nvSpPr>
        <p:spPr>
          <a:xfrm>
            <a:off x="3840480" y="525780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Humedad fuera de norma en La Esperanza. Rendimiento empeorando en Buenavista.</a:t>
            </a:r>
          </a:p>
        </p:txBody>
      </p:sp>
      <p:sp>
        <p:nvSpPr>
          <p:cNvPr id="14" name="Rounded Rectangle 13"/>
          <p:cNvSpPr/>
          <p:nvPr/>
        </p:nvSpPr>
        <p:spPr>
          <a:xfrm>
            <a:off x="822960" y="5760720"/>
            <a:ext cx="10607040" cy="960120"/>
          </a:xfrm>
          <a:prstGeom prst="roundRect">
            <a:avLst>
              <a:gd name="adj" fmla="val 5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594360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Los datos dicen qué pasa. No dicen por qué.</a:t>
            </a:r>
          </a:p>
          <a:p>
            <a:pPr algn="l">
              <a:lnSpc>
                <a:spcPct val="125000"/>
              </a:lnSpc>
              <a:spcAft>
                <a:spcPts val="200"/>
              </a:spcAft>
            </a:pPr>
            <a:r>
              <a:rPr sz="1450" b="0">
                <a:solidFill>
                  <a:srgbClr val="6E6E6E"/>
                </a:solidFill>
                <a:latin typeface="Helvetica Neue"/>
              </a:rPr>
              <a:t>Eso está en los audios de los técnicos: caso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5</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El Excel conectado</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ChatGPT dentro de tu hoja de cálculo, y llenar lo que falta buscando</a:t>
            </a:r>
          </a:p>
        </p:txBody>
      </p:sp>
      <p:sp>
        <p:nvSpPr>
          <p:cNvPr id="6" name="Rounded Rectangle 5"/>
          <p:cNvSpPr/>
          <p:nvPr/>
        </p:nvSpPr>
        <p:spPr>
          <a:xfrm>
            <a:off x="822960" y="269748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85292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Dónde vive</a:t>
            </a:r>
          </a:p>
        </p:txBody>
      </p:sp>
      <p:sp>
        <p:nvSpPr>
          <p:cNvPr id="8" name="TextBox 7"/>
          <p:cNvSpPr txBox="1"/>
          <p:nvPr/>
        </p:nvSpPr>
        <p:spPr>
          <a:xfrm>
            <a:off x="3840480" y="288036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Dentro de Google Sheets o Excel, como barra lateral. Gratis, según la ayuda oficial.</a:t>
            </a:r>
          </a:p>
        </p:txBody>
      </p:sp>
      <p:sp>
        <p:nvSpPr>
          <p:cNvPr id="9" name="Rounded Rectangle 8"/>
          <p:cNvSpPr/>
          <p:nvPr/>
        </p:nvSpPr>
        <p:spPr>
          <a:xfrm>
            <a:off x="822960" y="347472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63016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Lo bueno</a:t>
            </a:r>
          </a:p>
        </p:txBody>
      </p:sp>
      <p:sp>
        <p:nvSpPr>
          <p:cNvPr id="11" name="TextBox 10"/>
          <p:cNvSpPr txBox="1"/>
          <p:nvPr/>
        </p:nvSpPr>
        <p:spPr>
          <a:xfrm>
            <a:off x="3840480" y="365760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No gasta ninguna de tus tres subidas del día: trabaja sobre la hoja.</a:t>
            </a:r>
          </a:p>
        </p:txBody>
      </p:sp>
      <p:sp>
        <p:nvSpPr>
          <p:cNvPr id="12" name="Rounded Rectangle 11"/>
          <p:cNvSpPr/>
          <p:nvPr/>
        </p:nvSpPr>
        <p:spPr>
          <a:xfrm>
            <a:off x="822960" y="425196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40740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El ejercicio</a:t>
            </a:r>
          </a:p>
        </p:txBody>
      </p:sp>
      <p:sp>
        <p:nvSpPr>
          <p:cNvPr id="14" name="TextBox 13"/>
          <p:cNvSpPr txBox="1"/>
          <p:nvPr/>
        </p:nvSpPr>
        <p:spPr>
          <a:xfrm>
            <a:off x="3840480" y="443484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Siete marcas de café con casillas vacías. Que las llene buscando en internet.</a:t>
            </a:r>
          </a:p>
        </p:txBody>
      </p:sp>
      <p:sp>
        <p:nvSpPr>
          <p:cNvPr id="15" name="Rounded Rectangle 14"/>
          <p:cNvSpPr/>
          <p:nvPr/>
        </p:nvSpPr>
        <p:spPr>
          <a:xfrm>
            <a:off x="822960" y="5166360"/>
            <a:ext cx="10607040" cy="91440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394960"/>
            <a:ext cx="9875520" cy="548640"/>
          </a:xfrm>
          <a:prstGeom prst="rect">
            <a:avLst/>
          </a:prstGeom>
          <a:noFill/>
        </p:spPr>
        <p:txBody>
          <a:bodyPr wrap="square" lIns="0" rIns="0" tIns="0" bIns="0">
            <a:spAutoFit/>
          </a:bodyPr>
          <a:lstStyle/>
          <a:p>
            <a:pPr algn="l">
              <a:lnSpc>
                <a:spcPct val="130000"/>
              </a:lnSpc>
              <a:spcAft>
                <a:spcPts val="600"/>
              </a:spcAft>
            </a:pPr>
            <a:r>
              <a:rPr sz="1400" b="0">
                <a:solidFill>
                  <a:srgbClr val="11406E"/>
                </a:solidFill>
                <a:latin typeface="Helvetica Neue"/>
              </a:rPr>
              <a:t>«Completa las casillas vacías buscando en internet. En una columna nueva pon la fuente de cada dato. Si no lo encuentras, escribe 'No encontrado'.»</a:t>
            </a:r>
          </a:p>
        </p:txBody>
      </p:sp>
      <p:sp>
        <p:nvSpPr>
          <p:cNvPr id="17" name="TextBox 16"/>
          <p:cNvSpPr txBox="1"/>
          <p:nvPr/>
        </p:nvSpPr>
        <p:spPr>
          <a:xfrm>
            <a:off x="822960" y="6263640"/>
            <a:ext cx="10515600" cy="457200"/>
          </a:xfrm>
          <a:prstGeom prst="rect">
            <a:avLst/>
          </a:prstGeom>
          <a:noFill/>
        </p:spPr>
        <p:txBody>
          <a:bodyPr wrap="square" lIns="0" rIns="0" tIns="0" bIns="0">
            <a:spAutoFit/>
          </a:bodyPr>
          <a:lstStyle/>
          <a:p>
            <a:pPr algn="l">
              <a:spcAft>
                <a:spcPts val="600"/>
              </a:spcAft>
            </a:pPr>
            <a:r>
              <a:rPr sz="1600" b="1">
                <a:solidFill>
                  <a:srgbClr val="ED7623"/>
                </a:solidFill>
                <a:latin typeface="Helvetica Neue"/>
              </a:rPr>
              <a:t>Un dato buscado sin fuente no se puede verificar.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6</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La bandeja de correo</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Quién escribe, de qué se trata, y qué es peligroso</a:t>
            </a:r>
          </a:p>
        </p:txBody>
      </p:sp>
      <p:sp>
        <p:nvSpPr>
          <p:cNvPr id="6" name="Rounded Rectangle 5"/>
          <p:cNvSpPr/>
          <p:nvPr/>
        </p:nvSpPr>
        <p:spPr>
          <a:xfrm>
            <a:off x="822960" y="2697480"/>
            <a:ext cx="10607040" cy="141732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105156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«Haz una tabla con todos los correos: fecha, quién lo manda, asunto en pocas palabras y una categoría (factura, pedido de cliente, queja, proveedor, interno, publicidad, sospechoso). Si alguno te parece peligroso, dime por qué.»</a:t>
            </a:r>
          </a:p>
        </p:txBody>
      </p:sp>
      <p:sp>
        <p:nvSpPr>
          <p:cNvPr id="8" name="Rounded Rectangle 7"/>
          <p:cNvSpPr/>
          <p:nvPr/>
        </p:nvSpPr>
        <p:spPr>
          <a:xfrm>
            <a:off x="822960" y="429768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45312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Comprobado</a:t>
            </a:r>
          </a:p>
        </p:txBody>
      </p:sp>
      <p:sp>
        <p:nvSpPr>
          <p:cNvPr id="10" name="TextBox 9"/>
          <p:cNvSpPr txBox="1"/>
          <p:nvPr/>
        </p:nvSpPr>
        <p:spPr>
          <a:xfrm>
            <a:off x="3840480" y="448056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Clasificó bien los 30 correos.</a:t>
            </a:r>
          </a:p>
        </p:txBody>
      </p:sp>
      <p:sp>
        <p:nvSpPr>
          <p:cNvPr id="11" name="Rounded Rectangle 10"/>
          <p:cNvSpPr/>
          <p:nvPr/>
        </p:nvSpPr>
        <p:spPr>
          <a:xfrm>
            <a:off x="822960" y="507492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23036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El sospechoso</a:t>
            </a:r>
          </a:p>
        </p:txBody>
      </p:sp>
      <p:sp>
        <p:nvSpPr>
          <p:cNvPr id="13" name="TextBox 12"/>
          <p:cNvSpPr txBox="1"/>
          <p:nvPr/>
        </p:nvSpPr>
        <p:spPr>
          <a:xfrm>
            <a:off x="3840480" y="525780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«Banco Andino»: urgencia, pide la clave, y el dominio cambia la «o» por un «0».</a:t>
            </a:r>
          </a:p>
        </p:txBody>
      </p:sp>
      <p:sp>
        <p:nvSpPr>
          <p:cNvPr id="14" name="Rounded Rectangle 13"/>
          <p:cNvSpPr/>
          <p:nvPr/>
        </p:nvSpPr>
        <p:spPr>
          <a:xfrm>
            <a:off x="822960" y="5760720"/>
            <a:ext cx="10607040" cy="960120"/>
          </a:xfrm>
          <a:prstGeom prst="roundRect">
            <a:avLst>
              <a:gd name="adj" fmla="val 5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594360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Antes de mostrar la respuesta: ¿ustedes lo habrían detectado?</a:t>
            </a:r>
          </a:p>
          <a:p>
            <a:pPr algn="l">
              <a:lnSpc>
                <a:spcPct val="125000"/>
              </a:lnSpc>
              <a:spcAft>
                <a:spcPts val="200"/>
              </a:spcAft>
            </a:pPr>
            <a:r>
              <a:rPr sz="1450" b="0">
                <a:solidFill>
                  <a:srgbClr val="6E6E6E"/>
                </a:solidFill>
                <a:latin typeface="Helvetica Neue"/>
              </a:rPr>
              <a:t>Es la parte de la clase que más recuerdan.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7</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Los gastos que llegan por correo</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Sumar las facturas por mes y por tipo, sin abrir una sola</a:t>
            </a:r>
          </a:p>
        </p:txBody>
      </p:sp>
      <p:sp>
        <p:nvSpPr>
          <p:cNvPr id="6" name="Rounded Rectangle 5"/>
          <p:cNvSpPr/>
          <p:nvPr/>
        </p:nvSpPr>
        <p:spPr>
          <a:xfrm>
            <a:off x="822960" y="2697480"/>
            <a:ext cx="10607040" cy="118872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82296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«Haz un resumen de gastos: suma de las facturas por mes y por tipo de gasto, con una gráfica. Dime también cuáles vencen en los próximos 15 días.»</a:t>
            </a:r>
          </a:p>
        </p:txBody>
      </p:sp>
      <p:sp>
        <p:nvSpPr>
          <p:cNvPr id="8" name="Rounded Rectangle 7"/>
          <p:cNvSpPr/>
          <p:nvPr/>
        </p:nvSpPr>
        <p:spPr>
          <a:xfrm>
            <a:off x="822960" y="406908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224528"/>
            <a:ext cx="2468880" cy="566927"/>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Comprobado</a:t>
            </a:r>
          </a:p>
        </p:txBody>
      </p:sp>
      <p:sp>
        <p:nvSpPr>
          <p:cNvPr id="10" name="TextBox 9"/>
          <p:cNvSpPr txBox="1"/>
          <p:nvPr/>
        </p:nvSpPr>
        <p:spPr>
          <a:xfrm>
            <a:off x="3840480" y="4251960"/>
            <a:ext cx="731520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Las sumas coinciden: julio $1.474.400 · agosto $12.067.800 · septiembre $8.125.100.</a:t>
            </a:r>
          </a:p>
        </p:txBody>
      </p:sp>
      <p:sp>
        <p:nvSpPr>
          <p:cNvPr id="11" name="Rounded Rectangle 10"/>
          <p:cNvSpPr/>
          <p:nvPr/>
        </p:nvSpPr>
        <p:spPr>
          <a:xfrm>
            <a:off x="822960" y="493776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093208"/>
            <a:ext cx="2468880" cy="566927"/>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El matiz</a:t>
            </a:r>
          </a:p>
        </p:txBody>
      </p:sp>
      <p:sp>
        <p:nvSpPr>
          <p:cNvPr id="13" name="TextBox 12"/>
          <p:cNvSpPr txBox="1"/>
          <p:nvPr/>
        </p:nvSpPr>
        <p:spPr>
          <a:xfrm>
            <a:off x="3840480" y="5120640"/>
            <a:ext cx="731520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Sumó por la fecha del correo: la energía de junio quedó en julio. ¿Está bien?</a:t>
            </a:r>
          </a:p>
        </p:txBody>
      </p:sp>
      <p:sp>
        <p:nvSpPr>
          <p:cNvPr id="14" name="Rounded Rectangle 13"/>
          <p:cNvSpPr/>
          <p:nvPr/>
        </p:nvSpPr>
        <p:spPr>
          <a:xfrm>
            <a:off x="822960" y="5760720"/>
            <a:ext cx="10607040" cy="960120"/>
          </a:xfrm>
          <a:prstGeom prst="roundRect">
            <a:avLst>
              <a:gd name="adj" fmla="val 5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594360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La IA no sabe qué mes te importa si no se lo dices.</a:t>
            </a:r>
          </a:p>
          <a:p>
            <a:pPr algn="l">
              <a:lnSpc>
                <a:spcPct val="125000"/>
              </a:lnSpc>
              <a:spcAft>
                <a:spcPts val="200"/>
              </a:spcAft>
            </a:pPr>
            <a:r>
              <a:rPr sz="1450" b="0">
                <a:solidFill>
                  <a:srgbClr val="6E6E6E"/>
                </a:solidFill>
                <a:latin typeface="Helvetica Neue"/>
              </a:rPr>
              <a:t>Para el flujo de caja, la fecha del correo. Para saber cuánto cuesta producir, la del servicio.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8</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La conversación, convertida en historia</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Un grupo de WhatsApp, clasificado y graficado</a:t>
            </a:r>
          </a:p>
        </p:txBody>
      </p:sp>
      <p:sp>
        <p:nvSpPr>
          <p:cNvPr id="6" name="Rounded Rectangle 5"/>
          <p:cNvSpPr/>
          <p:nvPr/>
        </p:nvSpPr>
        <p:spPr>
          <a:xfrm>
            <a:off x="822960" y="2697480"/>
            <a:ext cx="10607040" cy="141732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105156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«Clasifica cada caso en un tema y haz una gráfica de cuántos casos hubo de cada tema por mes. Después cuéntame en cinco líneas qué historia cuentan los datos: qué empeoró, qué mejoró y qué oportunidad de negocio aparece.»</a:t>
            </a:r>
          </a:p>
        </p:txBody>
      </p:sp>
      <p:sp>
        <p:nvSpPr>
          <p:cNvPr id="8" name="Rectangle 7"/>
          <p:cNvSpPr/>
          <p:nvPr/>
        </p:nvSpPr>
        <p:spPr>
          <a:xfrm>
            <a:off x="822960" y="4736592"/>
            <a:ext cx="10607040" cy="20116"/>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97680"/>
            <a:ext cx="4023360" cy="502920"/>
          </a:xfrm>
          <a:prstGeom prst="rect">
            <a:avLst/>
          </a:prstGeom>
          <a:noFill/>
        </p:spPr>
        <p:txBody>
          <a:bodyPr wrap="square" lIns="0" rIns="0" tIns="0" bIns="0">
            <a:spAutoFit/>
          </a:bodyPr>
          <a:lstStyle/>
          <a:p>
            <a:pPr algn="l">
              <a:lnSpc>
                <a:spcPct val="112000"/>
              </a:lnSpc>
              <a:spcAft>
                <a:spcPts val="0"/>
              </a:spcAft>
            </a:pPr>
            <a:r>
              <a:rPr sz="1500" b="1">
                <a:solidFill>
                  <a:srgbClr val="35789C"/>
                </a:solidFill>
                <a:latin typeface="Helvetica Neue"/>
              </a:rPr>
              <a:t>ENVÍO TARDE · AGOSTO</a:t>
            </a:r>
          </a:p>
        </p:txBody>
      </p:sp>
      <p:sp>
        <p:nvSpPr>
          <p:cNvPr id="10" name="TextBox 9"/>
          <p:cNvSpPr txBox="1"/>
          <p:nvPr/>
        </p:nvSpPr>
        <p:spPr>
          <a:xfrm>
            <a:off x="4846320" y="4297680"/>
            <a:ext cx="3291840" cy="502920"/>
          </a:xfrm>
          <a:prstGeom prst="rect">
            <a:avLst/>
          </a:prstGeom>
          <a:noFill/>
        </p:spPr>
        <p:txBody>
          <a:bodyPr wrap="square" lIns="0" rIns="0" tIns="0" bIns="0">
            <a:spAutoFit/>
          </a:bodyPr>
          <a:lstStyle/>
          <a:p>
            <a:pPr algn="l">
              <a:lnSpc>
                <a:spcPct val="112000"/>
              </a:lnSpc>
              <a:spcAft>
                <a:spcPts val="0"/>
              </a:spcAft>
            </a:pPr>
            <a:r>
              <a:rPr sz="1500" b="1">
                <a:solidFill>
                  <a:srgbClr val="35789C"/>
                </a:solidFill>
                <a:latin typeface="Helvetica Neue"/>
              </a:rPr>
              <a:t>LO QUE DIJO CHATGPT</a:t>
            </a:r>
          </a:p>
        </p:txBody>
      </p:sp>
      <p:sp>
        <p:nvSpPr>
          <p:cNvPr id="11" name="TextBox 10"/>
          <p:cNvSpPr txBox="1"/>
          <p:nvPr/>
        </p:nvSpPr>
        <p:spPr>
          <a:xfrm>
            <a:off x="8138160" y="4297680"/>
            <a:ext cx="3291840" cy="502920"/>
          </a:xfrm>
          <a:prstGeom prst="rect">
            <a:avLst/>
          </a:prstGeom>
          <a:noFill/>
        </p:spPr>
        <p:txBody>
          <a:bodyPr wrap="square" lIns="0" rIns="0" tIns="0" bIns="0">
            <a:spAutoFit/>
          </a:bodyPr>
          <a:lstStyle/>
          <a:p>
            <a:pPr algn="l">
              <a:lnSpc>
                <a:spcPct val="112000"/>
              </a:lnSpc>
              <a:spcAft>
                <a:spcPts val="0"/>
              </a:spcAft>
            </a:pPr>
            <a:r>
              <a:rPr sz="1500" b="1">
                <a:solidFill>
                  <a:srgbClr val="35789C"/>
                </a:solidFill>
                <a:latin typeface="Helvetica Neue"/>
              </a:rPr>
              <a:t>LO QUE HABÍA</a:t>
            </a:r>
          </a:p>
        </p:txBody>
      </p:sp>
      <p:sp>
        <p:nvSpPr>
          <p:cNvPr id="12" name="TextBox 11"/>
          <p:cNvSpPr txBox="1"/>
          <p:nvPr/>
        </p:nvSpPr>
        <p:spPr>
          <a:xfrm>
            <a:off x="822960" y="4800600"/>
            <a:ext cx="4023360" cy="502920"/>
          </a:xfrm>
          <a:prstGeom prst="rect">
            <a:avLst/>
          </a:prstGeom>
          <a:noFill/>
        </p:spPr>
        <p:txBody>
          <a:bodyPr wrap="square" lIns="0" rIns="0" tIns="0" bIns="0">
            <a:spAutoFit/>
          </a:bodyPr>
          <a:lstStyle/>
          <a:p>
            <a:pPr algn="l">
              <a:lnSpc>
                <a:spcPct val="112000"/>
              </a:lnSpc>
              <a:spcAft>
                <a:spcPts val="0"/>
              </a:spcAft>
            </a:pPr>
            <a:r>
              <a:rPr sz="1500" b="1">
                <a:solidFill>
                  <a:srgbClr val="ED7623"/>
                </a:solidFill>
                <a:latin typeface="Helvetica Neue"/>
              </a:rPr>
              <a:t>Casos contados</a:t>
            </a:r>
          </a:p>
        </p:txBody>
      </p:sp>
      <p:sp>
        <p:nvSpPr>
          <p:cNvPr id="13" name="TextBox 12"/>
          <p:cNvSpPr txBox="1"/>
          <p:nvPr/>
        </p:nvSpPr>
        <p:spPr>
          <a:xfrm>
            <a:off x="4846320" y="4800600"/>
            <a:ext cx="3291840" cy="502920"/>
          </a:xfrm>
          <a:prstGeom prst="rect">
            <a:avLst/>
          </a:prstGeom>
          <a:noFill/>
        </p:spPr>
        <p:txBody>
          <a:bodyPr wrap="square" lIns="0" rIns="0" tIns="0" bIns="0">
            <a:spAutoFit/>
          </a:bodyPr>
          <a:lstStyle/>
          <a:p>
            <a:pPr algn="l">
              <a:lnSpc>
                <a:spcPct val="112000"/>
              </a:lnSpc>
              <a:spcAft>
                <a:spcPts val="0"/>
              </a:spcAft>
            </a:pPr>
            <a:r>
              <a:rPr sz="1500" b="0">
                <a:solidFill>
                  <a:srgbClr val="6E6E6E"/>
                </a:solidFill>
                <a:latin typeface="Helvetica Neue"/>
              </a:rPr>
              <a:t>17</a:t>
            </a:r>
          </a:p>
        </p:txBody>
      </p:sp>
      <p:sp>
        <p:nvSpPr>
          <p:cNvPr id="14" name="TextBox 13"/>
          <p:cNvSpPr txBox="1"/>
          <p:nvPr/>
        </p:nvSpPr>
        <p:spPr>
          <a:xfrm>
            <a:off x="8138160" y="4800600"/>
            <a:ext cx="3291840" cy="502920"/>
          </a:xfrm>
          <a:prstGeom prst="rect">
            <a:avLst/>
          </a:prstGeom>
          <a:noFill/>
        </p:spPr>
        <p:txBody>
          <a:bodyPr wrap="square" lIns="0" rIns="0" tIns="0" bIns="0">
            <a:spAutoFit/>
          </a:bodyPr>
          <a:lstStyle/>
          <a:p>
            <a:pPr algn="l">
              <a:lnSpc>
                <a:spcPct val="112000"/>
              </a:lnSpc>
              <a:spcAft>
                <a:spcPts val="0"/>
              </a:spcAft>
            </a:pPr>
            <a:r>
              <a:rPr sz="1500" b="0">
                <a:solidFill>
                  <a:srgbClr val="6E6E6E"/>
                </a:solidFill>
                <a:latin typeface="Helvetica Neue"/>
              </a:rPr>
              <a:t>22</a:t>
            </a:r>
          </a:p>
        </p:txBody>
      </p:sp>
      <p:sp>
        <p:nvSpPr>
          <p:cNvPr id="15" name="Rounded Rectangle 14"/>
          <p:cNvSpPr/>
          <p:nvPr/>
        </p:nvSpPr>
        <p:spPr>
          <a:xfrm>
            <a:off x="822960" y="5486400"/>
            <a:ext cx="10607040" cy="960120"/>
          </a:xfrm>
          <a:prstGeom prst="roundRect">
            <a:avLst>
              <a:gd name="adj" fmla="val 5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566928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La historia la contó bien. Los números, no: aquí interpretó.</a:t>
            </a:r>
          </a:p>
          <a:p>
            <a:pPr algn="l">
              <a:lnSpc>
                <a:spcPct val="125000"/>
              </a:lnSpc>
              <a:spcAft>
                <a:spcPts val="200"/>
              </a:spcAft>
            </a:pPr>
            <a:r>
              <a:rPr sz="1450" b="0">
                <a:solidFill>
                  <a:srgbClr val="6E6E6E"/>
                </a:solidFill>
                <a:latin typeface="Helvetica Neue"/>
              </a:rPr>
              <a:t>Para que sea exacto: «usa código para contar, y muéstrame qué palabras usaste para cada tema».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9</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De fotos a informe de campo</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19 fotos de una visita a finca → el formato FT-07 diligenciado</a:t>
            </a:r>
          </a:p>
        </p:txBody>
      </p:sp>
      <p:sp>
        <p:nvSpPr>
          <p:cNvPr id="6" name="Rounded Rectangle 5"/>
          <p:cNvSpPr/>
          <p:nvPr/>
        </p:nvSpPr>
        <p:spPr>
          <a:xfrm>
            <a:off x="822960" y="269748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85292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Un solo PDF</a:t>
            </a:r>
          </a:p>
        </p:txBody>
      </p:sp>
      <p:sp>
        <p:nvSpPr>
          <p:cNvPr id="8" name="TextBox 7"/>
          <p:cNvSpPr txBox="1"/>
          <p:nvPr/>
        </p:nvSpPr>
        <p:spPr>
          <a:xfrm>
            <a:off x="3840480" y="288036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19 fotos sueltas son 19 subidas. En un PDF son una, y sí las ve.</a:t>
            </a:r>
          </a:p>
        </p:txBody>
      </p:sp>
      <p:sp>
        <p:nvSpPr>
          <p:cNvPr id="9" name="Rounded Rectangle 8"/>
          <p:cNvSpPr/>
          <p:nvPr/>
        </p:nvSpPr>
        <p:spPr>
          <a:xfrm>
            <a:off x="822960" y="347472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63016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Sin pistas</a:t>
            </a:r>
          </a:p>
        </p:txBody>
      </p:sp>
      <p:sp>
        <p:nvSpPr>
          <p:cNvPr id="11" name="TextBox 10"/>
          <p:cNvSpPr txBox="1"/>
          <p:nvPr/>
        </p:nvSpPr>
        <p:spPr>
          <a:xfrm>
            <a:off x="3840480" y="365760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Se llaman IMG_4501, IMG_4502...: tiene que mirarlas, no leer el nombre.</a:t>
            </a:r>
          </a:p>
        </p:txBody>
      </p:sp>
      <p:sp>
        <p:nvSpPr>
          <p:cNvPr id="12" name="Rounded Rectangle 11"/>
          <p:cNvSpPr/>
          <p:nvPr/>
        </p:nvSpPr>
        <p:spPr>
          <a:xfrm>
            <a:off x="822960" y="4343400"/>
            <a:ext cx="10607040" cy="109728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572000"/>
            <a:ext cx="9875520" cy="731519"/>
          </a:xfrm>
          <a:prstGeom prst="rect">
            <a:avLst/>
          </a:prstGeom>
          <a:noFill/>
        </p:spPr>
        <p:txBody>
          <a:bodyPr wrap="square" lIns="0" rIns="0" tIns="0" bIns="0">
            <a:spAutoFit/>
          </a:bodyPr>
          <a:lstStyle/>
          <a:p>
            <a:pPr algn="l">
              <a:lnSpc>
                <a:spcPct val="130000"/>
              </a:lnSpc>
              <a:spcAft>
                <a:spcPts val="600"/>
              </a:spcAft>
            </a:pPr>
            <a:r>
              <a:rPr sz="1450" b="0">
                <a:solidFill>
                  <a:srgbClr val="11406E"/>
                </a:solidFill>
                <a:latin typeface="Helvetica Neue"/>
              </a:rPr>
              <a:t>«Llena el formato FT-07 con lo que se ve en las fotos. En cada hallazgo cita la foto que lo respalda. Si algo no se puede saber por las fotos, escribe 'No registrado' y no lo inventes.»</a:t>
            </a:r>
          </a:p>
        </p:txBody>
      </p:sp>
      <p:sp>
        <p:nvSpPr>
          <p:cNvPr id="14" name="Rounded Rectangle 13"/>
          <p:cNvSpPr/>
          <p:nvPr/>
        </p:nvSpPr>
        <p:spPr>
          <a:xfrm>
            <a:off x="822960" y="5623560"/>
            <a:ext cx="10607040" cy="960120"/>
          </a:xfrm>
          <a:prstGeom prst="roundRect">
            <a:avLst>
              <a:gd name="adj" fmla="val 5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580644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Comprobado: encontró broca, roya y almácigo foto por foto, y no inventó porcentajes.</a:t>
            </a:r>
          </a:p>
          <a:p>
            <a:pPr algn="l">
              <a:lnSpc>
                <a:spcPct val="125000"/>
              </a:lnSpc>
              <a:spcAft>
                <a:spcPts val="200"/>
              </a:spcAft>
            </a:pPr>
            <a:r>
              <a:rPr sz="1450" b="0">
                <a:solidFill>
                  <a:srgbClr val="6E6E6E"/>
                </a:solidFill>
                <a:latin typeface="Helvetica Neue"/>
              </a:rPr>
              <a:t>La pregunta para la clase: ¿firmarías este informe?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10</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De notas de voz a informe</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Cuatro bitácoras de audio → un formato FT-07 por visita</a:t>
            </a:r>
          </a:p>
        </p:txBody>
      </p:sp>
      <p:sp>
        <p:nvSpPr>
          <p:cNvPr id="6" name="Rounded Rectangle 5"/>
          <p:cNvSpPr/>
          <p:nvPr/>
        </p:nvSpPr>
        <p:spPr>
          <a:xfrm>
            <a:off x="822960" y="269748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852928"/>
            <a:ext cx="3017520" cy="566927"/>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ChatGPT: no</a:t>
            </a:r>
          </a:p>
        </p:txBody>
      </p:sp>
      <p:sp>
        <p:nvSpPr>
          <p:cNvPr id="8" name="TextBox 7"/>
          <p:cNvSpPr txBox="1"/>
          <p:nvPr/>
        </p:nvSpPr>
        <p:spPr>
          <a:xfrm>
            <a:off x="4389120" y="2880360"/>
            <a:ext cx="676656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La versión gratis no recibe audio. Y en la de pago tampoco lo logró: lo dijo de frente.</a:t>
            </a:r>
          </a:p>
        </p:txBody>
      </p:sp>
      <p:sp>
        <p:nvSpPr>
          <p:cNvPr id="9" name="Rounded Rectangle 8"/>
          <p:cNvSpPr/>
          <p:nvPr/>
        </p:nvSpPr>
        <p:spPr>
          <a:xfrm>
            <a:off x="822960" y="356616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21608"/>
            <a:ext cx="3017520" cy="566927"/>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Gemini Notebook: sí</a:t>
            </a:r>
          </a:p>
        </p:txBody>
      </p:sp>
      <p:sp>
        <p:nvSpPr>
          <p:cNvPr id="11" name="TextBox 10"/>
          <p:cNvSpPr txBox="1"/>
          <p:nvPr/>
        </p:nvSpPr>
        <p:spPr>
          <a:xfrm>
            <a:off x="4389120" y="3749040"/>
            <a:ext cx="676656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Antes NotebookLM. Transcribe el MP3 gratis al subirlo como fuente.</a:t>
            </a:r>
          </a:p>
        </p:txBody>
      </p:sp>
      <p:sp>
        <p:nvSpPr>
          <p:cNvPr id="12" name="Rounded Rectangle 11"/>
          <p:cNvSpPr/>
          <p:nvPr/>
        </p:nvSpPr>
        <p:spPr>
          <a:xfrm>
            <a:off x="822960" y="4526280"/>
            <a:ext cx="10607040" cy="109728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754880"/>
            <a:ext cx="9875520" cy="731519"/>
          </a:xfrm>
          <a:prstGeom prst="rect">
            <a:avLst/>
          </a:prstGeom>
          <a:noFill/>
        </p:spPr>
        <p:txBody>
          <a:bodyPr wrap="square" lIns="0" rIns="0" tIns="0" bIns="0">
            <a:spAutoFit/>
          </a:bodyPr>
          <a:lstStyle/>
          <a:p>
            <a:pPr algn="l">
              <a:lnSpc>
                <a:spcPct val="130000"/>
              </a:lnSpc>
              <a:spcAft>
                <a:spcPts val="600"/>
              </a:spcAft>
            </a:pPr>
            <a:r>
              <a:rPr sz="1450" b="0">
                <a:solidFill>
                  <a:srgbClr val="11406E"/>
                </a:solidFill>
                <a:latin typeface="Helvetica Neue"/>
              </a:rPr>
              <a:t>«Diligencia un formato FT-07 por cada visita, usando solo lo que dicen los audios. Si un campo no se menciona, escribe 'No registrado'. Indica en qué parte del audio se dice cada cosa.»</a:t>
            </a:r>
          </a:p>
        </p:txBody>
      </p:sp>
      <p:sp>
        <p:nvSpPr>
          <p:cNvPr id="14" name="TextBox 13"/>
          <p:cNvSpPr txBox="1"/>
          <p:nvPr/>
        </p:nvSpPr>
        <p:spPr>
          <a:xfrm>
            <a:off x="822960" y="5897880"/>
            <a:ext cx="10515600" cy="731520"/>
          </a:xfrm>
          <a:prstGeom prst="rect">
            <a:avLst/>
          </a:prstGeom>
          <a:noFill/>
        </p:spPr>
        <p:txBody>
          <a:bodyPr wrap="square" lIns="0" rIns="0" tIns="0" bIns="0">
            <a:spAutoFit/>
          </a:bodyPr>
          <a:lstStyle/>
          <a:p>
            <a:pPr algn="l">
              <a:spcAft>
                <a:spcPts val="600"/>
              </a:spcAft>
            </a:pPr>
            <a:r>
              <a:rPr sz="1500" b="0">
                <a:solidFill>
                  <a:srgbClr val="6E6E6E"/>
                </a:solidFill>
                <a:latin typeface="Helvetica Neue"/>
              </a:rPr>
              <a:t>Las cuatro notas vienen en un solo archivo, separadas por un pitido: una sola subida.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CASO 11</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800" b="1">
                <a:solidFill>
                  <a:srgbClr val="11406E"/>
                </a:solidFill>
                <a:latin typeface="Helvetica Neue"/>
              </a:rPr>
              <a:t>La carta, con tus propios datos</a:t>
            </a:r>
          </a:p>
        </p:txBody>
      </p:sp>
      <p:sp>
        <p:nvSpPr>
          <p:cNvPr id="5" name="TextBox 4"/>
          <p:cNvSpPr txBox="1"/>
          <p:nvPr/>
        </p:nvSpPr>
        <p:spPr>
          <a:xfrm>
            <a:off x="822960" y="2011680"/>
            <a:ext cx="10515600" cy="548640"/>
          </a:xfrm>
          <a:prstGeom prst="rect">
            <a:avLst/>
          </a:prstGeom>
          <a:noFill/>
        </p:spPr>
        <p:txBody>
          <a:bodyPr wrap="square" lIns="0" rIns="0" tIns="0" bIns="0">
            <a:spAutoFit/>
          </a:bodyPr>
          <a:lstStyle/>
          <a:p>
            <a:pPr algn="l">
              <a:spcAft>
                <a:spcPts val="600"/>
              </a:spcAft>
            </a:pPr>
            <a:r>
              <a:rPr sz="1900" b="0">
                <a:solidFill>
                  <a:srgbClr val="35789C"/>
                </a:solidFill>
                <a:latin typeface="Helvetica Neue"/>
              </a:rPr>
              <a:t>Un formato que te piden llenar, con lo que la IA ya sabe de ti</a:t>
            </a:r>
          </a:p>
        </p:txBody>
      </p:sp>
      <p:sp>
        <p:nvSpPr>
          <p:cNvPr id="6" name="Rounded Rectangle 5"/>
          <p:cNvSpPr/>
          <p:nvPr/>
        </p:nvSpPr>
        <p:spPr>
          <a:xfrm>
            <a:off x="822960" y="2697480"/>
            <a:ext cx="10607040" cy="169164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926080"/>
            <a:ext cx="9875520" cy="1325880"/>
          </a:xfrm>
          <a:prstGeom prst="rect">
            <a:avLst/>
          </a:prstGeom>
          <a:noFill/>
        </p:spPr>
        <p:txBody>
          <a:bodyPr wrap="square" lIns="0" rIns="0" tIns="0" bIns="0">
            <a:spAutoFit/>
          </a:bodyPr>
          <a:lstStyle/>
          <a:p>
            <a:pPr algn="l">
              <a:lnSpc>
                <a:spcPct val="130000"/>
              </a:lnSpc>
              <a:spcAft>
                <a:spcPts val="600"/>
              </a:spcAft>
            </a:pPr>
            <a:r>
              <a:rPr sz="1500" b="0">
                <a:solidFill>
                  <a:srgbClr val="11406E"/>
                </a:solidFill>
                <a:latin typeface="Helvetica Neue"/>
              </a:rPr>
              <a:t>«Llena esta plantilla con lo que sabes de mí. No inventes nada: si te falta un dato, pregúntamelo antes de escribir. En 'por qué esa empresa', no escribas elogios genéricos: pregúntame qué me interesa de verdad. Al final, señala las frases que suenan a plantilla.»</a:t>
            </a:r>
          </a:p>
        </p:txBody>
      </p:sp>
      <p:sp>
        <p:nvSpPr>
          <p:cNvPr id="8" name="Rounded Rectangle 7"/>
          <p:cNvSpPr/>
          <p:nvPr/>
        </p:nvSpPr>
        <p:spPr>
          <a:xfrm>
            <a:off x="822960" y="461772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773168"/>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Lo más valioso</a:t>
            </a:r>
          </a:p>
        </p:txBody>
      </p:sp>
      <p:sp>
        <p:nvSpPr>
          <p:cNvPr id="10" name="TextBox 9"/>
          <p:cNvSpPr txBox="1"/>
          <p:nvPr/>
        </p:nvSpPr>
        <p:spPr>
          <a:xfrm>
            <a:off x="3840480" y="480060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«Si te falta un dato, pregúntamelo.» Sin eso, rellena con frases genéricas.</a:t>
            </a:r>
          </a:p>
        </p:txBody>
      </p:sp>
      <p:sp>
        <p:nvSpPr>
          <p:cNvPr id="11" name="Rounded Rectangle 10"/>
          <p:cNvSpPr/>
          <p:nvPr/>
        </p:nvSpPr>
        <p:spPr>
          <a:xfrm>
            <a:off x="822960" y="5394959"/>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550407"/>
            <a:ext cx="246888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Privacidad</a:t>
            </a:r>
          </a:p>
        </p:txBody>
      </p:sp>
      <p:sp>
        <p:nvSpPr>
          <p:cNvPr id="13" name="TextBox 12"/>
          <p:cNvSpPr txBox="1"/>
          <p:nvPr/>
        </p:nvSpPr>
        <p:spPr>
          <a:xfrm>
            <a:off x="3840480" y="5577840"/>
            <a:ext cx="7315200"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La cédula y el teléfono, mejor escribirlos tú al final.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LA HISTORIA COMPLETA</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3400" b="1">
                <a:solidFill>
                  <a:srgbClr val="11406E"/>
                </a:solidFill>
                <a:latin typeface="Helvetica Neue"/>
              </a:rPr>
              <a:t>Los datos dicen qué. El campo dice por qué.</a:t>
            </a:r>
          </a:p>
        </p:txBody>
      </p:sp>
      <p:sp>
        <p:nvSpPr>
          <p:cNvPr id="5" name="Rounded Rectangle 4"/>
          <p:cNvSpPr/>
          <p:nvPr/>
        </p:nvSpPr>
        <p:spPr>
          <a:xfrm>
            <a:off x="822960" y="210312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258568"/>
            <a:ext cx="246888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Cordillera</a:t>
            </a:r>
          </a:p>
        </p:txBody>
      </p:sp>
      <p:sp>
        <p:nvSpPr>
          <p:cNvPr id="7" name="TextBox 6"/>
          <p:cNvSpPr txBox="1"/>
          <p:nvPr/>
        </p:nvSpPr>
        <p:spPr>
          <a:xfrm>
            <a:off x="3840480" y="2286000"/>
            <a:ext cx="731520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Peor calificación, más retrasos, y en agosto las quejas por envío tarde se disparan.</a:t>
            </a:r>
          </a:p>
        </p:txBody>
      </p:sp>
      <p:sp>
        <p:nvSpPr>
          <p:cNvPr id="8" name="Rounded Rectangle 7"/>
          <p:cNvSpPr/>
          <p:nvPr/>
        </p:nvSpPr>
        <p:spPr>
          <a:xfrm>
            <a:off x="822960" y="2971800"/>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127248"/>
            <a:ext cx="246888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La Esperanza</a:t>
            </a:r>
          </a:p>
        </p:txBody>
      </p:sp>
      <p:sp>
        <p:nvSpPr>
          <p:cNvPr id="10" name="TextBox 9"/>
          <p:cNvSpPr txBox="1"/>
          <p:nvPr/>
        </p:nvSpPr>
        <p:spPr>
          <a:xfrm>
            <a:off x="3840480" y="3154680"/>
            <a:ext cx="731520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Humedad fuera de norma en la cosecha. El audio: se rompió el plástico de la marquesina.</a:t>
            </a:r>
          </a:p>
        </p:txBody>
      </p:sp>
      <p:sp>
        <p:nvSpPr>
          <p:cNvPr id="11" name="Rounded Rectangle 10"/>
          <p:cNvSpPr/>
          <p:nvPr/>
        </p:nvSpPr>
        <p:spPr>
          <a:xfrm>
            <a:off x="822960" y="3840479"/>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995927"/>
            <a:ext cx="246888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Buenavista</a:t>
            </a:r>
          </a:p>
        </p:txBody>
      </p:sp>
      <p:sp>
        <p:nvSpPr>
          <p:cNvPr id="13" name="TextBox 12"/>
          <p:cNvSpPr txBox="1"/>
          <p:nvPr/>
        </p:nvSpPr>
        <p:spPr>
          <a:xfrm>
            <a:off x="3840480" y="4023359"/>
            <a:ext cx="731520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El rendimiento empeora desde la semana 30. El audio y las fotos: 7 % de broca.</a:t>
            </a:r>
          </a:p>
        </p:txBody>
      </p:sp>
      <p:sp>
        <p:nvSpPr>
          <p:cNvPr id="14" name="Rounded Rectangle 13"/>
          <p:cNvSpPr/>
          <p:nvPr/>
        </p:nvSpPr>
        <p:spPr>
          <a:xfrm>
            <a:off x="822960" y="4709159"/>
            <a:ext cx="10607040" cy="74980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4864607"/>
            <a:ext cx="2468880" cy="566927"/>
          </a:xfrm>
          <a:prstGeom prst="rect">
            <a:avLst/>
          </a:prstGeom>
          <a:noFill/>
        </p:spPr>
        <p:txBody>
          <a:bodyPr wrap="square" lIns="0" rIns="0" tIns="0" bIns="0">
            <a:spAutoFit/>
          </a:bodyPr>
          <a:lstStyle/>
          <a:p>
            <a:pPr algn="l">
              <a:lnSpc>
                <a:spcPct val="110000"/>
              </a:lnSpc>
              <a:spcAft>
                <a:spcPts val="600"/>
              </a:spcAft>
            </a:pPr>
            <a:r>
              <a:rPr sz="1700" b="1">
                <a:solidFill>
                  <a:srgbClr val="ED7623"/>
                </a:solidFill>
                <a:latin typeface="Helvetica Neue"/>
              </a:rPr>
              <a:t>Suscripción</a:t>
            </a:r>
          </a:p>
        </p:txBody>
      </p:sp>
      <p:sp>
        <p:nvSpPr>
          <p:cNvPr id="16" name="TextBox 15"/>
          <p:cNvSpPr txBox="1"/>
          <p:nvPr/>
        </p:nvSpPr>
        <p:spPr>
          <a:xfrm>
            <a:off x="3840480" y="4892040"/>
            <a:ext cx="7315200" cy="566927"/>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La piden en el chat y en el correo. Es la oportunidad de negocio.</a:t>
            </a:r>
          </a:p>
        </p:txBody>
      </p:sp>
      <p:sp>
        <p:nvSpPr>
          <p:cNvPr id="17" name="Rounded Rectangle 16"/>
          <p:cNvSpPr/>
          <p:nvPr/>
        </p:nvSpPr>
        <p:spPr>
          <a:xfrm>
            <a:off x="822960" y="5715000"/>
            <a:ext cx="10607040" cy="960120"/>
          </a:xfrm>
          <a:prstGeom prst="roundRect">
            <a:avLst>
              <a:gd name="adj" fmla="val 5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589788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Conectar los archivos es trabajo de quien conoce el negocio.</a:t>
            </a:r>
          </a:p>
          <a:p>
            <a:pPr algn="l">
              <a:lnSpc>
                <a:spcPct val="125000"/>
              </a:lnSpc>
              <a:spcAft>
                <a:spcPts val="200"/>
              </a:spcAft>
            </a:pPr>
            <a:r>
              <a:rPr sz="1450" b="0">
                <a:solidFill>
                  <a:srgbClr val="6E6E6E"/>
                </a:solidFill>
                <a:latin typeface="Helvetica Neue"/>
              </a:rPr>
              <a:t>La IA ayuda a leerlos; no sabe que la humedad y el plástico roto son la misma historia.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Aft>
                <a:spcPts val="600"/>
              </a:spcAft>
            </a:pPr>
            <a:r>
              <a:rPr sz="1200" b="1">
                <a:solidFill>
                  <a:srgbClr val="ED7623"/>
                </a:solidFill>
                <a:latin typeface="Helvetica Neue"/>
              </a:rPr>
              <a:t>TU TURNO</a:t>
            </a:r>
          </a:p>
        </p:txBody>
      </p:sp>
      <p:sp>
        <p:nvSpPr>
          <p:cNvPr id="4" name="TextBox 3"/>
          <p:cNvSpPr txBox="1"/>
          <p:nvPr/>
        </p:nvSpPr>
        <p:spPr>
          <a:xfrm>
            <a:off x="822960" y="960120"/>
            <a:ext cx="10607040" cy="1188720"/>
          </a:xfrm>
          <a:prstGeom prst="rect">
            <a:avLst/>
          </a:prstGeom>
          <a:noFill/>
        </p:spPr>
        <p:txBody>
          <a:bodyPr wrap="square" lIns="0" rIns="0" tIns="0" bIns="0">
            <a:spAutoFit/>
          </a:bodyPr>
          <a:lstStyle/>
          <a:p>
            <a:pPr algn="l">
              <a:lnSpc>
                <a:spcPct val="105000"/>
              </a:lnSpc>
              <a:spcAft>
                <a:spcPts val="600"/>
              </a:spcAft>
            </a:pPr>
            <a:r>
              <a:rPr sz="4000" b="1">
                <a:solidFill>
                  <a:srgbClr val="11406E"/>
                </a:solidFill>
                <a:latin typeface="Helvetica Neue"/>
              </a:rPr>
              <a:t>Elige tres casos</a:t>
            </a:r>
          </a:p>
        </p:txBody>
      </p:sp>
      <p:sp>
        <p:nvSpPr>
          <p:cNvPr id="5" name="TextBox 4"/>
          <p:cNvSpPr txBox="1"/>
          <p:nvPr/>
        </p:nvSpPr>
        <p:spPr>
          <a:xfrm>
            <a:off x="822960" y="2057400"/>
            <a:ext cx="10515600" cy="548640"/>
          </a:xfrm>
          <a:prstGeom prst="rect">
            <a:avLst/>
          </a:prstGeom>
          <a:noFill/>
        </p:spPr>
        <p:txBody>
          <a:bodyPr wrap="square" lIns="0" rIns="0" tIns="0" bIns="0">
            <a:spAutoFit/>
          </a:bodyPr>
          <a:lstStyle/>
          <a:p>
            <a:pPr algn="l">
              <a:spcAft>
                <a:spcPts val="600"/>
              </a:spcAft>
            </a:pPr>
            <a:r>
              <a:rPr sz="1800" b="0">
                <a:solidFill>
                  <a:srgbClr val="6E6E6E"/>
                </a:solidFill>
                <a:latin typeface="Helvetica Neue"/>
              </a:rPr>
              <a:t>Tres subidas al día: tres casos. Los audios y el Excel conectado no gastan subidas.</a:t>
            </a:r>
          </a:p>
        </p:txBody>
      </p:sp>
      <p:sp>
        <p:nvSpPr>
          <p:cNvPr id="6" name="Rounded Rectangle 5"/>
          <p:cNvSpPr/>
          <p:nvPr/>
        </p:nvSpPr>
        <p:spPr>
          <a:xfrm>
            <a:off x="822960" y="274320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898648"/>
            <a:ext cx="265176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El analista</a:t>
            </a:r>
          </a:p>
        </p:txBody>
      </p:sp>
      <p:sp>
        <p:nvSpPr>
          <p:cNvPr id="8" name="TextBox 7"/>
          <p:cNvSpPr txBox="1"/>
          <p:nvPr/>
        </p:nvSpPr>
        <p:spPr>
          <a:xfrm>
            <a:off x="4023360" y="2926080"/>
            <a:ext cx="7132319"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Excel (casos 1 a 4) + correos (6 y 7) + chat (8)</a:t>
            </a:r>
          </a:p>
        </p:txBody>
      </p:sp>
      <p:sp>
        <p:nvSpPr>
          <p:cNvPr id="9" name="Rounded Rectangle 8"/>
          <p:cNvSpPr/>
          <p:nvPr/>
        </p:nvSpPr>
        <p:spPr>
          <a:xfrm>
            <a:off x="822960" y="352044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675888"/>
            <a:ext cx="265176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El de campo</a:t>
            </a:r>
          </a:p>
        </p:txBody>
      </p:sp>
      <p:sp>
        <p:nvSpPr>
          <p:cNvPr id="11" name="TextBox 10"/>
          <p:cNvSpPr txBox="1"/>
          <p:nvPr/>
        </p:nvSpPr>
        <p:spPr>
          <a:xfrm>
            <a:off x="4023360" y="3703320"/>
            <a:ext cx="7132319"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Excel (1 a 4) + fotos con formato (9)</a:t>
            </a:r>
          </a:p>
        </p:txBody>
      </p:sp>
      <p:sp>
        <p:nvSpPr>
          <p:cNvPr id="12" name="Rounded Rectangle 11"/>
          <p:cNvSpPr/>
          <p:nvPr/>
        </p:nvSpPr>
        <p:spPr>
          <a:xfrm>
            <a:off x="822960" y="4297680"/>
            <a:ext cx="10607040" cy="658368"/>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453128"/>
            <a:ext cx="2651760" cy="475488"/>
          </a:xfrm>
          <a:prstGeom prst="rect">
            <a:avLst/>
          </a:prstGeom>
          <a:noFill/>
        </p:spPr>
        <p:txBody>
          <a:bodyPr wrap="square" lIns="0" rIns="0" tIns="0" bIns="0">
            <a:spAutoFit/>
          </a:bodyPr>
          <a:lstStyle/>
          <a:p>
            <a:pPr algn="l">
              <a:lnSpc>
                <a:spcPct val="110000"/>
              </a:lnSpc>
              <a:spcAft>
                <a:spcPts val="600"/>
              </a:spcAft>
            </a:pPr>
            <a:r>
              <a:rPr sz="1600" b="1">
                <a:solidFill>
                  <a:srgbClr val="ED7623"/>
                </a:solidFill>
                <a:latin typeface="Helvetica Neue"/>
              </a:rPr>
              <a:t>El de oficina</a:t>
            </a:r>
          </a:p>
        </p:txBody>
      </p:sp>
      <p:sp>
        <p:nvSpPr>
          <p:cNvPr id="14" name="TextBox 13"/>
          <p:cNvSpPr txBox="1"/>
          <p:nvPr/>
        </p:nvSpPr>
        <p:spPr>
          <a:xfrm>
            <a:off x="4023360" y="4480560"/>
            <a:ext cx="7132319" cy="475488"/>
          </a:xfrm>
          <a:prstGeom prst="rect">
            <a:avLst/>
          </a:prstGeom>
          <a:noFill/>
        </p:spPr>
        <p:txBody>
          <a:bodyPr wrap="square" lIns="0" rIns="0" tIns="0" bIns="0">
            <a:spAutoFit/>
          </a:bodyPr>
          <a:lstStyle/>
          <a:p>
            <a:pPr algn="l">
              <a:lnSpc>
                <a:spcPct val="120000"/>
              </a:lnSpc>
              <a:spcAft>
                <a:spcPts val="600"/>
              </a:spcAft>
            </a:pPr>
            <a:r>
              <a:rPr sz="1500" b="0">
                <a:solidFill>
                  <a:srgbClr val="6E6E6E"/>
                </a:solidFill>
                <a:latin typeface="Helvetica Neue"/>
              </a:rPr>
              <a:t>Correos (6 y 7) + chat (8) + carta (11)</a:t>
            </a:r>
          </a:p>
        </p:txBody>
      </p:sp>
      <p:sp>
        <p:nvSpPr>
          <p:cNvPr id="15" name="Rounded Rectangle 14"/>
          <p:cNvSpPr/>
          <p:nvPr/>
        </p:nvSpPr>
        <p:spPr>
          <a:xfrm>
            <a:off x="822960" y="5394960"/>
            <a:ext cx="10607040" cy="960120"/>
          </a:xfrm>
          <a:prstGeom prst="roundRect">
            <a:avLst>
              <a:gd name="adj" fmla="val 5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5577840"/>
            <a:ext cx="9875520" cy="731520"/>
          </a:xfrm>
          <a:prstGeom prst="rect">
            <a:avLst/>
          </a:prstGeom>
          <a:noFill/>
        </p:spPr>
        <p:txBody>
          <a:bodyPr wrap="square" lIns="0" rIns="0" tIns="0" bIns="0">
            <a:spAutoFit/>
          </a:bodyPr>
          <a:lstStyle/>
          <a:p>
            <a:pPr algn="l">
              <a:lnSpc>
                <a:spcPct val="125000"/>
              </a:lnSpc>
              <a:spcAft>
                <a:spcPts val="200"/>
              </a:spcAft>
            </a:pPr>
            <a:r>
              <a:rPr sz="1700" b="1">
                <a:solidFill>
                  <a:srgbClr val="ED7623"/>
                </a:solidFill>
                <a:latin typeface="Helvetica Neue"/>
              </a:rPr>
              <a:t>Por cada caso: el prompt, el resultado, y una cosa que comprobaste tú.</a:t>
            </a:r>
          </a:p>
          <a:p>
            <a:pPr algn="l">
              <a:lnSpc>
                <a:spcPct val="125000"/>
              </a:lnSpc>
              <a:spcAft>
                <a:spcPts val="200"/>
              </a:spcAft>
            </a:pPr>
            <a:r>
              <a:rPr sz="1450" b="0">
                <a:solidFill>
                  <a:srgbClr val="6E6E6E"/>
                </a:solidFill>
                <a:latin typeface="Helvetica Neue"/>
              </a:rPr>
              <a:t>Esa última línea es la que vale.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D7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600200"/>
            <a:ext cx="10607040" cy="3200400"/>
          </a:xfrm>
          <a:prstGeom prst="roundRect">
            <a:avLst>
              <a:gd name="adj" fmla="val 5000"/>
            </a:avLst>
          </a:prstGeom>
          <a:solidFill>
            <a:srgbClr val="F5F3EF"/>
          </a:solidFill>
          <a:ln w="1143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57400"/>
            <a:ext cx="9509760" cy="1554480"/>
          </a:xfrm>
          <a:prstGeom prst="rect">
            <a:avLst/>
          </a:prstGeom>
          <a:noFill/>
        </p:spPr>
        <p:txBody>
          <a:bodyPr wrap="square" lIns="0" rIns="0" tIns="0" bIns="0">
            <a:spAutoFit/>
          </a:bodyPr>
          <a:lstStyle/>
          <a:p>
            <a:pPr algn="l">
              <a:lnSpc>
                <a:spcPct val="100000"/>
              </a:lnSpc>
              <a:spcAft>
                <a:spcPts val="0"/>
              </a:spcAft>
            </a:pPr>
            <a:r>
              <a:rPr sz="4000" b="1">
                <a:solidFill>
                  <a:srgbClr val="11406E"/>
                </a:solidFill>
                <a:latin typeface="Helvetica Neue"/>
              </a:rPr>
              <a:t>La IA lee mil filas.</a:t>
            </a:r>
          </a:p>
          <a:p>
            <a:pPr algn="l">
              <a:lnSpc>
                <a:spcPct val="100000"/>
              </a:lnSpc>
              <a:spcAft>
                <a:spcPts val="0"/>
              </a:spcAft>
            </a:pPr>
            <a:r>
              <a:rPr sz="4000" b="1">
                <a:solidFill>
                  <a:srgbClr val="ED7623"/>
                </a:solidFill>
                <a:latin typeface="Helvetica Neue"/>
              </a:rPr>
              <a:t>Tú decides cuál importa.</a:t>
            </a:r>
          </a:p>
        </p:txBody>
      </p:sp>
      <p:sp>
        <p:nvSpPr>
          <p:cNvPr id="5" name="TextBox 4"/>
          <p:cNvSpPr txBox="1"/>
          <p:nvPr/>
        </p:nvSpPr>
        <p:spPr>
          <a:xfrm>
            <a:off x="1371600" y="3931920"/>
            <a:ext cx="9509760" cy="822960"/>
          </a:xfrm>
          <a:prstGeom prst="rect">
            <a:avLst/>
          </a:prstGeom>
          <a:noFill/>
        </p:spPr>
        <p:txBody>
          <a:bodyPr wrap="square" lIns="0" rIns="0" tIns="0" bIns="0">
            <a:spAutoFit/>
          </a:bodyPr>
          <a:lstStyle/>
          <a:p>
            <a:pPr algn="l">
              <a:lnSpc>
                <a:spcPct val="125000"/>
              </a:lnSpc>
              <a:spcAft>
                <a:spcPts val="600"/>
              </a:spcAft>
            </a:pPr>
            <a:r>
              <a:rPr sz="2000" b="0">
                <a:solidFill>
                  <a:srgbClr val="6E6E6E"/>
                </a:solidFill>
                <a:latin typeface="Helvetica Neue"/>
              </a:rPr>
              <a:t>Y lo que firmas, aunque lo haya escrito una máquina, es tuyo.</a:t>
            </a:r>
          </a:p>
        </p:txBody>
      </p:sp>
      <p:pic>
        <p:nvPicPr>
          <p:cNvPr id="6" name="Picture 5" descr="logo_ucaldas.png"/>
          <p:cNvPicPr>
            <a:picLocks noChangeAspect="1"/>
          </p:cNvPicPr>
          <p:nvPr/>
        </p:nvPicPr>
        <p:blipFill>
          <a:blip r:embed="rId3"/>
          <a:stretch>
            <a:fillRect/>
          </a:stretch>
        </p:blipFill>
        <p:spPr>
          <a:xfrm>
            <a:off x="822960" y="5349240"/>
            <a:ext cx="1721725" cy="420624"/>
          </a:xfrm>
          <a:prstGeom prst="rect">
            <a:avLst/>
          </a:prstGeom>
        </p:spPr>
      </p:pic>
      <p:sp>
        <p:nvSpPr>
          <p:cNvPr id="7" name="TextBox 6"/>
          <p:cNvSpPr txBox="1"/>
          <p:nvPr/>
        </p:nvSpPr>
        <p:spPr>
          <a:xfrm>
            <a:off x="850392" y="5861303"/>
            <a:ext cx="6400800" cy="274320"/>
          </a:xfrm>
          <a:prstGeom prst="rect">
            <a:avLst/>
          </a:prstGeom>
          <a:noFill/>
        </p:spPr>
        <p:txBody>
          <a:bodyPr wrap="square" lIns="0" rIns="0" tIns="0" bIns="0">
            <a:spAutoFit/>
          </a:bodyPr>
          <a:lstStyle/>
          <a:p>
            <a:pPr algn="l">
              <a:spcAft>
                <a:spcPts val="600"/>
              </a:spcAft>
            </a:pPr>
            <a:r>
              <a:rPr sz="1000" b="1">
                <a:solidFill>
                  <a:srgbClr val="ED7623"/>
                </a:solidFill>
                <a:latin typeface="Helvetica Neue"/>
              </a:rPr>
              <a:t>FACULTAD DE INTELIGENCIA ARTIFICIAL E INGENIERÍAS</a:t>
            </a:r>
          </a:p>
        </p:txBody>
      </p:sp>
      <p:sp>
        <p:nvSpPr>
          <p:cNvPr id="8" name="TextBox 7"/>
          <p:cNvSpPr txBox="1"/>
          <p:nvPr/>
        </p:nvSpPr>
        <p:spPr>
          <a:xfrm>
            <a:off x="822960" y="6355080"/>
            <a:ext cx="10515600" cy="365760"/>
          </a:xfrm>
          <a:prstGeom prst="rect">
            <a:avLst/>
          </a:prstGeom>
          <a:noFill/>
        </p:spPr>
        <p:txBody>
          <a:bodyPr wrap="square" lIns="0" rIns="0" tIns="0" bIns="0">
            <a:spAutoFit/>
          </a:bodyPr>
          <a:lstStyle/>
          <a:p>
            <a:pPr algn="l">
              <a:spcAft>
                <a:spcPts val="600"/>
              </a:spcAft>
            </a:pPr>
            <a:r>
              <a:rPr sz="1300" b="0">
                <a:solidFill>
                  <a:srgbClr val="6E6E6E"/>
                </a:solidFill>
                <a:latin typeface="Helvetica Neue"/>
              </a:rPr>
              <a:t>Universidad de Caldas · 2026-2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